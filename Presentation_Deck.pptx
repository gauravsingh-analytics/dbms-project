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1" r:id="rId7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25" d="100"/>
          <a:sy n="125" d="100"/>
        </p:scale>
        <p:origin x="226" y="-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7" Type="http://schemas.openxmlformats.org/officeDocument/2006/relationships/slide" Target="slides/slide6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00187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4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0624" y="144977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</a:t>
            </a: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Crime Record &amp; Police Station Management System </a:t>
            </a:r>
            <a:endParaRPr lang="en-US" sz="2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Gaurav Singh | P15 | CRPSMS | MySQL 8.0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777240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8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2296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SQL-Based Relational Database, Analytics &amp; Query Optimization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1430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Gaurav Singh | Roll No: P15 | T.Y. B.Tech CSE (Data Science)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DBMS – 23UDSPCL3508 | Faculty: Mr. Chinmay Mukim | MySQL 8.0 / InnoDB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645920"/>
            <a:ext cx="5943600" cy="2148840"/>
          </a:xfrm>
          <a:prstGeom prst="roundRect">
            <a:avLst>
              <a:gd name="adj" fmla="val 2553"/>
            </a:avLst>
          </a:prstGeom>
          <a:solidFill>
            <a:srgbClr val="12213F"/>
          </a:solidFill>
          <a:ln w="9525">
            <a:solidFill>
              <a:srgbClr val="1E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566928" y="1709928"/>
            <a:ext cx="5724144" cy="2020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1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crime records contain redundancy</a:t>
            </a:r>
            <a:endParaRPr lang="en-US" sz="11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Repeating crime-code attributes make querying difficult</a:t>
            </a:r>
            <a:endParaRPr lang="en-US" sz="11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FIR, victim, accused, officer and court relationships are hard to manage in a flat structure</a:t>
            </a:r>
            <a:endParaRPr lang="en-US" sz="11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case-status management can create inconsistency</a:t>
            </a:r>
            <a:endParaRPr lang="en-US" sz="11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datasets require indexing and query optimization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931920"/>
            <a:ext cx="5943600" cy="685800"/>
          </a:xfrm>
          <a:prstGeom prst="roundRect">
            <a:avLst>
              <a:gd name="adj" fmla="val 8000"/>
            </a:avLst>
          </a:prstGeom>
          <a:solidFill>
            <a:srgbClr val="12213F"/>
          </a:solidFill>
          <a:ln w="9525">
            <a:solidFill>
              <a:srgbClr val="1E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566928" y="3995928"/>
            <a:ext cx="572414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relational database supporting transactions, analytics, auditing and optimized queries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58000" y="457200"/>
            <a:ext cx="1828800" cy="548640"/>
          </a:xfrm>
          <a:prstGeom prst="roundRect">
            <a:avLst>
              <a:gd name="adj" fmla="val 10000"/>
            </a:avLst>
          </a:prstGeom>
          <a:solidFill>
            <a:srgbClr val="12213F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6894576" y="457200"/>
            <a:ext cx="1755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CRIME DATA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7772400" y="1005840"/>
            <a:ext cx="0" cy="256032"/>
          </a:xfrm>
          <a:prstGeom prst="line">
            <a:avLst/>
          </a:prstGeom>
          <a:noFill/>
          <a:ln w="15875">
            <a:solidFill>
              <a:srgbClr val="22D3E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858000" y="1261872"/>
            <a:ext cx="1828800" cy="548640"/>
          </a:xfrm>
          <a:prstGeom prst="roundRect">
            <a:avLst>
              <a:gd name="adj" fmla="val 10000"/>
            </a:avLst>
          </a:prstGeom>
          <a:solidFill>
            <a:srgbClr val="12213F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6894576" y="1261872"/>
            <a:ext cx="1755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772400" y="1810512"/>
            <a:ext cx="0" cy="256032"/>
          </a:xfrm>
          <a:prstGeom prst="line">
            <a:avLst/>
          </a:prstGeom>
          <a:noFill/>
          <a:ln w="15875">
            <a:solidFill>
              <a:srgbClr val="22D3E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858000" y="2066544"/>
            <a:ext cx="1828800" cy="548640"/>
          </a:xfrm>
          <a:prstGeom prst="roundRect">
            <a:avLst>
              <a:gd name="adj" fmla="val 10000"/>
            </a:avLst>
          </a:prstGeom>
          <a:solidFill>
            <a:srgbClr val="12213F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6894576" y="2066544"/>
            <a:ext cx="1755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DATABASE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7772400" y="2615184"/>
            <a:ext cx="0" cy="256032"/>
          </a:xfrm>
          <a:prstGeom prst="line">
            <a:avLst/>
          </a:prstGeom>
          <a:noFill/>
          <a:ln w="15875">
            <a:solidFill>
              <a:srgbClr val="22D3E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858000" y="2871216"/>
            <a:ext cx="1828800" cy="548640"/>
          </a:xfrm>
          <a:prstGeom prst="roundRect">
            <a:avLst>
              <a:gd name="adj" fmla="val 10000"/>
            </a:avLst>
          </a:prstGeom>
          <a:solidFill>
            <a:srgbClr val="12213F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6894576" y="2871216"/>
            <a:ext cx="1755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QUERIES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7772400" y="3419856"/>
            <a:ext cx="0" cy="256032"/>
          </a:xfrm>
          <a:prstGeom prst="line">
            <a:avLst/>
          </a:prstGeom>
          <a:noFill/>
          <a:ln w="15875">
            <a:solidFill>
              <a:srgbClr val="22D3E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858000" y="3675888"/>
            <a:ext cx="1828800" cy="548640"/>
          </a:xfrm>
          <a:prstGeom prst="roundRect">
            <a:avLst>
              <a:gd name="adj" fmla="val 10000"/>
            </a:avLst>
          </a:prstGeom>
          <a:solidFill>
            <a:srgbClr val="163A78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6894576" y="3675888"/>
            <a:ext cx="1755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+ OPTIMIZATION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4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</a:t>
            </a: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Engineering &amp; Criminal Justice Workflow</a:t>
            </a:r>
            <a:endParaRPr lang="en-US" sz="2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Gaurav Singh | P15 | CRPSMS | MySQL 8.0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777240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4023360" cy="1783080"/>
          </a:xfrm>
          <a:prstGeom prst="roundRect">
            <a:avLst>
              <a:gd name="adj" fmla="val 3077"/>
            </a:avLst>
          </a:prstGeom>
          <a:solidFill>
            <a:srgbClr val="12213F"/>
          </a:solidFill>
          <a:ln w="9525">
            <a:solidFill>
              <a:srgbClr val="1E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592295" y="1133856"/>
            <a:ext cx="3803904" cy="1655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1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Los Angeles Open Data Portal</a:t>
            </a:r>
            <a:endParaRPr lang="en-US" sz="11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LAPD Crime Data</a:t>
            </a:r>
            <a:endParaRPr lang="en-US" sz="11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Period: 2020–2024</a:t>
            </a:r>
            <a:endParaRPr lang="en-US" sz="11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Coverage: LAPD geographical divisions</a:t>
            </a:r>
            <a:endParaRPr lang="en-US" sz="11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structure: flat / denormalized records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63440" y="1005840"/>
            <a:ext cx="4023360" cy="1783080"/>
          </a:xfrm>
          <a:prstGeom prst="roundRect">
            <a:avLst>
              <a:gd name="adj" fmla="val 3077"/>
            </a:avLst>
          </a:prstGeom>
          <a:solidFill>
            <a:srgbClr val="12213F"/>
          </a:solidFill>
          <a:ln w="9525">
            <a:solidFill>
              <a:srgbClr val="1E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4773168" y="1069848"/>
            <a:ext cx="3803904" cy="1655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Raw-Data Problems</a:t>
            </a:r>
            <a:endParaRPr lang="en-US" sz="11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Repeating crime-code columns</a:t>
            </a:r>
            <a:endParaRPr lang="en-US" sz="11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master-data descriptions</a:t>
            </a:r>
            <a:endParaRPr lang="en-US" sz="11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Transitive dependencies</a:t>
            </a:r>
            <a:endParaRPr lang="en-US" sz="11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investigation / judicial relationships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9260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CRIMINAL JUSTICE WORKFLOW (conceptual)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3246120"/>
            <a:ext cx="749808" cy="868680"/>
          </a:xfrm>
          <a:prstGeom prst="roundRect">
            <a:avLst>
              <a:gd name="adj" fmla="val 7317"/>
            </a:avLst>
          </a:prstGeom>
          <a:solidFill>
            <a:srgbClr val="12213F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493776" y="3246120"/>
            <a:ext cx="6766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207008" y="3680460"/>
            <a:ext cx="182880" cy="0"/>
          </a:xfrm>
          <a:prstGeom prst="line">
            <a:avLst/>
          </a:prstGeom>
          <a:noFill/>
          <a:ln w="15875">
            <a:solidFill>
              <a:srgbClr val="22D3E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389888" y="3246120"/>
            <a:ext cx="749808" cy="868680"/>
          </a:xfrm>
          <a:prstGeom prst="roundRect">
            <a:avLst>
              <a:gd name="adj" fmla="val 7317"/>
            </a:avLst>
          </a:prstGeom>
          <a:solidFill>
            <a:srgbClr val="12213F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1426464" y="3246120"/>
            <a:ext cx="6766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139696" y="3680460"/>
            <a:ext cx="182880" cy="0"/>
          </a:xfrm>
          <a:prstGeom prst="line">
            <a:avLst/>
          </a:prstGeom>
          <a:noFill/>
          <a:ln w="15875">
            <a:solidFill>
              <a:srgbClr val="22D3E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322576" y="3246120"/>
            <a:ext cx="749808" cy="868680"/>
          </a:xfrm>
          <a:prstGeom prst="roundRect">
            <a:avLst>
              <a:gd name="adj" fmla="val 7317"/>
            </a:avLst>
          </a:prstGeom>
          <a:solidFill>
            <a:srgbClr val="12213F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2359152" y="3246120"/>
            <a:ext cx="6766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Police Station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072384" y="3680460"/>
            <a:ext cx="182880" cy="0"/>
          </a:xfrm>
          <a:prstGeom prst="line">
            <a:avLst/>
          </a:prstGeom>
          <a:noFill/>
          <a:ln w="15875">
            <a:solidFill>
              <a:srgbClr val="22D3E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255264" y="3246120"/>
            <a:ext cx="749808" cy="868680"/>
          </a:xfrm>
          <a:prstGeom prst="roundRect">
            <a:avLst>
              <a:gd name="adj" fmla="val 7317"/>
            </a:avLst>
          </a:prstGeom>
          <a:solidFill>
            <a:srgbClr val="12213F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3291840" y="3246120"/>
            <a:ext cx="6766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005072" y="3680460"/>
            <a:ext cx="182880" cy="0"/>
          </a:xfrm>
          <a:prstGeom prst="line">
            <a:avLst/>
          </a:prstGeom>
          <a:noFill/>
          <a:ln w="15875">
            <a:solidFill>
              <a:srgbClr val="22D3E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187952" y="3246120"/>
            <a:ext cx="749808" cy="868680"/>
          </a:xfrm>
          <a:prstGeom prst="roundRect">
            <a:avLst>
              <a:gd name="adj" fmla="val 7317"/>
            </a:avLst>
          </a:prstGeom>
          <a:solidFill>
            <a:srgbClr val="12213F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4224528" y="3246120"/>
            <a:ext cx="6766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Victim / Crime Classification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937760" y="3680460"/>
            <a:ext cx="182880" cy="0"/>
          </a:xfrm>
          <a:prstGeom prst="line">
            <a:avLst/>
          </a:prstGeom>
          <a:noFill/>
          <a:ln w="15875">
            <a:solidFill>
              <a:srgbClr val="22D3E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120640" y="3246120"/>
            <a:ext cx="749808" cy="868680"/>
          </a:xfrm>
          <a:prstGeom prst="roundRect">
            <a:avLst>
              <a:gd name="adj" fmla="val 7317"/>
            </a:avLst>
          </a:prstGeom>
          <a:solidFill>
            <a:srgbClr val="12213F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5157216" y="3246120"/>
            <a:ext cx="6766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Accused / Arrest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870448" y="3680460"/>
            <a:ext cx="182880" cy="0"/>
          </a:xfrm>
          <a:prstGeom prst="line">
            <a:avLst/>
          </a:prstGeom>
          <a:noFill/>
          <a:ln w="15875">
            <a:solidFill>
              <a:srgbClr val="22D3E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053328" y="3246120"/>
            <a:ext cx="749808" cy="868680"/>
          </a:xfrm>
          <a:prstGeom prst="roundRect">
            <a:avLst>
              <a:gd name="adj" fmla="val 7317"/>
            </a:avLst>
          </a:prstGeom>
          <a:solidFill>
            <a:srgbClr val="12213F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 txBox="1"/>
          <p:nvPr/>
        </p:nvSpPr>
        <p:spPr>
          <a:xfrm>
            <a:off x="6089904" y="3246120"/>
            <a:ext cx="6766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Court Case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803136" y="3680460"/>
            <a:ext cx="182880" cy="0"/>
          </a:xfrm>
          <a:prstGeom prst="line">
            <a:avLst/>
          </a:prstGeom>
          <a:noFill/>
          <a:ln w="15875">
            <a:solidFill>
              <a:srgbClr val="22D3E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986016" y="3246120"/>
            <a:ext cx="749808" cy="868680"/>
          </a:xfrm>
          <a:prstGeom prst="roundRect">
            <a:avLst>
              <a:gd name="adj" fmla="val 7317"/>
            </a:avLst>
          </a:prstGeom>
          <a:solidFill>
            <a:srgbClr val="12213F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 txBox="1"/>
          <p:nvPr/>
        </p:nvSpPr>
        <p:spPr>
          <a:xfrm>
            <a:off x="7022592" y="3246120"/>
            <a:ext cx="6766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7735824" y="3680460"/>
            <a:ext cx="182880" cy="0"/>
          </a:xfrm>
          <a:prstGeom prst="line">
            <a:avLst/>
          </a:prstGeom>
          <a:noFill/>
          <a:ln w="15875">
            <a:solidFill>
              <a:srgbClr val="22D3E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7918704" y="3246120"/>
            <a:ext cx="749808" cy="868680"/>
          </a:xfrm>
          <a:prstGeom prst="roundRect">
            <a:avLst>
              <a:gd name="adj" fmla="val 7317"/>
            </a:avLst>
          </a:prstGeom>
          <a:solidFill>
            <a:srgbClr val="12213F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 txBox="1"/>
          <p:nvPr/>
        </p:nvSpPr>
        <p:spPr>
          <a:xfrm>
            <a:off x="7955280" y="3246120"/>
            <a:ext cx="6766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850" dirty="0"/>
          </a:p>
        </p:txBody>
      </p:sp>
      <p:sp>
        <p:nvSpPr>
          <p:cNvPr id="36" name="Text 34"/>
          <p:cNvSpPr txBox="1"/>
          <p:nvPr/>
        </p:nvSpPr>
        <p:spPr>
          <a:xfrm>
            <a:off x="457200" y="42976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DBMS project built on public crime-data records; not an operational police system.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4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</a:t>
            </a: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Architecture: UNF → 1NF → 2NF → 3NF</a:t>
            </a:r>
            <a:endParaRPr lang="en-US" sz="2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Gaurav Singh | P15 | CRPSMS | MySQL 8.0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777240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2377440" cy="502920"/>
          </a:xfrm>
          <a:prstGeom prst="roundRect">
            <a:avLst>
              <a:gd name="adj" fmla="val 10909"/>
            </a:avLst>
          </a:prstGeom>
          <a:solidFill>
            <a:srgbClr val="12213F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493776" y="1005840"/>
            <a:ext cx="2304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UNNORMALIZED TABLE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645920" y="1508760"/>
            <a:ext cx="0" cy="274320"/>
          </a:xfrm>
          <a:prstGeom prst="line">
            <a:avLst/>
          </a:prstGeom>
          <a:noFill/>
          <a:ln w="15875">
            <a:solidFill>
              <a:srgbClr val="22D3E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2377440" cy="502920"/>
          </a:xfrm>
          <a:prstGeom prst="roundRect">
            <a:avLst>
              <a:gd name="adj" fmla="val 10909"/>
            </a:avLst>
          </a:prstGeom>
          <a:solidFill>
            <a:srgbClr val="12213F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493776" y="1783080"/>
            <a:ext cx="2304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1NF: Atomic attributes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645920" y="2286000"/>
            <a:ext cx="0" cy="274320"/>
          </a:xfrm>
          <a:prstGeom prst="line">
            <a:avLst/>
          </a:prstGeom>
          <a:noFill/>
          <a:ln w="15875">
            <a:solidFill>
              <a:srgbClr val="22D3E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7200" y="2560320"/>
            <a:ext cx="2377440" cy="502920"/>
          </a:xfrm>
          <a:prstGeom prst="roundRect">
            <a:avLst>
              <a:gd name="adj" fmla="val 10909"/>
            </a:avLst>
          </a:prstGeom>
          <a:solidFill>
            <a:srgbClr val="12213F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493776" y="2560320"/>
            <a:ext cx="2304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2NF: Remove partial dependencies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645920" y="3063240"/>
            <a:ext cx="0" cy="274320"/>
          </a:xfrm>
          <a:prstGeom prst="line">
            <a:avLst/>
          </a:prstGeom>
          <a:noFill/>
          <a:ln w="15875">
            <a:solidFill>
              <a:srgbClr val="22D3E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7200" y="3337560"/>
            <a:ext cx="2377440" cy="502920"/>
          </a:xfrm>
          <a:prstGeom prst="roundRect">
            <a:avLst>
              <a:gd name="adj" fmla="val 10909"/>
            </a:avLst>
          </a:prstGeom>
          <a:solidFill>
            <a:srgbClr val="12213F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493776" y="3337560"/>
            <a:ext cx="2304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3NF: Remove transitive dependencies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1645920" y="3840480"/>
            <a:ext cx="0" cy="274320"/>
          </a:xfrm>
          <a:prstGeom prst="line">
            <a:avLst/>
          </a:prstGeom>
          <a:noFill/>
          <a:ln w="15875">
            <a:solidFill>
              <a:srgbClr val="22D3E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57200" y="4114800"/>
            <a:ext cx="2377440" cy="502920"/>
          </a:xfrm>
          <a:prstGeom prst="roundRect">
            <a:avLst>
              <a:gd name="adj" fmla="val 10909"/>
            </a:avLst>
          </a:prstGeom>
          <a:solidFill>
            <a:srgbClr val="163A78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493776" y="4114800"/>
            <a:ext cx="2304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CRPSMS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108960" y="1005840"/>
            <a:ext cx="2743200" cy="1234440"/>
          </a:xfrm>
          <a:prstGeom prst="roundRect">
            <a:avLst>
              <a:gd name="adj" fmla="val 4444"/>
            </a:avLst>
          </a:prstGeom>
          <a:solidFill>
            <a:srgbClr val="12213F"/>
          </a:solidFill>
          <a:ln w="9525">
            <a:solidFill>
              <a:srgbClr val="1E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3218688" y="1069848"/>
            <a:ext cx="2523744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1NF</a:t>
            </a:r>
            <a:endParaRPr lang="en-US" sz="11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repeating / multi-valued crime-code columns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943600" y="1005840"/>
            <a:ext cx="2743200" cy="1234440"/>
          </a:xfrm>
          <a:prstGeom prst="roundRect">
            <a:avLst>
              <a:gd name="adj" fmla="val 3704"/>
            </a:avLst>
          </a:prstGeom>
          <a:solidFill>
            <a:srgbClr val="050B18"/>
          </a:solidFill>
          <a:ln w="9525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6035040" y="1051560"/>
            <a:ext cx="2560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F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Instead of: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F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Crm_Cd_1, Crm_Cd_2,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F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Crm_Cd_3, Crm_Cd_4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F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use: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F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FIR_CrimeType(DR_NO, Crm_Cd)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108960" y="2377440"/>
            <a:ext cx="2743200" cy="1325880"/>
          </a:xfrm>
          <a:prstGeom prst="roundRect">
            <a:avLst>
              <a:gd name="adj" fmla="val 4138"/>
            </a:avLst>
          </a:prstGeom>
          <a:solidFill>
            <a:srgbClr val="12213F"/>
          </a:solidFill>
          <a:ln w="9525">
            <a:solidFill>
              <a:srgbClr val="1E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3218688" y="2441448"/>
            <a:ext cx="2523744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2NF</a:t>
            </a:r>
            <a:endParaRPr lang="en-US" sz="11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partial dependencies from composite-key relationships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943600" y="2377440"/>
            <a:ext cx="2743200" cy="1325880"/>
          </a:xfrm>
          <a:prstGeom prst="roundRect">
            <a:avLst>
              <a:gd name="adj" fmla="val 4138"/>
            </a:avLst>
          </a:prstGeom>
          <a:solidFill>
            <a:srgbClr val="12213F"/>
          </a:solidFill>
          <a:ln w="9525">
            <a:solidFill>
              <a:srgbClr val="1E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6053328" y="2441448"/>
            <a:ext cx="2523744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3NF</a:t>
            </a:r>
            <a:endParaRPr lang="en-US" sz="11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transitive dependencies</a:t>
            </a:r>
            <a:endParaRPr lang="en-US" sz="11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 data separated: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035040" y="3154680"/>
            <a:ext cx="2560320" cy="457200"/>
          </a:xfrm>
          <a:prstGeom prst="roundRect">
            <a:avLst>
              <a:gd name="adj" fmla="val 10000"/>
            </a:avLst>
          </a:prstGeom>
          <a:solidFill>
            <a:srgbClr val="050B18"/>
          </a:solidFill>
          <a:ln w="9525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 txBox="1"/>
          <p:nvPr/>
        </p:nvSpPr>
        <p:spPr>
          <a:xfrm>
            <a:off x="6126480" y="32004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9F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DR_NO → AREA → AREA_NAME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9F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PoliceStation(AREA, AREA_NAME)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108960" y="3840480"/>
            <a:ext cx="5577840" cy="777240"/>
          </a:xfrm>
          <a:prstGeom prst="roundRect">
            <a:avLst>
              <a:gd name="adj" fmla="val 7059"/>
            </a:avLst>
          </a:prstGeom>
          <a:solidFill>
            <a:srgbClr val="12213F"/>
          </a:solidFill>
          <a:ln w="9525">
            <a:solidFill>
              <a:srgbClr val="1E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 txBox="1"/>
          <p:nvPr/>
        </p:nvSpPr>
        <p:spPr>
          <a:xfrm>
            <a:off x="3218688" y="3904488"/>
            <a:ext cx="5358384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redundancy • Improved consistency • Better maintainability • Lossless decomposition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4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</a:t>
            </a: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Entities, Modules &amp; Population</a:t>
            </a:r>
            <a:endParaRPr lang="en-US" sz="2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Gaurav Singh | P15 | CRPSMS | MySQL 8.0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777240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011680" y="1371600"/>
            <a:ext cx="1188720" cy="457200"/>
          </a:xfrm>
          <a:prstGeom prst="roundRect">
            <a:avLst>
              <a:gd name="adj" fmla="val 12000"/>
            </a:avLst>
          </a:prstGeom>
          <a:solidFill>
            <a:srgbClr val="334E7A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2048256" y="1371600"/>
            <a:ext cx="111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CrimeAuditLog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011680" y="2514600"/>
            <a:ext cx="1188720" cy="457200"/>
          </a:xfrm>
          <a:prstGeom prst="roundRect">
            <a:avLst>
              <a:gd name="adj" fmla="val 12000"/>
            </a:avLst>
          </a:prstGeom>
          <a:solidFill>
            <a:srgbClr val="1D4ED8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2048256" y="2514600"/>
            <a:ext cx="111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</a:t>
            </a:r>
            <a:endParaRPr lang="en-US" sz="8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9FE8FF"/>
                </a:solidFill>
                <a:latin typeface="Calibri"/>
                <a:ea typeface="Calibri"/>
                <a:cs typeface="Calibri"/>
              </a:rPr>
              <a:t>1,092 records</a:t>
            </a:r>
          </a:p>
        </p:txBody>
      </p:sp>
      <p:sp>
        <p:nvSpPr>
          <p:cNvPr id="18" name="Shape 16"/>
          <p:cNvSpPr/>
          <p:nvPr/>
        </p:nvSpPr>
        <p:spPr>
          <a:xfrm>
            <a:off x="2011680" y="3657600"/>
            <a:ext cx="1188720" cy="457200"/>
          </a:xfrm>
          <a:prstGeom prst="roundRect">
            <a:avLst>
              <a:gd name="adj" fmla="val 12000"/>
            </a:avLst>
          </a:prstGeom>
          <a:solidFill>
            <a:srgbClr val="1D4ED8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2048256" y="3657600"/>
            <a:ext cx="111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FIR_CrimeType</a:t>
            </a:r>
            <a:endParaRPr lang="en-US" sz="8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9FE8FF"/>
                </a:solidFill>
                <a:latin typeface="Calibri"/>
                <a:ea typeface="Calibri"/>
                <a:cs typeface="Calibri"/>
              </a:rPr>
              <a:t>1,166 records</a:t>
            </a:r>
          </a:p>
        </p:txBody>
      </p:sp>
      <p:sp>
        <p:nvSpPr>
          <p:cNvPr id="20" name="Shape 18"/>
          <p:cNvSpPr/>
          <p:nvPr/>
        </p:nvSpPr>
        <p:spPr>
          <a:xfrm>
            <a:off x="457200" y="2514600"/>
            <a:ext cx="1188720" cy="457200"/>
          </a:xfrm>
          <a:prstGeom prst="roundRect">
            <a:avLst>
              <a:gd name="adj" fmla="val 12000"/>
            </a:avLst>
          </a:prstGeom>
          <a:solidFill>
            <a:srgbClr val="0E7490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493776" y="2514600"/>
            <a:ext cx="111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PoliceStation</a:t>
            </a:r>
            <a:endParaRPr lang="en-US" sz="8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9FE8FF"/>
                </a:solidFill>
                <a:latin typeface="Calibri"/>
                <a:ea typeface="Calibri"/>
                <a:cs typeface="Calibri"/>
              </a:rPr>
              <a:t>21 records</a:t>
            </a:r>
          </a:p>
        </p:txBody>
      </p:sp>
      <p:sp>
        <p:nvSpPr>
          <p:cNvPr id="22" name="Shape 20"/>
          <p:cNvSpPr/>
          <p:nvPr/>
        </p:nvSpPr>
        <p:spPr>
          <a:xfrm>
            <a:off x="457200" y="3657600"/>
            <a:ext cx="1188720" cy="457200"/>
          </a:xfrm>
          <a:prstGeom prst="roundRect">
            <a:avLst>
              <a:gd name="adj" fmla="val 12000"/>
            </a:avLst>
          </a:prstGeom>
          <a:solidFill>
            <a:srgbClr val="0E7490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493776" y="3657600"/>
            <a:ext cx="111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</a:t>
            </a:r>
            <a:endParaRPr lang="en-US" sz="8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9FE8FF"/>
                </a:solidFill>
                <a:latin typeface="Calibri"/>
                <a:ea typeface="Calibri"/>
                <a:cs typeface="Calibri"/>
              </a:rPr>
              <a:t>50 records</a:t>
            </a:r>
          </a:p>
        </p:txBody>
      </p:sp>
      <p:sp>
        <p:nvSpPr>
          <p:cNvPr id="24" name="Shape 22"/>
          <p:cNvSpPr/>
          <p:nvPr/>
        </p:nvSpPr>
        <p:spPr>
          <a:xfrm>
            <a:off x="3566160" y="1325880"/>
            <a:ext cx="1188720" cy="457200"/>
          </a:xfrm>
          <a:prstGeom prst="roundRect">
            <a:avLst>
              <a:gd name="adj" fmla="val 12000"/>
            </a:avLst>
          </a:prstGeom>
          <a:solidFill>
            <a:srgbClr val="4338CA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3602736" y="1325880"/>
            <a:ext cx="111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Victim</a:t>
            </a:r>
            <a:endParaRPr lang="en-US" sz="8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9FE8FF"/>
                </a:solidFill>
                <a:latin typeface="Calibri"/>
                <a:ea typeface="Calibri"/>
                <a:cs typeface="Calibri"/>
              </a:rPr>
              <a:t>994 records</a:t>
            </a:r>
          </a:p>
        </p:txBody>
      </p:sp>
      <p:sp>
        <p:nvSpPr>
          <p:cNvPr id="26" name="Shape 24"/>
          <p:cNvSpPr/>
          <p:nvPr/>
        </p:nvSpPr>
        <p:spPr>
          <a:xfrm>
            <a:off x="3566160" y="1874520"/>
            <a:ext cx="1188720" cy="457200"/>
          </a:xfrm>
          <a:prstGeom prst="roundRect">
            <a:avLst>
              <a:gd name="adj" fmla="val 12000"/>
            </a:avLst>
          </a:prstGeom>
          <a:solidFill>
            <a:srgbClr val="4338CA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 txBox="1"/>
          <p:nvPr/>
        </p:nvSpPr>
        <p:spPr>
          <a:xfrm>
            <a:off x="3602736" y="1874520"/>
            <a:ext cx="111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Accused</a:t>
            </a:r>
            <a:endParaRPr lang="en-US" sz="8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9FE8FF"/>
                </a:solidFill>
                <a:latin typeface="Calibri"/>
                <a:ea typeface="Calibri"/>
                <a:cs typeface="Calibri"/>
              </a:rPr>
              <a:t>142 records</a:t>
            </a:r>
          </a:p>
        </p:txBody>
      </p:sp>
      <p:sp>
        <p:nvSpPr>
          <p:cNvPr id="28" name="Shape 26"/>
          <p:cNvSpPr/>
          <p:nvPr/>
        </p:nvSpPr>
        <p:spPr>
          <a:xfrm>
            <a:off x="3566160" y="2514600"/>
            <a:ext cx="1188720" cy="457200"/>
          </a:xfrm>
          <a:prstGeom prst="roundRect">
            <a:avLst>
              <a:gd name="adj" fmla="val 12000"/>
            </a:avLst>
          </a:prstGeom>
          <a:solidFill>
            <a:srgbClr val="0F5F8A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 txBox="1"/>
          <p:nvPr/>
        </p:nvSpPr>
        <p:spPr>
          <a:xfrm>
            <a:off x="3602736" y="2514600"/>
            <a:ext cx="111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CourtCase</a:t>
            </a:r>
            <a:endParaRPr lang="en-US" sz="8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9FE8FF"/>
                </a:solidFill>
                <a:latin typeface="Calibri"/>
                <a:ea typeface="Calibri"/>
                <a:cs typeface="Calibri"/>
              </a:rPr>
              <a:t>115 records</a:t>
            </a:r>
          </a:p>
        </p:txBody>
      </p:sp>
      <p:sp>
        <p:nvSpPr>
          <p:cNvPr id="30" name="Shape 28"/>
          <p:cNvSpPr/>
          <p:nvPr/>
        </p:nvSpPr>
        <p:spPr>
          <a:xfrm>
            <a:off x="3566160" y="3657600"/>
            <a:ext cx="1188720" cy="457200"/>
          </a:xfrm>
          <a:prstGeom prst="roundRect">
            <a:avLst>
              <a:gd name="adj" fmla="val 12000"/>
            </a:avLst>
          </a:prstGeom>
          <a:solidFill>
            <a:srgbClr val="1D4ED8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 txBox="1"/>
          <p:nvPr/>
        </p:nvSpPr>
        <p:spPr>
          <a:xfrm>
            <a:off x="3602736" y="3657600"/>
            <a:ext cx="111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CrimeType</a:t>
            </a:r>
            <a:endParaRPr lang="en-US" sz="8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9FE8FF"/>
                </a:solidFill>
                <a:latin typeface="Calibri"/>
                <a:ea typeface="Calibri"/>
                <a:cs typeface="Calibri"/>
              </a:rPr>
              <a:t>134 records</a:t>
            </a:r>
          </a:p>
        </p:txBody>
      </p:sp>
      <p:sp>
        <p:nvSpPr>
          <p:cNvPr id="32" name="Shape 30"/>
          <p:cNvSpPr/>
          <p:nvPr/>
        </p:nvSpPr>
        <p:spPr>
          <a:xfrm>
            <a:off x="5120640" y="2514600"/>
            <a:ext cx="1188720" cy="457200"/>
          </a:xfrm>
          <a:prstGeom prst="roundRect">
            <a:avLst>
              <a:gd name="adj" fmla="val 12000"/>
            </a:avLst>
          </a:prstGeom>
          <a:solidFill>
            <a:srgbClr val="0F5F8A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 txBox="1"/>
          <p:nvPr/>
        </p:nvSpPr>
        <p:spPr>
          <a:xfrm>
            <a:off x="5157216" y="2514600"/>
            <a:ext cx="111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Court</a:t>
            </a:r>
            <a:endParaRPr lang="en-US" sz="8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9FE8FF"/>
                </a:solidFill>
                <a:latin typeface="Calibri"/>
                <a:ea typeface="Calibri"/>
                <a:cs typeface="Calibri"/>
              </a:rPr>
              <a:t>10 records</a:t>
            </a:r>
          </a:p>
        </p:txBody>
      </p:sp>
      <p:sp>
        <p:nvSpPr>
          <p:cNvPr id="35" name="Text 33"/>
          <p:cNvSpPr txBox="1"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Mgmt: </a:t>
            </a: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FIR, CrimeType, FIR_CrimeType, Premises, Weapon   </a:t>
            </a:r>
            <a:r>
              <a:rPr lang="en-US" sz="8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Personnel: </a:t>
            </a: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PoliceStation, Officer
</a:t>
            </a:r>
            <a:r>
              <a:rPr lang="en-US" sz="8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&amp; Investigation: </a:t>
            </a: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Victim, Accused   </a:t>
            </a:r>
            <a:r>
              <a:rPr lang="en-US" sz="8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Judicial: </a:t>
            </a: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CourtCase, Court, CaseStatus   </a:t>
            </a:r>
            <a:r>
              <a:rPr lang="en-US" sz="8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Governance: </a:t>
            </a: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CrimeAuditLog</a:t>
            </a:r>
            <a:endParaRPr lang="en-US" sz="800" dirty="0"/>
          </a:p>
        </p:txBody>
      </p:sp>
      <p:sp>
        <p:nvSpPr>
          <p:cNvPr id="1001" name="Shape 1001"/>
          <p:cNvSpPr/>
          <p:nvPr/>
        </p:nvSpPr>
        <p:spPr>
          <a:xfrm>
            <a:off x="1645920" y="2743200"/>
            <a:ext cx="365760" cy="0"/>
          </a:xfrm>
          <a:prstGeom prst="line">
            <a:avLst/>
          </a:prstGeom>
          <a:noFill/>
          <a:ln w="15875">
            <a:solidFill>
              <a:srgbClr val="22D3E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02" name="Shape 1002"/>
          <p:cNvSpPr/>
          <p:nvPr/>
        </p:nvSpPr>
        <p:spPr>
          <a:xfrm>
            <a:off x="1051560" y="2971800"/>
            <a:ext cx="0" cy="685800"/>
          </a:xfrm>
          <a:prstGeom prst="line">
            <a:avLst/>
          </a:prstGeom>
          <a:noFill/>
          <a:ln w="15875">
            <a:solidFill>
              <a:srgbClr val="22D3E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03" name="Shape 1003"/>
          <p:cNvSpPr/>
          <p:nvPr/>
        </p:nvSpPr>
        <p:spPr>
          <a:xfrm>
            <a:off x="2606040" y="1828800"/>
            <a:ext cx="0" cy="685800"/>
          </a:xfrm>
          <a:prstGeom prst="line">
            <a:avLst/>
          </a:prstGeom>
          <a:noFill/>
          <a:ln w="15875">
            <a:solidFill>
              <a:srgbClr val="22D3E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04" name="Shape 1004"/>
          <p:cNvSpPr/>
          <p:nvPr/>
        </p:nvSpPr>
        <p:spPr>
          <a:xfrm>
            <a:off x="2606040" y="2971800"/>
            <a:ext cx="0" cy="685800"/>
          </a:xfrm>
          <a:prstGeom prst="line">
            <a:avLst/>
          </a:prstGeom>
          <a:noFill/>
          <a:ln w="15875">
            <a:solidFill>
              <a:srgbClr val="22D3E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05" name="Shape 1005"/>
          <p:cNvSpPr/>
          <p:nvPr/>
        </p:nvSpPr>
        <p:spPr>
          <a:xfrm flipV="1">
            <a:off x="3200400" y="1554480"/>
            <a:ext cx="365760" cy="1143000"/>
          </a:xfrm>
          <a:prstGeom prst="line">
            <a:avLst/>
          </a:prstGeom>
          <a:noFill/>
          <a:ln w="15875">
            <a:solidFill>
              <a:srgbClr val="22D3E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06" name="Shape 1006"/>
          <p:cNvSpPr/>
          <p:nvPr/>
        </p:nvSpPr>
        <p:spPr>
          <a:xfrm flipV="1">
            <a:off x="3200400" y="2103120"/>
            <a:ext cx="365760" cy="594360"/>
          </a:xfrm>
          <a:prstGeom prst="line">
            <a:avLst/>
          </a:prstGeom>
          <a:noFill/>
          <a:ln w="15875">
            <a:solidFill>
              <a:srgbClr val="22D3E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07" name="Shape 1007"/>
          <p:cNvSpPr/>
          <p:nvPr/>
        </p:nvSpPr>
        <p:spPr>
          <a:xfrm>
            <a:off x="3200400" y="2743200"/>
            <a:ext cx="365760" cy="0"/>
          </a:xfrm>
          <a:prstGeom prst="line">
            <a:avLst/>
          </a:prstGeom>
          <a:noFill/>
          <a:ln w="15875">
            <a:solidFill>
              <a:srgbClr val="22D3E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08" name="Shape 1008"/>
          <p:cNvSpPr/>
          <p:nvPr/>
        </p:nvSpPr>
        <p:spPr>
          <a:xfrm>
            <a:off x="4754880" y="2743200"/>
            <a:ext cx="365760" cy="0"/>
          </a:xfrm>
          <a:prstGeom prst="line">
            <a:avLst/>
          </a:prstGeom>
          <a:noFill/>
          <a:ln w="15875">
            <a:solidFill>
              <a:srgbClr val="22D3E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09" name="Shape 1009"/>
          <p:cNvSpPr/>
          <p:nvPr/>
        </p:nvSpPr>
        <p:spPr>
          <a:xfrm>
            <a:off x="3200400" y="3886200"/>
            <a:ext cx="365760" cy="0"/>
          </a:xfrm>
          <a:prstGeom prst="line">
            <a:avLst/>
          </a:prstGeom>
          <a:noFill/>
          <a:ln w="15875">
            <a:solidFill>
              <a:srgbClr val="22D3E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10" name="Shape 1010"/>
          <p:cNvSpPr txBox="1"/>
          <p:nvPr/>
        </p:nvSpPr>
        <p:spPr>
          <a:xfrm>
            <a:off x="2011680" y="4187952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FIR ↔ CrimeType via FIR_CrimeType</a:t>
            </a:r>
          </a:p>
        </p:txBody>
      </p:sp>
      <p:sp>
        <p:nvSpPr>
          <p:cNvPr id="1011" name="Shape 1011"/>
          <p:cNvSpPr txBox="1"/>
          <p:nvPr/>
        </p:nvSpPr>
        <p:spPr>
          <a:xfrm>
            <a:off x="457200" y="44348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A8B8D8"/>
                </a:solidFill>
                <a:latin typeface="Calibri"/>
                <a:ea typeface="Calibri"/>
                <a:cs typeface="Calibri"/>
              </a:rPr>
              <a:t>Conceptual ER-style diagram. Not shown (relationships omitted): Premises 228 • Weapon 72 • CaseStatus 5. Master tables (e.g., Court, CaseStatus) are intentionally small.</a:t>
            </a:r>
          </a:p>
        </p:txBody>
      </p:sp>
      <p:sp>
        <p:nvSpPr>
          <p:cNvPr id="1012" name="Shape 1012"/>
          <p:cNvSpPr/>
          <p:nvPr/>
        </p:nvSpPr>
        <p:spPr>
          <a:xfrm>
            <a:off x="6537960" y="1325880"/>
            <a:ext cx="2148840" cy="1051560"/>
          </a:xfrm>
          <a:prstGeom prst="roundRect">
            <a:avLst>
              <a:gd name="adj" fmla="val 5217"/>
            </a:avLst>
          </a:prstGeom>
          <a:solidFill>
            <a:srgbClr val="163A78"/>
          </a:solidFill>
          <a:ln w="15875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3" name="Shape 1013"/>
          <p:cNvSpPr txBox="1"/>
          <p:nvPr/>
        </p:nvSpPr>
        <p:spPr>
          <a:xfrm>
            <a:off x="6537960" y="1325880"/>
            <a:ext cx="2148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4,029</a:t>
            </a:r>
          </a:p>
          <a:p>
            <a:pPr marL="0" indent="0" algn="ctr">
              <a:buNone/>
            </a:pPr>
            <a:r>
              <a:rPr lang="en-US" sz="850" b="1" dirty="0">
                <a:solidFill>
                  <a:srgbClr val="22D3EE"/>
                </a:solidFill>
                <a:latin typeface="Calibri"/>
                <a:ea typeface="Calibri"/>
                <a:cs typeface="Calibri"/>
              </a:rPr>
              <a:t>TOTAL RECORDS</a:t>
            </a:r>
          </a:p>
          <a:p>
            <a:pPr marL="0" indent="0" algn="ctr">
              <a:buNone/>
            </a:pPr>
            <a:r>
              <a:rPr lang="en-US" sz="850" b="1" dirty="0">
                <a:solidFill>
                  <a:srgbClr val="22D3EE"/>
                </a:solidFill>
                <a:latin typeface="Calibri"/>
                <a:ea typeface="Calibri"/>
                <a:cs typeface="Calibri"/>
              </a:rPr>
              <a:t>12 CORE RELATIONAL TABLES</a:t>
            </a:r>
          </a:p>
        </p:txBody>
      </p:sp>
      <p:sp>
        <p:nvSpPr>
          <p:cNvPr id="1014" name="Shape 1014"/>
          <p:cNvSpPr/>
          <p:nvPr/>
        </p:nvSpPr>
        <p:spPr>
          <a:xfrm>
            <a:off x="6537960" y="2487168"/>
            <a:ext cx="2148840" cy="1371600"/>
          </a:xfrm>
          <a:prstGeom prst="roundRect">
            <a:avLst>
              <a:gd name="adj" fmla="val 5000"/>
            </a:avLst>
          </a:prstGeom>
          <a:solidFill>
            <a:srgbClr val="12213F"/>
          </a:solidFill>
          <a:ln w="9525">
            <a:solidFill>
              <a:srgbClr val="1E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5" name="Shape 1015"/>
          <p:cNvSpPr txBox="1"/>
          <p:nvPr/>
        </p:nvSpPr>
        <p:spPr>
          <a:xfrm>
            <a:off x="6647688" y="2551176"/>
            <a:ext cx="1929384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22D3EE"/>
                </a:solidFill>
                <a:latin typeface="Calibri"/>
                <a:ea typeface="Calibri"/>
                <a:cs typeface="Calibri"/>
              </a:rPr>
              <a:t>Data-Integrity Mechanisms</a:t>
            </a:r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Primary Keys • Foreign Keys</a:t>
            </a:r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CHECK constraints</a:t>
            </a:r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Referential integrity</a:t>
            </a:r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Date validation</a:t>
            </a:r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Controlled status values</a:t>
            </a:r>
          </a:p>
        </p:txBody>
      </p:sp>
      <p:sp>
        <p:nvSpPr>
          <p:cNvPr id="1016" name="Shape 1016"/>
          <p:cNvSpPr/>
          <p:nvPr/>
        </p:nvSpPr>
        <p:spPr>
          <a:xfrm>
            <a:off x="6537960" y="3950208"/>
            <a:ext cx="2148840" cy="292608"/>
          </a:xfrm>
          <a:prstGeom prst="roundRect">
            <a:avLst>
              <a:gd name="adj" fmla="val 1961"/>
            </a:avLst>
          </a:prstGeom>
          <a:solidFill>
            <a:srgbClr val="050B18"/>
          </a:solidFill>
          <a:ln w="9525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7" name="Shape 1017"/>
          <p:cNvSpPr txBox="1"/>
          <p:nvPr/>
        </p:nvSpPr>
        <p:spPr>
          <a:xfrm>
            <a:off x="6647688" y="3950208"/>
            <a:ext cx="1929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FE8FF"/>
                </a:solidFill>
                <a:latin typeface="Consolas"/>
                <a:ea typeface="Consolas"/>
                <a:cs typeface="Consolas"/>
              </a:rPr>
              <a:t>CHECK (Date_Rptd &gt;= Date_Occ)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4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</a:t>
            </a: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Analytics &amp; Judicial Case Aging</a:t>
            </a:r>
            <a:endParaRPr lang="en-US" sz="2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Gaurav Singh | P15 | CRPSMS | MySQL 8.0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777240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800" dirty="0"/>
          </a:p>
        </p:txBody>
      </p:sp>
      <p:sp>
        <p:nvSpPr>
          <p:cNvPr id="1018" name="Shape 3"/>
          <p:cNvSpPr/>
          <p:nvPr/>
        </p:nvSpPr>
        <p:spPr>
          <a:xfrm>
            <a:off x="457200" y="960120"/>
            <a:ext cx="1188720" cy="329184"/>
          </a:xfrm>
          <a:prstGeom prst="roundRect">
            <a:avLst>
              <a:gd name="adj" fmla="val 10909"/>
            </a:avLst>
          </a:prstGeom>
          <a:solidFill>
            <a:srgbClr val="12213F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9" name="Text 4"/>
          <p:cNvSpPr txBox="1"/>
          <p:nvPr/>
        </p:nvSpPr>
        <p:spPr>
          <a:xfrm>
            <a:off x="493776" y="960120"/>
            <a:ext cx="1115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</a:t>
            </a:r>
            <a:endParaRPr lang="en-US" sz="850" dirty="0"/>
          </a:p>
        </p:txBody>
      </p:sp>
      <p:sp>
        <p:nvSpPr>
          <p:cNvPr id="1020" name="Shape 5"/>
          <p:cNvSpPr/>
          <p:nvPr/>
        </p:nvSpPr>
        <p:spPr>
          <a:xfrm>
            <a:off x="1645920" y="1124712"/>
            <a:ext cx="219456" cy="0"/>
          </a:xfrm>
          <a:prstGeom prst="line">
            <a:avLst/>
          </a:prstGeom>
          <a:noFill/>
          <a:ln w="15875">
            <a:solidFill>
              <a:srgbClr val="22D3E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21" name="Shape 6"/>
          <p:cNvSpPr/>
          <p:nvPr/>
        </p:nvSpPr>
        <p:spPr>
          <a:xfrm>
            <a:off x="1865376" y="960120"/>
            <a:ext cx="1188720" cy="329184"/>
          </a:xfrm>
          <a:prstGeom prst="roundRect">
            <a:avLst>
              <a:gd name="adj" fmla="val 10909"/>
            </a:avLst>
          </a:prstGeom>
          <a:solidFill>
            <a:srgbClr val="12213F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2" name="Text 7"/>
          <p:cNvSpPr txBox="1"/>
          <p:nvPr/>
        </p:nvSpPr>
        <p:spPr>
          <a:xfrm>
            <a:off x="1901952" y="960120"/>
            <a:ext cx="1115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</a:t>
            </a:r>
            <a:endParaRPr lang="en-US" sz="850" dirty="0"/>
          </a:p>
        </p:txBody>
      </p:sp>
      <p:sp>
        <p:nvSpPr>
          <p:cNvPr id="1023" name="Shape 8"/>
          <p:cNvSpPr/>
          <p:nvPr/>
        </p:nvSpPr>
        <p:spPr>
          <a:xfrm>
            <a:off x="3054096" y="1124712"/>
            <a:ext cx="219456" cy="0"/>
          </a:xfrm>
          <a:prstGeom prst="line">
            <a:avLst/>
          </a:prstGeom>
          <a:noFill/>
          <a:ln w="15875">
            <a:solidFill>
              <a:srgbClr val="22D3E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24" name="Shape 9"/>
          <p:cNvSpPr/>
          <p:nvPr/>
        </p:nvSpPr>
        <p:spPr>
          <a:xfrm>
            <a:off x="3273552" y="960120"/>
            <a:ext cx="1188720" cy="329184"/>
          </a:xfrm>
          <a:prstGeom prst="roundRect">
            <a:avLst>
              <a:gd name="adj" fmla="val 10909"/>
            </a:avLst>
          </a:prstGeom>
          <a:solidFill>
            <a:srgbClr val="12213F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5" name="Text 10"/>
          <p:cNvSpPr txBox="1"/>
          <p:nvPr/>
        </p:nvSpPr>
        <p:spPr>
          <a:xfrm>
            <a:off x="3310128" y="960120"/>
            <a:ext cx="1115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Arrest</a:t>
            </a:r>
            <a:endParaRPr lang="en-US" sz="850" dirty="0"/>
          </a:p>
        </p:txBody>
      </p:sp>
      <p:sp>
        <p:nvSpPr>
          <p:cNvPr id="1026" name="Shape 11"/>
          <p:cNvSpPr/>
          <p:nvPr/>
        </p:nvSpPr>
        <p:spPr>
          <a:xfrm>
            <a:off x="4462272" y="1124712"/>
            <a:ext cx="219456" cy="0"/>
          </a:xfrm>
          <a:prstGeom prst="line">
            <a:avLst/>
          </a:prstGeom>
          <a:noFill/>
          <a:ln w="15875">
            <a:solidFill>
              <a:srgbClr val="22D3E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27" name="Shape 12"/>
          <p:cNvSpPr/>
          <p:nvPr/>
        </p:nvSpPr>
        <p:spPr>
          <a:xfrm>
            <a:off x="4681728" y="960120"/>
            <a:ext cx="1188720" cy="329184"/>
          </a:xfrm>
          <a:prstGeom prst="roundRect">
            <a:avLst>
              <a:gd name="adj" fmla="val 10909"/>
            </a:avLst>
          </a:prstGeom>
          <a:solidFill>
            <a:srgbClr val="12213F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8" name="Text 13"/>
          <p:cNvSpPr txBox="1"/>
          <p:nvPr/>
        </p:nvSpPr>
        <p:spPr>
          <a:xfrm>
            <a:off x="4718304" y="960120"/>
            <a:ext cx="1115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Court Filing</a:t>
            </a:r>
            <a:endParaRPr lang="en-US" sz="850" dirty="0"/>
          </a:p>
        </p:txBody>
      </p:sp>
      <p:sp>
        <p:nvSpPr>
          <p:cNvPr id="1029" name="Shape 14"/>
          <p:cNvSpPr/>
          <p:nvPr/>
        </p:nvSpPr>
        <p:spPr>
          <a:xfrm>
            <a:off x="5870448" y="1124712"/>
            <a:ext cx="219456" cy="0"/>
          </a:xfrm>
          <a:prstGeom prst="line">
            <a:avLst/>
          </a:prstGeom>
          <a:noFill/>
          <a:ln w="15875">
            <a:solidFill>
              <a:srgbClr val="22D3E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30" name="Shape 15"/>
          <p:cNvSpPr/>
          <p:nvPr/>
        </p:nvSpPr>
        <p:spPr>
          <a:xfrm>
            <a:off x="6089904" y="960120"/>
            <a:ext cx="1188720" cy="329184"/>
          </a:xfrm>
          <a:prstGeom prst="roundRect">
            <a:avLst>
              <a:gd name="adj" fmla="val 10909"/>
            </a:avLst>
          </a:prstGeom>
          <a:solidFill>
            <a:srgbClr val="12213F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1" name="Text 16"/>
          <p:cNvSpPr txBox="1"/>
          <p:nvPr/>
        </p:nvSpPr>
        <p:spPr>
          <a:xfrm>
            <a:off x="6126480" y="960120"/>
            <a:ext cx="1115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</a:t>
            </a:r>
            <a:endParaRPr lang="en-US" sz="850" dirty="0"/>
          </a:p>
        </p:txBody>
      </p:sp>
      <p:sp>
        <p:nvSpPr>
          <p:cNvPr id="1032" name="Shape 17"/>
          <p:cNvSpPr/>
          <p:nvPr/>
        </p:nvSpPr>
        <p:spPr>
          <a:xfrm>
            <a:off x="7278624" y="1124712"/>
            <a:ext cx="219456" cy="0"/>
          </a:xfrm>
          <a:prstGeom prst="line">
            <a:avLst/>
          </a:prstGeom>
          <a:noFill/>
          <a:ln w="15875">
            <a:solidFill>
              <a:srgbClr val="22D3E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33" name="Shape 18"/>
          <p:cNvSpPr/>
          <p:nvPr/>
        </p:nvSpPr>
        <p:spPr>
          <a:xfrm>
            <a:off x="7498080" y="960120"/>
            <a:ext cx="1188720" cy="329184"/>
          </a:xfrm>
          <a:prstGeom prst="roundRect">
            <a:avLst>
              <a:gd name="adj" fmla="val 10909"/>
            </a:avLst>
          </a:prstGeom>
          <a:solidFill>
            <a:srgbClr val="12213F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4" name="Text 19"/>
          <p:cNvSpPr txBox="1"/>
          <p:nvPr/>
        </p:nvSpPr>
        <p:spPr>
          <a:xfrm>
            <a:off x="7534656" y="960120"/>
            <a:ext cx="1115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</a:t>
            </a:r>
            <a:endParaRPr lang="en-US" sz="850" dirty="0"/>
          </a:p>
        </p:txBody>
      </p:sp>
      <p:sp>
        <p:nvSpPr>
          <p:cNvPr id="1035" name="Shape 1035"/>
          <p:cNvSpPr/>
          <p:nvPr/>
        </p:nvSpPr>
        <p:spPr>
          <a:xfrm>
            <a:off x="457200" y="1417320"/>
            <a:ext cx="2331720" cy="731520"/>
          </a:xfrm>
          <a:prstGeom prst="roundRect">
            <a:avLst>
              <a:gd name="adj" fmla="val 5000"/>
            </a:avLst>
          </a:prstGeom>
          <a:solidFill>
            <a:srgbClr val="12213F"/>
          </a:solidFill>
          <a:ln w="9525">
            <a:solidFill>
              <a:srgbClr val="1E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6" name="Shape 1036"/>
          <p:cNvSpPr txBox="1"/>
          <p:nvPr/>
        </p:nvSpPr>
        <p:spPr>
          <a:xfrm>
            <a:off x="548640" y="1481328"/>
            <a:ext cx="2148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22D3EE"/>
                </a:solidFill>
                <a:latin typeface="Calibri"/>
                <a:ea typeface="Calibri"/>
                <a:cs typeface="Calibri"/>
              </a:rPr>
              <a:t>Station Analytics</a:t>
            </a:r>
          </a:p>
          <a:p>
            <a:pPr marL="127000" indent="-127000"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FIR count by police station</a:t>
            </a:r>
          </a:p>
          <a:p>
            <a:pPr marL="127000" indent="-127000"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Active cases by division</a:t>
            </a:r>
          </a:p>
          <a:p>
            <a:pPr marL="127000" indent="-127000"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Officer workload</a:t>
            </a:r>
          </a:p>
        </p:txBody>
      </p:sp>
      <p:sp>
        <p:nvSpPr>
          <p:cNvPr id="1037" name="Shape 1037"/>
          <p:cNvSpPr/>
          <p:nvPr/>
        </p:nvSpPr>
        <p:spPr>
          <a:xfrm>
            <a:off x="457200" y="2221992"/>
            <a:ext cx="2331720" cy="731520"/>
          </a:xfrm>
          <a:prstGeom prst="roundRect">
            <a:avLst>
              <a:gd name="adj" fmla="val 5000"/>
            </a:avLst>
          </a:prstGeom>
          <a:solidFill>
            <a:srgbClr val="12213F"/>
          </a:solidFill>
          <a:ln w="9525">
            <a:solidFill>
              <a:srgbClr val="1E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8" name="Shape 1038"/>
          <p:cNvSpPr txBox="1"/>
          <p:nvPr/>
        </p:nvSpPr>
        <p:spPr>
          <a:xfrm>
            <a:off x="548640" y="2286000"/>
            <a:ext cx="2148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22D3EE"/>
                </a:solidFill>
                <a:latin typeface="Calibri"/>
                <a:ea typeface="Calibri"/>
                <a:cs typeface="Calibri"/>
              </a:rPr>
              <a:t>Crime Analytics</a:t>
            </a:r>
          </a:p>
          <a:p>
            <a:pPr marL="127000" indent="-127000"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Crime-type frequency</a:t>
            </a:r>
          </a:p>
          <a:p>
            <a:pPr marL="127000" indent="-127000"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Distribution by division</a:t>
            </a:r>
          </a:p>
          <a:p>
            <a:pPr marL="127000" indent="-127000"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Premises &amp; weapon analysis</a:t>
            </a:r>
          </a:p>
        </p:txBody>
      </p:sp>
      <p:sp>
        <p:nvSpPr>
          <p:cNvPr id="1039" name="Shape 1039"/>
          <p:cNvSpPr/>
          <p:nvPr/>
        </p:nvSpPr>
        <p:spPr>
          <a:xfrm>
            <a:off x="457200" y="3026664"/>
            <a:ext cx="2331720" cy="731520"/>
          </a:xfrm>
          <a:prstGeom prst="roundRect">
            <a:avLst>
              <a:gd name="adj" fmla="val 5000"/>
            </a:avLst>
          </a:prstGeom>
          <a:solidFill>
            <a:srgbClr val="12213F"/>
          </a:solidFill>
          <a:ln w="9525">
            <a:solidFill>
              <a:srgbClr val="1E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0" name="Shape 1040"/>
          <p:cNvSpPr txBox="1"/>
          <p:nvPr/>
        </p:nvSpPr>
        <p:spPr>
          <a:xfrm>
            <a:off x="548640" y="3090672"/>
            <a:ext cx="2148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22D3EE"/>
                </a:solidFill>
                <a:latin typeface="Calibri"/>
                <a:ea typeface="Calibri"/>
                <a:cs typeface="Calibri"/>
              </a:rPr>
              <a:t>Victim Analytics</a:t>
            </a:r>
          </a:p>
          <a:p>
            <a:pPr marL="127000" indent="-127000"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Demographic distributions</a:t>
            </a:r>
          </a:p>
          <a:p>
            <a:pPr marL="127000" indent="-127000"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Age-group analysis</a:t>
            </a:r>
          </a:p>
          <a:p>
            <a:pPr marL="127000" indent="-127000"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Division-level comparisons</a:t>
            </a:r>
          </a:p>
        </p:txBody>
      </p:sp>
      <p:sp>
        <p:nvSpPr>
          <p:cNvPr id="1041" name="Shape 1041"/>
          <p:cNvSpPr/>
          <p:nvPr/>
        </p:nvSpPr>
        <p:spPr>
          <a:xfrm>
            <a:off x="457200" y="3831336"/>
            <a:ext cx="2331720" cy="731520"/>
          </a:xfrm>
          <a:prstGeom prst="roundRect">
            <a:avLst>
              <a:gd name="adj" fmla="val 5000"/>
            </a:avLst>
          </a:prstGeom>
          <a:solidFill>
            <a:srgbClr val="12213F"/>
          </a:solidFill>
          <a:ln w="9525">
            <a:solidFill>
              <a:srgbClr val="1E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2" name="Shape 1042"/>
          <p:cNvSpPr txBox="1"/>
          <p:nvPr/>
        </p:nvSpPr>
        <p:spPr>
          <a:xfrm>
            <a:off x="548640" y="3895344"/>
            <a:ext cx="2148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22D3EE"/>
                </a:solidFill>
                <a:latin typeface="Calibri"/>
                <a:ea typeface="Calibri"/>
                <a:cs typeface="Calibri"/>
              </a:rPr>
              <a:t>Case Metrics</a:t>
            </a:r>
          </a:p>
          <a:p>
            <a:pPr marL="127000" indent="-127000"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Pending • completed court cases</a:t>
            </a:r>
          </a:p>
          <a:p>
            <a:pPr marL="127000" indent="-127000"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Litigation • arrest-to-filing duration</a:t>
            </a:r>
          </a:p>
          <a:p>
            <a:pPr marL="127000" indent="-127000"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Case aging</a:t>
            </a:r>
          </a:p>
        </p:txBody>
      </p:sp>
      <p:sp>
        <p:nvSpPr>
          <p:cNvPr id="1043" name="Shape 1043"/>
          <p:cNvSpPr/>
          <p:nvPr/>
        </p:nvSpPr>
        <p:spPr>
          <a:xfrm>
            <a:off x="2971800" y="1417320"/>
            <a:ext cx="3017520" cy="1481328"/>
          </a:xfrm>
          <a:prstGeom prst="roundRect">
            <a:avLst>
              <a:gd name="adj" fmla="val 1961"/>
            </a:avLst>
          </a:prstGeom>
          <a:solidFill>
            <a:srgbClr val="050B18"/>
          </a:solidFill>
          <a:ln w="9525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4" name="Shape 1044"/>
          <p:cNvSpPr txBox="1"/>
          <p:nvPr/>
        </p:nvSpPr>
        <p:spPr>
          <a:xfrm>
            <a:off x="3081528" y="1481328"/>
            <a:ext cx="27980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9FE8FF"/>
                </a:solidFill>
                <a:latin typeface="Consolas"/>
                <a:ea typeface="Consolas"/>
                <a:cs typeface="Consolas"/>
              </a:rPr>
              <a:t>SELECT</a:t>
            </a:r>
          </a:p>
          <a:p>
            <a:pPr marL="0" indent="0">
              <a:buNone/>
            </a:pPr>
            <a:r>
              <a:rPr lang="en-US" sz="750" dirty="0">
                <a:solidFill>
                  <a:srgbClr val="9FE8FF"/>
                </a:solidFill>
                <a:latin typeface="Consolas"/>
                <a:ea typeface="Consolas"/>
                <a:cs typeface="Consolas"/>
              </a:rPr>
              <a:t>    ps.AREA_NAME,</a:t>
            </a:r>
          </a:p>
          <a:p>
            <a:pPr marL="0" indent="0">
              <a:buNone/>
            </a:pPr>
            <a:r>
              <a:rPr lang="en-US" sz="750" dirty="0">
                <a:solidFill>
                  <a:srgbClr val="9FE8FF"/>
                </a:solidFill>
                <a:latin typeface="Consolas"/>
                <a:ea typeface="Consolas"/>
                <a:cs typeface="Consolas"/>
              </a:rPr>
              <a:t>    COUNT(f.DR_NO) AS Total_FIRs,</a:t>
            </a:r>
          </a:p>
          <a:p>
            <a:pPr marL="0" indent="0">
              <a:buNone/>
            </a:pPr>
            <a:r>
              <a:rPr lang="en-US" sz="750" dirty="0">
                <a:solidFill>
                  <a:srgbClr val="9FE8FF"/>
                </a:solidFill>
                <a:latin typeface="Consolas"/>
                <a:ea typeface="Consolas"/>
                <a:cs typeface="Consolas"/>
              </a:rPr>
              <a:t>    SUM(CASE</a:t>
            </a:r>
          </a:p>
          <a:p>
            <a:pPr marL="0" indent="0">
              <a:buNone/>
            </a:pPr>
            <a:r>
              <a:rPr lang="en-US" sz="750" dirty="0">
                <a:solidFill>
                  <a:srgbClr val="9FE8FF"/>
                </a:solidFill>
                <a:latin typeface="Consolas"/>
                <a:ea typeface="Consolas"/>
                <a:cs typeface="Consolas"/>
              </a:rPr>
              <a:t>        WHEN f.Status = 'AA' THEN 1</a:t>
            </a:r>
          </a:p>
          <a:p>
            <a:pPr marL="0" indent="0">
              <a:buNone/>
            </a:pPr>
            <a:r>
              <a:rPr lang="en-US" sz="750" dirty="0">
                <a:solidFill>
                  <a:srgbClr val="9FE8FF"/>
                </a:solidFill>
                <a:latin typeface="Consolas"/>
                <a:ea typeface="Consolas"/>
                <a:cs typeface="Consolas"/>
              </a:rPr>
              <a:t>        ELSE 0</a:t>
            </a:r>
          </a:p>
          <a:p>
            <a:pPr marL="0" indent="0">
              <a:buNone/>
            </a:pPr>
            <a:r>
              <a:rPr lang="en-US" sz="750" dirty="0">
                <a:solidFill>
                  <a:srgbClr val="9FE8FF"/>
                </a:solidFill>
                <a:latin typeface="Consolas"/>
                <a:ea typeface="Consolas"/>
                <a:cs typeface="Consolas"/>
              </a:rPr>
              <a:t>    END) AS Cleared_Cases</a:t>
            </a:r>
          </a:p>
          <a:p>
            <a:pPr marL="0" indent="0">
              <a:buNone/>
            </a:pPr>
            <a:r>
              <a:rPr lang="en-US" sz="750" dirty="0">
                <a:solidFill>
                  <a:srgbClr val="9FE8FF"/>
                </a:solidFill>
                <a:latin typeface="Consolas"/>
                <a:ea typeface="Consolas"/>
                <a:cs typeface="Consolas"/>
              </a:rPr>
              <a:t>FROM FIR f</a:t>
            </a:r>
          </a:p>
          <a:p>
            <a:pPr marL="0" indent="0">
              <a:buNone/>
            </a:pPr>
            <a:r>
              <a:rPr lang="en-US" sz="750" dirty="0">
                <a:solidFill>
                  <a:srgbClr val="9FE8FF"/>
                </a:solidFill>
                <a:latin typeface="Consolas"/>
                <a:ea typeface="Consolas"/>
                <a:cs typeface="Consolas"/>
              </a:rPr>
              <a:t>JOIN PoliceStation ps</a:t>
            </a:r>
          </a:p>
          <a:p>
            <a:pPr marL="0" indent="0">
              <a:buNone/>
            </a:pPr>
            <a:r>
              <a:rPr lang="en-US" sz="750" dirty="0">
                <a:solidFill>
                  <a:srgbClr val="9FE8FF"/>
                </a:solidFill>
                <a:latin typeface="Consolas"/>
                <a:ea typeface="Consolas"/>
                <a:cs typeface="Consolas"/>
              </a:rPr>
              <a:t>    ON f.AREA = ps.AREA</a:t>
            </a:r>
          </a:p>
          <a:p>
            <a:pPr marL="0" indent="0">
              <a:buNone/>
            </a:pPr>
            <a:r>
              <a:rPr lang="en-US" sz="750" dirty="0">
                <a:solidFill>
                  <a:srgbClr val="9FE8FF"/>
                </a:solidFill>
                <a:latin typeface="Consolas"/>
                <a:ea typeface="Consolas"/>
                <a:cs typeface="Consolas"/>
              </a:rPr>
              <a:t>GROUP BY ps.AREA_NAME;</a:t>
            </a:r>
          </a:p>
        </p:txBody>
      </p:sp>
      <p:sp>
        <p:nvSpPr>
          <p:cNvPr id="1045" name="Shape 1045"/>
          <p:cNvSpPr/>
          <p:nvPr/>
        </p:nvSpPr>
        <p:spPr>
          <a:xfrm>
            <a:off x="2971800" y="2990088"/>
            <a:ext cx="3017520" cy="1143000"/>
          </a:xfrm>
          <a:prstGeom prst="roundRect">
            <a:avLst>
              <a:gd name="adj" fmla="val 1961"/>
            </a:avLst>
          </a:prstGeom>
          <a:solidFill>
            <a:srgbClr val="050B18"/>
          </a:solidFill>
          <a:ln w="9525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6" name="Shape 1046"/>
          <p:cNvSpPr txBox="1"/>
          <p:nvPr/>
        </p:nvSpPr>
        <p:spPr>
          <a:xfrm>
            <a:off x="3081528" y="3054096"/>
            <a:ext cx="2798064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9FE8FF"/>
                </a:solidFill>
                <a:latin typeface="Consolas"/>
                <a:ea typeface="Consolas"/>
                <a:cs typeface="Consolas"/>
              </a:rPr>
              <a:t>SELECT</a:t>
            </a:r>
          </a:p>
          <a:p>
            <a:pPr marL="0" indent="0">
              <a:buNone/>
            </a:pPr>
            <a:r>
              <a:rPr lang="en-US" sz="750" dirty="0">
                <a:solidFill>
                  <a:srgbClr val="9FE8FF"/>
                </a:solidFill>
                <a:latin typeface="Consolas"/>
                <a:ea typeface="Consolas"/>
                <a:cs typeface="Consolas"/>
              </a:rPr>
              <a:t>    CaseID,</a:t>
            </a:r>
          </a:p>
          <a:p>
            <a:pPr marL="0" indent="0">
              <a:buNone/>
            </a:pPr>
            <a:r>
              <a:rPr lang="en-US" sz="750" dirty="0">
                <a:solidFill>
                  <a:srgbClr val="9FE8FF"/>
                </a:solidFill>
                <a:latin typeface="Consolas"/>
                <a:ea typeface="Consolas"/>
                <a:cs typeface="Consolas"/>
              </a:rPr>
              <a:t>    FilingDate,</a:t>
            </a:r>
          </a:p>
          <a:p>
            <a:pPr marL="0" indent="0">
              <a:buNone/>
            </a:pPr>
            <a:r>
              <a:rPr lang="en-US" sz="750" dirty="0">
                <a:solidFill>
                  <a:srgbClr val="9FE8FF"/>
                </a:solidFill>
                <a:latin typeface="Consolas"/>
                <a:ea typeface="Consolas"/>
                <a:cs typeface="Consolas"/>
              </a:rPr>
              <a:t>    VerdictDate,</a:t>
            </a:r>
          </a:p>
          <a:p>
            <a:pPr marL="0" indent="0">
              <a:buNone/>
            </a:pPr>
            <a:r>
              <a:rPr lang="en-US" sz="750" dirty="0">
                <a:solidFill>
                  <a:srgbClr val="9FE8FF"/>
                </a:solidFill>
                <a:latin typeface="Consolas"/>
                <a:ea typeface="Consolas"/>
                <a:cs typeface="Consolas"/>
              </a:rPr>
              <a:t>    DATEDIFF(</a:t>
            </a:r>
          </a:p>
          <a:p>
            <a:pPr marL="0" indent="0">
              <a:buNone/>
            </a:pPr>
            <a:r>
              <a:rPr lang="en-US" sz="750" dirty="0">
                <a:solidFill>
                  <a:srgbClr val="9FE8FF"/>
                </a:solidFill>
                <a:latin typeface="Consolas"/>
                <a:ea typeface="Consolas"/>
                <a:cs typeface="Consolas"/>
              </a:rPr>
              <a:t>        COALESCE(VerdictDate, CURDATE()),</a:t>
            </a:r>
          </a:p>
          <a:p>
            <a:pPr marL="0" indent="0">
              <a:buNone/>
            </a:pPr>
            <a:r>
              <a:rPr lang="en-US" sz="750" dirty="0">
                <a:solidFill>
                  <a:srgbClr val="9FE8FF"/>
                </a:solidFill>
                <a:latin typeface="Consolas"/>
                <a:ea typeface="Consolas"/>
                <a:cs typeface="Consolas"/>
              </a:rPr>
              <a:t>        FilingDate</a:t>
            </a:r>
          </a:p>
          <a:p>
            <a:pPr marL="0" indent="0">
              <a:buNone/>
            </a:pPr>
            <a:r>
              <a:rPr lang="en-US" sz="750" dirty="0">
                <a:solidFill>
                  <a:srgbClr val="9FE8FF"/>
                </a:solidFill>
                <a:latin typeface="Consolas"/>
                <a:ea typeface="Consolas"/>
                <a:cs typeface="Consolas"/>
              </a:rPr>
              <a:t>    ) AS Litigation_Days</a:t>
            </a:r>
          </a:p>
          <a:p>
            <a:pPr marL="0" indent="0">
              <a:buNone/>
            </a:pPr>
            <a:r>
              <a:rPr lang="en-US" sz="750" dirty="0">
                <a:solidFill>
                  <a:srgbClr val="9FE8FF"/>
                </a:solidFill>
                <a:latin typeface="Consolas"/>
                <a:ea typeface="Consolas"/>
                <a:cs typeface="Consolas"/>
              </a:rPr>
              <a:t>FROM CourtCase;</a:t>
            </a:r>
          </a:p>
        </p:txBody>
      </p:sp>
      <p:sp>
        <p:nvSpPr>
          <p:cNvPr id="1047" name="Shape 1047"/>
          <p:cNvSpPr txBox="1"/>
          <p:nvPr/>
        </p:nvSpPr>
        <p:spPr>
          <a:xfrm>
            <a:off x="2971800" y="418795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22D3EE"/>
                </a:solidFill>
                <a:latin typeface="Calibri"/>
                <a:ea typeface="Calibri"/>
                <a:cs typeface="Calibri"/>
              </a:rPr>
              <a:t>Completed case: </a:t>
            </a:r>
            <a:r>
              <a:rPr lang="en-US" sz="8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Filing date → Hearings → Verdict</a:t>
            </a:r>
          </a:p>
          <a:p>
            <a:pPr marL="0" indent="0">
              <a:buNone/>
            </a:pPr>
            <a:r>
              <a:rPr lang="en-US" sz="800" b="1" dirty="0">
                <a:solidFill>
                  <a:srgbClr val="22D3EE"/>
                </a:solidFill>
                <a:latin typeface="Calibri"/>
                <a:ea typeface="Calibri"/>
                <a:cs typeface="Calibri"/>
              </a:rPr>
              <a:t>Pending case: </a:t>
            </a:r>
            <a:r>
              <a:rPr lang="en-US" sz="8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Filing date → Current date</a:t>
            </a:r>
          </a:p>
        </p:txBody>
      </p:sp>
      <p:sp>
        <p:nvSpPr>
          <p:cNvPr id="1048" name="Shape 1048"/>
          <p:cNvSpPr txBox="1"/>
          <p:nvPr/>
        </p:nvSpPr>
        <p:spPr>
          <a:xfrm>
            <a:off x="6172200" y="1417320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2D3EE"/>
                </a:solidFill>
                <a:latin typeface="Calibri"/>
                <a:ea typeface="Calibri"/>
                <a:cs typeface="Calibri"/>
              </a:rPr>
              <a:t>DASHBOARD KPIs (conceptual – no results shown)</a:t>
            </a:r>
          </a:p>
        </p:txBody>
      </p:sp>
      <p:sp>
        <p:nvSpPr>
          <p:cNvPr id="1049" name="Shape 1049"/>
          <p:cNvSpPr/>
          <p:nvPr/>
        </p:nvSpPr>
        <p:spPr>
          <a:xfrm>
            <a:off x="6172200" y="1645920"/>
            <a:ext cx="1188720" cy="548640"/>
          </a:xfrm>
          <a:prstGeom prst="roundRect">
            <a:avLst>
              <a:gd name="adj" fmla="val 5000"/>
            </a:avLst>
          </a:prstGeom>
          <a:solidFill>
            <a:srgbClr val="12213F"/>
          </a:solidFill>
          <a:ln w="9525">
            <a:solidFill>
              <a:srgbClr val="1E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0" name="Shape 1050"/>
          <p:cNvSpPr txBox="1"/>
          <p:nvPr/>
        </p:nvSpPr>
        <p:spPr>
          <a:xfrm>
            <a:off x="6245352" y="1709928"/>
            <a:ext cx="10424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22D3EE"/>
                </a:solidFill>
                <a:latin typeface="Calibri"/>
                <a:ea typeface="Calibri"/>
                <a:cs typeface="Calibri"/>
              </a:rPr>
              <a:t>Total FIRs</a:t>
            </a:r>
          </a:p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COUNT(f.DR_NO)</a:t>
            </a:r>
          </a:p>
        </p:txBody>
      </p:sp>
      <p:sp>
        <p:nvSpPr>
          <p:cNvPr id="1051" name="Shape 1051"/>
          <p:cNvSpPr/>
          <p:nvPr/>
        </p:nvSpPr>
        <p:spPr>
          <a:xfrm>
            <a:off x="7498080" y="1645920"/>
            <a:ext cx="1188720" cy="548640"/>
          </a:xfrm>
          <a:prstGeom prst="roundRect">
            <a:avLst>
              <a:gd name="adj" fmla="val 5000"/>
            </a:avLst>
          </a:prstGeom>
          <a:solidFill>
            <a:srgbClr val="12213F"/>
          </a:solidFill>
          <a:ln w="9525">
            <a:solidFill>
              <a:srgbClr val="1E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2" name="Shape 1052"/>
          <p:cNvSpPr txBox="1"/>
          <p:nvPr/>
        </p:nvSpPr>
        <p:spPr>
          <a:xfrm>
            <a:off x="7571232" y="1709928"/>
            <a:ext cx="10424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22D3EE"/>
                </a:solidFill>
                <a:latin typeface="Calibri"/>
                <a:ea typeface="Calibri"/>
                <a:cs typeface="Calibri"/>
              </a:rPr>
              <a:t>Cleared Cases</a:t>
            </a:r>
          </a:p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SUM(CASE … )</a:t>
            </a:r>
          </a:p>
        </p:txBody>
      </p:sp>
      <p:sp>
        <p:nvSpPr>
          <p:cNvPr id="1053" name="Shape 1053"/>
          <p:cNvSpPr/>
          <p:nvPr/>
        </p:nvSpPr>
        <p:spPr>
          <a:xfrm>
            <a:off x="6172200" y="2258568"/>
            <a:ext cx="1188720" cy="548640"/>
          </a:xfrm>
          <a:prstGeom prst="roundRect">
            <a:avLst>
              <a:gd name="adj" fmla="val 5000"/>
            </a:avLst>
          </a:prstGeom>
          <a:solidFill>
            <a:srgbClr val="12213F"/>
          </a:solidFill>
          <a:ln w="9525">
            <a:solidFill>
              <a:srgbClr val="1E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4" name="Shape 1054"/>
          <p:cNvSpPr txBox="1"/>
          <p:nvPr/>
        </p:nvSpPr>
        <p:spPr>
          <a:xfrm>
            <a:off x="6245352" y="2322576"/>
            <a:ext cx="10424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22D3EE"/>
                </a:solidFill>
                <a:latin typeface="Calibri"/>
                <a:ea typeface="Calibri"/>
                <a:cs typeface="Calibri"/>
              </a:rPr>
              <a:t>Active Cases</a:t>
            </a:r>
          </a:p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from Status</a:t>
            </a:r>
          </a:p>
        </p:txBody>
      </p:sp>
      <p:sp>
        <p:nvSpPr>
          <p:cNvPr id="1055" name="Shape 1055"/>
          <p:cNvSpPr/>
          <p:nvPr/>
        </p:nvSpPr>
        <p:spPr>
          <a:xfrm>
            <a:off x="7498080" y="2258568"/>
            <a:ext cx="1188720" cy="548640"/>
          </a:xfrm>
          <a:prstGeom prst="roundRect">
            <a:avLst>
              <a:gd name="adj" fmla="val 5000"/>
            </a:avLst>
          </a:prstGeom>
          <a:solidFill>
            <a:srgbClr val="12213F"/>
          </a:solidFill>
          <a:ln w="9525">
            <a:solidFill>
              <a:srgbClr val="1E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6" name="Shape 1056"/>
          <p:cNvSpPr txBox="1"/>
          <p:nvPr/>
        </p:nvSpPr>
        <p:spPr>
          <a:xfrm>
            <a:off x="7571232" y="2322576"/>
            <a:ext cx="10424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22D3EE"/>
                </a:solidFill>
                <a:latin typeface="Calibri"/>
                <a:ea typeface="Calibri"/>
                <a:cs typeface="Calibri"/>
              </a:rPr>
              <a:t>Station-wise</a:t>
            </a:r>
          </a:p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GROUP BY AREA_NAME</a:t>
            </a:r>
          </a:p>
        </p:txBody>
      </p:sp>
      <p:sp>
        <p:nvSpPr>
          <p:cNvPr id="1057" name="Shape 1057"/>
          <p:cNvSpPr txBox="1"/>
          <p:nvPr/>
        </p:nvSpPr>
        <p:spPr>
          <a:xfrm>
            <a:off x="6172200" y="283464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22D3EE"/>
                </a:solidFill>
                <a:latin typeface="Calibri"/>
                <a:ea typeface="Calibri"/>
                <a:cs typeface="Calibri"/>
              </a:rPr>
              <a:t>Query → KPI: </a:t>
            </a:r>
            <a:r>
              <a:rPr lang="en-US" sz="800" i="1" dirty="0">
                <a:solidFill>
                  <a:srgbClr val="A8B8D8"/>
                </a:solidFill>
                <a:latin typeface="Calibri"/>
                <a:ea typeface="Calibri"/>
                <a:cs typeface="Calibri"/>
              </a:rPr>
              <a:t>aggregates from JOINed tables feed each tile. SQL for operational monitoring &amp; case-management analytics.</a:t>
            </a:r>
          </a:p>
        </p:txBody>
      </p:sp>
      <p:sp>
        <p:nvSpPr>
          <p:cNvPr id="1058" name="Shape 1058"/>
          <p:cNvSpPr/>
          <p:nvPr/>
        </p:nvSpPr>
        <p:spPr>
          <a:xfrm>
            <a:off x="6172200" y="3310128"/>
            <a:ext cx="2514600" cy="1252728"/>
          </a:xfrm>
          <a:prstGeom prst="roundRect">
            <a:avLst>
              <a:gd name="adj" fmla="val 5000"/>
            </a:avLst>
          </a:prstGeom>
          <a:solidFill>
            <a:srgbClr val="12213F"/>
          </a:solidFill>
          <a:ln w="9525">
            <a:solidFill>
              <a:srgbClr val="1E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9" name="Shape 1059"/>
          <p:cNvSpPr txBox="1"/>
          <p:nvPr/>
        </p:nvSpPr>
        <p:spPr>
          <a:xfrm>
            <a:off x="6263640" y="3374136"/>
            <a:ext cx="2331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22D3EE"/>
                </a:solidFill>
                <a:latin typeface="Calibri"/>
                <a:ea typeface="Calibri"/>
                <a:cs typeface="Calibri"/>
              </a:rPr>
              <a:t>Concepts</a:t>
            </a:r>
          </a:p>
          <a:p>
            <a:pPr marL="127000" indent="-127000"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JOIN • GROUP BY • COUNT</a:t>
            </a:r>
          </a:p>
          <a:p>
            <a:pPr marL="127000" indent="-127000"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Conditional aggregation (CASE) • KPI generation</a:t>
            </a:r>
          </a:p>
          <a:p>
            <a:pPr marL="127000" indent="-127000"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DATEDIFF(): days between two dates</a:t>
            </a:r>
          </a:p>
          <a:p>
            <a:pPr marL="127000" indent="-127000"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COALESCE(): CURDATE() when VerdictDate is NULL</a:t>
            </a:r>
          </a:p>
          <a:p>
            <a:pPr marL="127000" indent="-127000"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Dynamic aging of pending cases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4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</a:t>
            </a: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Transactional Integrity &amp; Automated Database Logic</a:t>
            </a:r>
            <a:endParaRPr lang="en-US" sz="2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Gaurav Singh | P15 | CRPSMS | MySQL 8.0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777240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2011680" cy="1188720"/>
          </a:xfrm>
          <a:prstGeom prst="roundRect">
            <a:avLst>
              <a:gd name="adj" fmla="val 4615"/>
            </a:avLst>
          </a:prstGeom>
          <a:solidFill>
            <a:srgbClr val="12213F"/>
          </a:solidFill>
          <a:ln w="9525">
            <a:solidFill>
              <a:srgbClr val="1E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566928" y="1069848"/>
            <a:ext cx="179222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Atomicity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related FIR operations succeed or fail together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60320" y="1005840"/>
            <a:ext cx="2011680" cy="1188720"/>
          </a:xfrm>
          <a:prstGeom prst="roundRect">
            <a:avLst>
              <a:gd name="adj" fmla="val 4615"/>
            </a:avLst>
          </a:prstGeom>
          <a:solidFill>
            <a:srgbClr val="12213F"/>
          </a:solidFill>
          <a:ln w="9525">
            <a:solidFill>
              <a:srgbClr val="1E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2670048" y="1069848"/>
            <a:ext cx="179222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 maintain valid database states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286000"/>
            <a:ext cx="2011680" cy="1188720"/>
          </a:xfrm>
          <a:prstGeom prst="roundRect">
            <a:avLst>
              <a:gd name="adj" fmla="val 4615"/>
            </a:avLst>
          </a:prstGeom>
          <a:solidFill>
            <a:srgbClr val="12213F"/>
          </a:solidFill>
          <a:ln w="9525">
            <a:solidFill>
              <a:srgbClr val="1E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566928" y="2350008"/>
            <a:ext cx="179222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transactions are isolated appropriately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60320" y="2286000"/>
            <a:ext cx="2011680" cy="1188720"/>
          </a:xfrm>
          <a:prstGeom prst="roundRect">
            <a:avLst>
              <a:gd name="adj" fmla="val 4615"/>
            </a:avLst>
          </a:prstGeom>
          <a:solidFill>
            <a:srgbClr val="12213F"/>
          </a:solidFill>
          <a:ln w="9525">
            <a:solidFill>
              <a:srgbClr val="1E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2670048" y="2350008"/>
            <a:ext cx="179222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Durability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Committed changes survive failures via database recovery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611880"/>
            <a:ext cx="4114800" cy="1005840"/>
          </a:xfrm>
          <a:prstGeom prst="roundRect">
            <a:avLst>
              <a:gd name="adj" fmla="val 4545"/>
            </a:avLst>
          </a:prstGeom>
          <a:solidFill>
            <a:srgbClr val="050B18"/>
          </a:solidFill>
          <a:ln w="9525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548640" y="365760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9F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 TRANSACTION;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9F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 Insert FIR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9F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 Insert Victim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9F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 Insert FIR_CrimeType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9F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COMMIT;   -- success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9F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ROLLBACK; -- failure path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4937760" y="96012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EVENT CHAIN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937760" y="1234440"/>
            <a:ext cx="3749040" cy="640080"/>
          </a:xfrm>
          <a:prstGeom prst="roundRect">
            <a:avLst>
              <a:gd name="adj" fmla="val 8571"/>
            </a:avLst>
          </a:prstGeom>
          <a:solidFill>
            <a:srgbClr val="12213F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4974336" y="1234440"/>
            <a:ext cx="36758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Accused Arrest</a:t>
            </a:r>
            <a:endParaRPr lang="en-US" sz="95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Automation Trigger fires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812280" y="1874520"/>
            <a:ext cx="0" cy="246888"/>
          </a:xfrm>
          <a:prstGeom prst="line">
            <a:avLst/>
          </a:prstGeom>
          <a:noFill/>
          <a:ln w="15875">
            <a:solidFill>
              <a:srgbClr val="22D3E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937760" y="2121408"/>
            <a:ext cx="3749040" cy="640080"/>
          </a:xfrm>
          <a:prstGeom prst="roundRect">
            <a:avLst>
              <a:gd name="adj" fmla="val 8571"/>
            </a:avLst>
          </a:prstGeom>
          <a:solidFill>
            <a:srgbClr val="12213F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4974336" y="2121408"/>
            <a:ext cx="36758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 Status Update</a:t>
            </a:r>
            <a:endParaRPr lang="en-US" sz="95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 status changes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812280" y="2761488"/>
            <a:ext cx="0" cy="246888"/>
          </a:xfrm>
          <a:prstGeom prst="line">
            <a:avLst/>
          </a:prstGeom>
          <a:noFill/>
          <a:ln w="15875">
            <a:solidFill>
              <a:srgbClr val="22D3E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937760" y="3008376"/>
            <a:ext cx="3749040" cy="640080"/>
          </a:xfrm>
          <a:prstGeom prst="roundRect">
            <a:avLst>
              <a:gd name="adj" fmla="val 8571"/>
            </a:avLst>
          </a:prstGeom>
          <a:solidFill>
            <a:srgbClr val="12213F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4974336" y="3008376"/>
            <a:ext cx="36758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Trigger</a:t>
            </a:r>
            <a:endParaRPr lang="en-US" sz="95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old &amp; new status, user, timestamp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812280" y="3648456"/>
            <a:ext cx="0" cy="246888"/>
          </a:xfrm>
          <a:prstGeom prst="line">
            <a:avLst/>
          </a:prstGeom>
          <a:noFill/>
          <a:ln w="15875">
            <a:solidFill>
              <a:srgbClr val="22D3E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937760" y="3895344"/>
            <a:ext cx="3749040" cy="640080"/>
          </a:xfrm>
          <a:prstGeom prst="roundRect">
            <a:avLst>
              <a:gd name="adj" fmla="val 8571"/>
            </a:avLst>
          </a:prstGeom>
          <a:solidFill>
            <a:srgbClr val="163A78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4974336" y="3895344"/>
            <a:ext cx="36758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CrimeAuditLog</a:t>
            </a:r>
            <a:endParaRPr lang="en-US" sz="95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record written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4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</a:t>
            </a: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Engineering: B-Tree Indexing &amp; EXPLAIN</a:t>
            </a:r>
            <a:endParaRPr lang="en-US" sz="2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Gaurav Singh | P15 | CRPSMS | MySQL 8.0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777240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4023360" cy="1188720"/>
          </a:xfrm>
          <a:prstGeom prst="roundRect">
            <a:avLst>
              <a:gd name="adj" fmla="val 3846"/>
            </a:avLst>
          </a:prstGeom>
          <a:solidFill>
            <a:srgbClr val="050B18"/>
          </a:solidFill>
          <a:ln w="9525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548640" y="105156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9F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9F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FIR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9F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Date_Occ BETWEEN '2022-01-01'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9F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AND '2023-06-30'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9F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AND AREA IN (1,2,3,6);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4023360" cy="457200"/>
          </a:xfrm>
          <a:prstGeom prst="roundRect">
            <a:avLst>
              <a:gd name="adj" fmla="val 10000"/>
            </a:avLst>
          </a:prstGeom>
          <a:solidFill>
            <a:srgbClr val="050B18"/>
          </a:solidFill>
          <a:ln w="9525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548640" y="23317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9F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INDEX idx_fir_date_area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9F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 FIR(Date_Occ, AREA);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57200" y="2834640"/>
            <a:ext cx="4023360" cy="1737360"/>
          </a:xfrm>
          <a:prstGeom prst="roundRect">
            <a:avLst>
              <a:gd name="adj" fmla="val 3158"/>
            </a:avLst>
          </a:prstGeom>
          <a:solidFill>
            <a:srgbClr val="12213F"/>
          </a:solidFill>
          <a:ln w="9525">
            <a:solidFill>
              <a:srgbClr val="1E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566928" y="2898648"/>
            <a:ext cx="3803904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Composite B-Tree Index?</a:t>
            </a:r>
            <a:endParaRPr lang="en-US" sz="11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date-range filtering</a:t>
            </a:r>
            <a:endParaRPr lang="en-US" sz="11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filtering by police division</a:t>
            </a:r>
            <a:endParaRPr lang="en-US" sz="11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Leftmost-prefix principle: Date_Occ leads</a:t>
            </a:r>
            <a:endParaRPr lang="en-US" sz="11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Trade-off: faster reads ↔ extra storage &amp; write maintenance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1005840"/>
            <a:ext cx="4023360" cy="1325880"/>
          </a:xfrm>
          <a:prstGeom prst="roundRect">
            <a:avLst>
              <a:gd name="adj" fmla="val 4138"/>
            </a:avLst>
          </a:prstGeom>
          <a:solidFill>
            <a:srgbClr val="12213F"/>
          </a:solidFill>
          <a:ln w="9525">
            <a:solidFill>
              <a:srgbClr val="1E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4773168" y="1069848"/>
            <a:ext cx="3803904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Full Table Scan</a:t>
            </a:r>
            <a:endParaRPr lang="en-US" sz="11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type: ALL</a:t>
            </a:r>
            <a:endParaRPr lang="en-US" sz="11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rows examined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1737360"/>
            <a:ext cx="3840480" cy="502920"/>
          </a:xfrm>
          <a:prstGeom prst="roundRect">
            <a:avLst>
              <a:gd name="adj" fmla="val 9091"/>
            </a:avLst>
          </a:prstGeom>
          <a:solidFill>
            <a:srgbClr val="050B18"/>
          </a:solidFill>
          <a:ln w="9525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4846320" y="17830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9F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EXPLAIN (conceptual)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9F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type: ALL | key: NULL | rows: high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663440" y="2423160"/>
            <a:ext cx="4023360" cy="1325880"/>
          </a:xfrm>
          <a:prstGeom prst="roundRect">
            <a:avLst>
              <a:gd name="adj" fmla="val 4138"/>
            </a:avLst>
          </a:prstGeom>
          <a:solidFill>
            <a:srgbClr val="12213F"/>
          </a:solidFill>
          <a:ln w="9525">
            <a:solidFill>
              <a:srgbClr val="1E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4773168" y="2487168"/>
            <a:ext cx="3803904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AFTER: B-Tree Range Scan</a:t>
            </a:r>
            <a:endParaRPr lang="en-US" sz="11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Range-based index access</a:t>
            </a:r>
            <a:endParaRPr lang="en-US" sz="11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rows examined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3154680"/>
            <a:ext cx="3840480" cy="502920"/>
          </a:xfrm>
          <a:prstGeom prst="roundRect">
            <a:avLst>
              <a:gd name="adj" fmla="val 9091"/>
            </a:avLst>
          </a:prstGeom>
          <a:solidFill>
            <a:srgbClr val="050B18"/>
          </a:solidFill>
          <a:ln w="9525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4846320" y="32004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9F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EXPLAIN (conceptual)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9F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type: range | key: idx_fir_date_area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663440" y="3886200"/>
            <a:ext cx="4023360" cy="685800"/>
          </a:xfrm>
          <a:prstGeom prst="roundRect">
            <a:avLst>
              <a:gd name="adj" fmla="val 8000"/>
            </a:avLst>
          </a:prstGeom>
          <a:solidFill>
            <a:srgbClr val="163A78"/>
          </a:solidFill>
          <a:ln w="15875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4663440" y="388620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88% </a:t>
            </a:r>
            <a:r>
              <a:rPr lang="en-US" sz="9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rows examined (project benchmark scenario)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4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</a:t>
            </a: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Outcomes &amp; Live MySQL Demonstration</a:t>
            </a:r>
            <a:endParaRPr lang="en-US" sz="2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Gaurav Singh | P15 | CRPSMS | MySQL 8.0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777240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8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4023360" cy="2651760"/>
          </a:xfrm>
          <a:prstGeom prst="roundRect">
            <a:avLst>
              <a:gd name="adj" fmla="val 2069"/>
            </a:avLst>
          </a:prstGeom>
          <a:solidFill>
            <a:srgbClr val="12213F"/>
          </a:solidFill>
          <a:ln w="9525">
            <a:solidFill>
              <a:srgbClr val="1E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566928" y="1069848"/>
            <a:ext cx="3803904" cy="2523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Achievements</a:t>
            </a:r>
            <a:endParaRPr lang="en-US" sz="11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relational database design</a:t>
            </a:r>
            <a:endParaRPr lang="en-US" sz="11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core tables + audit relation</a:t>
            </a:r>
            <a:endParaRPr lang="en-US" sz="11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4,029 populated records</a:t>
            </a:r>
            <a:endParaRPr lang="en-US" sz="11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FIR, victim, accused, officer, court relationships</a:t>
            </a:r>
            <a:endParaRPr lang="en-US" sz="11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analytical queries</a:t>
            </a:r>
            <a:endParaRPr lang="en-US" sz="11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 transaction implementation</a:t>
            </a:r>
            <a:endParaRPr lang="en-US" sz="11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triggers &amp; audit logging</a:t>
            </a:r>
            <a:endParaRPr lang="en-US" sz="11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B-Tree indexing &amp; EXPLAIN-based optimization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63440" y="1005840"/>
            <a:ext cx="4023360" cy="2651760"/>
          </a:xfrm>
          <a:prstGeom prst="roundRect">
            <a:avLst>
              <a:gd name="adj" fmla="val 2069"/>
            </a:avLst>
          </a:prstGeom>
          <a:solidFill>
            <a:srgbClr val="12213F"/>
          </a:solidFill>
          <a:ln w="9525">
            <a:solidFill>
              <a:srgbClr val="1E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4773168" y="1069848"/>
            <a:ext cx="3803904" cy="2523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Roadmap</a:t>
            </a:r>
            <a:endParaRPr lang="en-US" sz="11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Show database schema</a:t>
            </a:r>
            <a:endParaRPr lang="en-US" sz="11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Verify table record counts</a:t>
            </a:r>
            <a:endParaRPr lang="en-US" sz="11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Multi-table JOIN</a:t>
            </a:r>
            <a:endParaRPr lang="en-US" sz="11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Analytical SQL query</a:t>
            </a:r>
            <a:endParaRPr lang="en-US" sz="11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Transaction demonstration</a:t>
            </a:r>
            <a:endParaRPr lang="en-US" sz="11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Trigger-generated audit entry</a:t>
            </a:r>
            <a:endParaRPr lang="en-US" sz="11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Run EXPLAIN</a:t>
            </a:r>
            <a:endParaRPr lang="en-US" sz="11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Compare indexed vs non-indexed plans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794760"/>
            <a:ext cx="8229600" cy="822960"/>
          </a:xfrm>
          <a:prstGeom prst="roundRect">
            <a:avLst>
              <a:gd name="adj" fmla="val 6667"/>
            </a:avLst>
          </a:prstGeom>
          <a:solidFill>
            <a:srgbClr val="163A78"/>
          </a:solidFill>
          <a:ln w="9525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566928" y="3858768"/>
            <a:ext cx="80101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“CRPSMS demonstrates how relational database design, SQL analytics, transaction management and query optimization can transform raw crime records into a structured and reliable information system.”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1245</Words>
  <Application>Microsoft Office PowerPoint</Application>
  <PresentationFormat>On-screen Show (16:9)</PresentationFormat>
  <Paragraphs>287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Gaurav Singh</cp:lastModifiedBy>
  <cp:revision>2</cp:revision>
  <dcterms:created xsi:type="dcterms:W3CDTF">2026-09-23T18:30:41Z</dcterms:created>
  <dcterms:modified xsi:type="dcterms:W3CDTF">2026-09-23T18:48:59Z</dcterms:modified>
</cp:coreProperties>
</file>