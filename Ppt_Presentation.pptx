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Calibri (MS) Bold" charset="1" panose="020F0702030404030204"/>
      <p:regular r:id="rId17"/>
    </p:embeddedFont>
    <p:embeddedFont>
      <p:font typeface="Calibri (MS)" charset="1" panose="020F0502020204030204"/>
      <p:regular r:id="rId18"/>
    </p:embeddedFont>
    <p:embeddedFont>
      <p:font typeface="Calibri (MS) Italics" charset="1" panose="020F05020202040A0204"/>
      <p:regular r:id="rId20"/>
    </p:embeddedFont>
    <p:embeddedFont>
      <p:font typeface="Consolas" charset="1" panose="020B060902020403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notesSlides/notesSlide3.xml" Type="http://schemas.openxmlformats.org/officeDocument/2006/relationships/notesSlide"/><Relationship Id="rId22" Target="fonts/font22.fntdata" Type="http://schemas.openxmlformats.org/officeDocument/2006/relationships/font"/><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I am Gaurav Singh, Roll No. P15, faculty Mr. Chinmay Mukim. My project is the Crime Record and Police Station Management System in MySQL 8.0. The problem is flat crime records with redundancy and hard-to-manage relationships; the solution is a normalized relational database with transactions, analytics, auditing and optimized queries.</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data comes from the LAPD Crime Data on the Los Angeles Open Data Portal, 2020 to 2024. The raw file is flat with repeating crime-code columns, repeated master descriptions and transitive dependencies. The workflow shows how an incident moves from FIR to audit. This is an academic project, not an operational police system.</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Unnormalized: Crm_Cd_1 to Crm_Cd_4 are repeating columns, replaced by FIR_CrimeType(DR_NO, Crm_Cd). 1NF removes multi-valued crime codes. 2NF removes partial dependencies. 3NF removes the transitive dependency DR_NO to AREA to AREA_NAME by creating PoliceStation. The outcome is less redundancy, better consistency and lossless decomposition.</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 core tables grouped into incident management, personnel, people and investigation, judicial and governance modules, holding 4,029 records. Premises, Weapon and CaseStatus are left off the diagram for clarity. Integrity comes from primary and foreign keys, CHECK constraints, date validation and controlled status values.</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Station analytics uses JOIN with GROUP BY and conditional aggregation to produce KPIs such as total FIRs and cleared cases. Case aging uses DATEDIFF with COALESCE so pending cases age up to today. These are conceptual KPIs; no results are shown.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ACID: atomicity means all related FIR operations succeed or fail together; consistency via constraints; isolation for concurrent transactions; durability via recovery. The transaction inserts FIR, victim and FIR_CrimeType, then commits or rolls back. Trigger chain: accused arrest fires the status trigger, FIR status updates, the audit trigger records old and new status, user and timestamp into CrimeAuditLog.</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Before indexing, the date-range and division query does a full table scan: type ALL, key NULL, many rows examined. I created a composite B-tree index on Date_Occ and AREA, and EXPLAIN then shows a range scan using idx_fir_date_area with fewer rows examined - about 88 percent fewer in my benchmark scenario. Trade-off: extra storage and write maintenance.</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conclude: CRPSMS turns raw crime records into a structured, reliable information system - normalized design, analytics, ACID transactions, triggers with audit logging, and index-based optimization. Thank you - happy to take questions.</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8972" y="411480"/>
            <a:ext cx="16459200" cy="960120"/>
            <a:chOff x="0" y="0"/>
            <a:chExt cx="21945600" cy="1280160"/>
          </a:xfrm>
        </p:grpSpPr>
        <p:sp>
          <p:nvSpPr>
            <p:cNvPr name="Freeform 3" id="3"/>
            <p:cNvSpPr/>
            <p:nvPr/>
          </p:nvSpPr>
          <p:spPr>
            <a:xfrm flipH="false" flipV="false" rot="0">
              <a:off x="0" y="0"/>
              <a:ext cx="21945600" cy="1280160"/>
            </a:xfrm>
            <a:custGeom>
              <a:avLst/>
              <a:gdLst/>
              <a:ahLst/>
              <a:cxnLst/>
              <a:rect r="r" b="b" t="t" l="l"/>
              <a:pathLst>
                <a:path h="1280160" w="21945600">
                  <a:moveTo>
                    <a:pt x="0" y="0"/>
                  </a:moveTo>
                  <a:lnTo>
                    <a:pt x="21945600" y="0"/>
                  </a:lnTo>
                  <a:lnTo>
                    <a:pt x="21945600" y="1280160"/>
                  </a:lnTo>
                  <a:lnTo>
                    <a:pt x="0" y="1280160"/>
                  </a:lnTo>
                  <a:close/>
                </a:path>
              </a:pathLst>
            </a:custGeom>
            <a:blipFill>
              <a:blip r:embed="rId3">
                <a:alphaModFix amt="0"/>
              </a:blip>
              <a:stretch>
                <a:fillRect l="0" t="-284029" r="0" b="-284029"/>
              </a:stretch>
            </a:blipFill>
          </p:spPr>
        </p:sp>
        <p:sp>
          <p:nvSpPr>
            <p:cNvPr name="TextBox 4" id="4"/>
            <p:cNvSpPr txBox="true"/>
            <p:nvPr/>
          </p:nvSpPr>
          <p:spPr>
            <a:xfrm>
              <a:off x="0" y="-66675"/>
              <a:ext cx="21945600" cy="1346835"/>
            </a:xfrm>
            <a:prstGeom prst="rect">
              <a:avLst/>
            </a:prstGeom>
          </p:spPr>
          <p:txBody>
            <a:bodyPr anchor="ctr" rtlCol="false" tIns="0" lIns="0" bIns="0" rIns="0"/>
            <a:lstStyle/>
            <a:p>
              <a:pPr algn="l">
                <a:lnSpc>
                  <a:spcPts val="4320"/>
                </a:lnSpc>
              </a:pPr>
              <a:r>
                <a:rPr lang="en-US" sz="3600" b="true">
                  <a:solidFill>
                    <a:srgbClr val="2563EB"/>
                  </a:solidFill>
                  <a:latin typeface="Calibri (MS) Bold"/>
                  <a:ea typeface="Calibri (MS) Bold"/>
                  <a:cs typeface="Calibri (MS) Bold"/>
                  <a:sym typeface="Calibri (MS) Bold"/>
                </a:rPr>
                <a:t>01  </a:t>
              </a:r>
              <a:r>
                <a:rPr lang="en-US" sz="3600" b="true">
                  <a:solidFill>
                    <a:srgbClr val="0F1F45"/>
                  </a:solidFill>
                  <a:latin typeface="Calibri (MS) Bold"/>
                  <a:ea typeface="Calibri (MS) Bold"/>
                  <a:cs typeface="Calibri (MS) Bold"/>
                  <a:sym typeface="Calibri (MS) Bold"/>
                </a:rPr>
                <a:t>Crime Record &amp; Police Station Management System</a:t>
              </a:r>
            </a:p>
          </p:txBody>
        </p:sp>
      </p:grpSp>
      <p:sp>
        <p:nvSpPr>
          <p:cNvPr name="TextBox 5" id="5"/>
          <p:cNvSpPr txBox="true"/>
          <p:nvPr/>
        </p:nvSpPr>
        <p:spPr>
          <a:xfrm rot="0">
            <a:off x="15553944" y="9476613"/>
            <a:ext cx="1824228" cy="440055"/>
          </a:xfrm>
          <a:prstGeom prst="rect">
            <a:avLst/>
          </a:prstGeom>
        </p:spPr>
        <p:txBody>
          <a:bodyPr anchor="t" rtlCol="false" tIns="0" lIns="0" bIns="0" rIns="0">
            <a:spAutoFit/>
          </a:bodyPr>
          <a:lstStyle/>
          <a:p>
            <a:pPr algn="r">
              <a:lnSpc>
                <a:spcPts val="1620"/>
              </a:lnSpc>
            </a:pPr>
            <a:r>
              <a:rPr lang="en-US" sz="1350">
                <a:solidFill>
                  <a:srgbClr val="5B6B8C"/>
                </a:solidFill>
                <a:latin typeface="Calibri (MS)"/>
                <a:ea typeface="Calibri (MS)"/>
                <a:cs typeface="Calibri (MS)"/>
                <a:sym typeface="Calibri (MS)"/>
              </a:rPr>
              <a:t>1 / 8</a:t>
            </a:r>
          </a:p>
        </p:txBody>
      </p:sp>
      <p:sp>
        <p:nvSpPr>
          <p:cNvPr name="TextBox 6" id="6"/>
          <p:cNvSpPr txBox="true"/>
          <p:nvPr/>
        </p:nvSpPr>
        <p:spPr>
          <a:xfrm rot="0">
            <a:off x="918972" y="1392555"/>
            <a:ext cx="11247120" cy="459105"/>
          </a:xfrm>
          <a:prstGeom prst="rect">
            <a:avLst/>
          </a:prstGeom>
        </p:spPr>
        <p:txBody>
          <a:bodyPr anchor="t" rtlCol="false" tIns="0" lIns="0" bIns="0" rIns="0">
            <a:spAutoFit/>
          </a:bodyPr>
          <a:lstStyle/>
          <a:p>
            <a:pPr algn="l">
              <a:lnSpc>
                <a:spcPts val="2520"/>
              </a:lnSpc>
            </a:pPr>
            <a:r>
              <a:rPr lang="en-US" sz="2100" b="true">
                <a:solidFill>
                  <a:srgbClr val="2563EB"/>
                </a:solidFill>
                <a:latin typeface="Calibri (MS) Bold"/>
                <a:ea typeface="Calibri (MS) Bold"/>
                <a:cs typeface="Calibri (MS) Bold"/>
                <a:sym typeface="Calibri (MS) Bold"/>
              </a:rPr>
              <a:t>SQL-Based Relational Database, Analytics &amp; Query Optimization</a:t>
            </a:r>
          </a:p>
        </p:txBody>
      </p:sp>
      <p:sp>
        <p:nvSpPr>
          <p:cNvPr name="TextBox 7" id="7"/>
          <p:cNvSpPr txBox="true"/>
          <p:nvPr/>
        </p:nvSpPr>
        <p:spPr>
          <a:xfrm rot="0">
            <a:off x="918972" y="2019300"/>
            <a:ext cx="11247120" cy="449580"/>
          </a:xfrm>
          <a:prstGeom prst="rect">
            <a:avLst/>
          </a:prstGeom>
        </p:spPr>
        <p:txBody>
          <a:bodyPr anchor="t" rtlCol="false" tIns="0" lIns="0" bIns="0" rIns="0">
            <a:spAutoFit/>
          </a:bodyPr>
          <a:lstStyle/>
          <a:p>
            <a:pPr algn="l">
              <a:lnSpc>
                <a:spcPts val="2160"/>
              </a:lnSpc>
            </a:pPr>
            <a:r>
              <a:rPr lang="en-US" sz="1800" b="true">
                <a:solidFill>
                  <a:srgbClr val="0F1F45"/>
                </a:solidFill>
                <a:latin typeface="Calibri (MS) Bold"/>
                <a:ea typeface="Calibri (MS) Bold"/>
                <a:cs typeface="Calibri (MS) Bold"/>
                <a:sym typeface="Calibri (MS) Bold"/>
              </a:rPr>
              <a:t>Gaurav Singh   |   Roll No: P15   |   T.Y. B.Tech CSE (Data Science)</a:t>
            </a:r>
          </a:p>
        </p:txBody>
      </p:sp>
      <p:sp>
        <p:nvSpPr>
          <p:cNvPr name="TextBox 8" id="8"/>
          <p:cNvSpPr txBox="true"/>
          <p:nvPr/>
        </p:nvSpPr>
        <p:spPr>
          <a:xfrm rot="0">
            <a:off x="918972" y="2467737"/>
            <a:ext cx="11247120" cy="440055"/>
          </a:xfrm>
          <a:prstGeom prst="rect">
            <a:avLst/>
          </a:prstGeom>
        </p:spPr>
        <p:txBody>
          <a:bodyPr anchor="t" rtlCol="false" tIns="0" lIns="0" bIns="0" rIns="0">
            <a:spAutoFit/>
          </a:bodyPr>
          <a:lstStyle/>
          <a:p>
            <a:pPr algn="l">
              <a:lnSpc>
                <a:spcPts val="1980"/>
              </a:lnSpc>
            </a:pPr>
            <a:r>
              <a:rPr lang="en-US" sz="1650">
                <a:solidFill>
                  <a:srgbClr val="5B6B8C"/>
                </a:solidFill>
                <a:latin typeface="Calibri (MS)"/>
                <a:ea typeface="Calibri (MS)"/>
                <a:cs typeface="Calibri (MS)"/>
                <a:sym typeface="Calibri (MS)"/>
              </a:rPr>
              <a:t>DBMS – 23UDSPCL3508   |   Faculty: Mr. Chinmay Mukim   |   MySQL 8.0 / InnoDB</a:t>
            </a:r>
          </a:p>
        </p:txBody>
      </p:sp>
      <p:grpSp>
        <p:nvGrpSpPr>
          <p:cNvPr name="Group 9" id="9"/>
          <p:cNvGrpSpPr/>
          <p:nvPr/>
        </p:nvGrpSpPr>
        <p:grpSpPr>
          <a:xfrm rot="0">
            <a:off x="911828" y="3284696"/>
            <a:ext cx="11261407" cy="3786188"/>
            <a:chOff x="0" y="0"/>
            <a:chExt cx="15015210" cy="5048250"/>
          </a:xfrm>
        </p:grpSpPr>
        <p:sp>
          <p:nvSpPr>
            <p:cNvPr name="Freeform 10" id="10"/>
            <p:cNvSpPr/>
            <p:nvPr/>
          </p:nvSpPr>
          <p:spPr>
            <a:xfrm flipH="false" flipV="false" rot="0">
              <a:off x="0" y="0"/>
              <a:ext cx="15015211" cy="5048250"/>
            </a:xfrm>
            <a:custGeom>
              <a:avLst/>
              <a:gdLst/>
              <a:ahLst/>
              <a:cxnLst/>
              <a:rect r="r" b="b" t="t" l="l"/>
              <a:pathLst>
                <a:path h="5048250" w="15015211">
                  <a:moveTo>
                    <a:pt x="0" y="0"/>
                  </a:moveTo>
                  <a:lnTo>
                    <a:pt x="15015211" y="0"/>
                  </a:lnTo>
                  <a:lnTo>
                    <a:pt x="15015211" y="5048250"/>
                  </a:lnTo>
                  <a:lnTo>
                    <a:pt x="0" y="5048250"/>
                  </a:lnTo>
                  <a:close/>
                </a:path>
              </a:pathLst>
            </a:custGeom>
            <a:solidFill>
              <a:srgbClr val="F0F5FF"/>
            </a:solidFill>
            <a:ln w="14288" cap="sq">
              <a:solidFill>
                <a:srgbClr val="C9D9F2"/>
              </a:solidFill>
              <a:prstDash val="solid"/>
              <a:miter/>
            </a:ln>
          </p:spPr>
        </p:sp>
      </p:grpSp>
      <p:sp>
        <p:nvSpPr>
          <p:cNvPr name="TextBox 11" id="11"/>
          <p:cNvSpPr txBox="true"/>
          <p:nvPr/>
        </p:nvSpPr>
        <p:spPr>
          <a:xfrm rot="0">
            <a:off x="1193292" y="3418332"/>
            <a:ext cx="1069848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Problem Statement</a:t>
            </a:r>
          </a:p>
        </p:txBody>
      </p:sp>
      <p:sp>
        <p:nvSpPr>
          <p:cNvPr name="TextBox 12" id="12"/>
          <p:cNvSpPr txBox="true"/>
          <p:nvPr/>
        </p:nvSpPr>
        <p:spPr>
          <a:xfrm rot="0">
            <a:off x="1234440" y="3870960"/>
            <a:ext cx="10698480" cy="3124200"/>
          </a:xfrm>
          <a:prstGeom prst="rect">
            <a:avLst/>
          </a:prstGeom>
        </p:spPr>
        <p:txBody>
          <a:bodyPr anchor="t" rtlCol="false" tIns="0" lIns="0" bIns="0" rIns="0">
            <a:spAutoFit/>
          </a:bodyPr>
          <a:lstStyle/>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Flat crime records contain redundancy</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Repeating crime-code attributes make querying difficult</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FIR, victim, accused, officer and court relationships are hard to manage in a flat structure</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Manual case-status management can create inconsistency</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Large datasets require indexing and query optimization</a:t>
            </a:r>
          </a:p>
        </p:txBody>
      </p:sp>
      <p:grpSp>
        <p:nvGrpSpPr>
          <p:cNvPr name="Group 13" id="13"/>
          <p:cNvGrpSpPr/>
          <p:nvPr/>
        </p:nvGrpSpPr>
        <p:grpSpPr>
          <a:xfrm rot="0">
            <a:off x="911828" y="7262336"/>
            <a:ext cx="11261407" cy="1797367"/>
            <a:chOff x="0" y="0"/>
            <a:chExt cx="15015210" cy="2396490"/>
          </a:xfrm>
        </p:grpSpPr>
        <p:sp>
          <p:nvSpPr>
            <p:cNvPr name="Freeform 14" id="14"/>
            <p:cNvSpPr/>
            <p:nvPr/>
          </p:nvSpPr>
          <p:spPr>
            <a:xfrm flipH="false" flipV="false" rot="0">
              <a:off x="0" y="0"/>
              <a:ext cx="15015211" cy="2396490"/>
            </a:xfrm>
            <a:custGeom>
              <a:avLst/>
              <a:gdLst/>
              <a:ahLst/>
              <a:cxnLst/>
              <a:rect r="r" b="b" t="t" l="l"/>
              <a:pathLst>
                <a:path h="2396490" w="15015211">
                  <a:moveTo>
                    <a:pt x="0" y="0"/>
                  </a:moveTo>
                  <a:lnTo>
                    <a:pt x="15015211" y="0"/>
                  </a:lnTo>
                  <a:lnTo>
                    <a:pt x="15015211" y="2396490"/>
                  </a:lnTo>
                  <a:lnTo>
                    <a:pt x="0" y="2396490"/>
                  </a:lnTo>
                  <a:close/>
                </a:path>
              </a:pathLst>
            </a:custGeom>
            <a:solidFill>
              <a:srgbClr val="C7DAF8"/>
            </a:solidFill>
            <a:ln w="14288" cap="sq">
              <a:solidFill>
                <a:srgbClr val="C9D9F2"/>
              </a:solidFill>
              <a:prstDash val="solid"/>
              <a:miter/>
            </a:ln>
          </p:spPr>
        </p:sp>
      </p:grpSp>
      <p:sp>
        <p:nvSpPr>
          <p:cNvPr name="TextBox 15" id="15"/>
          <p:cNvSpPr txBox="true"/>
          <p:nvPr/>
        </p:nvSpPr>
        <p:spPr>
          <a:xfrm rot="0">
            <a:off x="1193292" y="7395972"/>
            <a:ext cx="1069848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Solution</a:t>
            </a:r>
          </a:p>
        </p:txBody>
      </p:sp>
      <p:sp>
        <p:nvSpPr>
          <p:cNvPr name="TextBox 16" id="16"/>
          <p:cNvSpPr txBox="true"/>
          <p:nvPr/>
        </p:nvSpPr>
        <p:spPr>
          <a:xfrm rot="0">
            <a:off x="1234440" y="7807452"/>
            <a:ext cx="10698480" cy="1135380"/>
          </a:xfrm>
          <a:prstGeom prst="rect">
            <a:avLst/>
          </a:prstGeom>
        </p:spPr>
        <p:txBody>
          <a:bodyPr anchor="t" rtlCol="false" tIns="0" lIns="0" bIns="0" rIns="0">
            <a:spAutoFit/>
          </a:bodyPr>
          <a:lstStyle/>
          <a:p>
            <a:pPr algn="l">
              <a:lnSpc>
                <a:spcPts val="2250"/>
              </a:lnSpc>
            </a:pPr>
            <a:r>
              <a:rPr lang="en-US" sz="1875">
                <a:solidFill>
                  <a:srgbClr val="0F1F45"/>
                </a:solidFill>
                <a:latin typeface="Calibri (MS)"/>
                <a:ea typeface="Calibri (MS)"/>
                <a:cs typeface="Calibri (MS)"/>
                <a:sym typeface="Calibri (MS)"/>
              </a:rPr>
              <a:t>Normalized relational database supporting transactions, analytics, auditing and optimized queries</a:t>
            </a:r>
          </a:p>
        </p:txBody>
      </p:sp>
      <p:grpSp>
        <p:nvGrpSpPr>
          <p:cNvPr name="Group 17" id="17"/>
          <p:cNvGrpSpPr/>
          <p:nvPr/>
        </p:nvGrpSpPr>
        <p:grpSpPr>
          <a:xfrm rot="0">
            <a:off x="13020675" y="1636395"/>
            <a:ext cx="4367022" cy="1047750"/>
            <a:chOff x="0" y="0"/>
            <a:chExt cx="5822696" cy="1397000"/>
          </a:xfrm>
        </p:grpSpPr>
        <p:sp>
          <p:nvSpPr>
            <p:cNvPr name="Freeform 18" id="18"/>
            <p:cNvSpPr/>
            <p:nvPr/>
          </p:nvSpPr>
          <p:spPr>
            <a:xfrm flipH="false" flipV="false" rot="0">
              <a:off x="0" y="0"/>
              <a:ext cx="5822696" cy="1397000"/>
            </a:xfrm>
            <a:custGeom>
              <a:avLst/>
              <a:gdLst/>
              <a:ahLst/>
              <a:cxnLst/>
              <a:rect r="r" b="b" t="t" l="l"/>
              <a:pathLst>
                <a:path h="1397000" w="5822696">
                  <a:moveTo>
                    <a:pt x="0" y="186309"/>
                  </a:moveTo>
                  <a:cubicBezTo>
                    <a:pt x="0" y="83439"/>
                    <a:pt x="83439" y="0"/>
                    <a:pt x="186309" y="0"/>
                  </a:cubicBezTo>
                  <a:lnTo>
                    <a:pt x="5636387" y="0"/>
                  </a:lnTo>
                  <a:cubicBezTo>
                    <a:pt x="5739257" y="0"/>
                    <a:pt x="5822696" y="83439"/>
                    <a:pt x="5822696" y="186309"/>
                  </a:cubicBezTo>
                  <a:lnTo>
                    <a:pt x="5822696" y="1210691"/>
                  </a:lnTo>
                  <a:cubicBezTo>
                    <a:pt x="5822696" y="1313561"/>
                    <a:pt x="5739257" y="1397000"/>
                    <a:pt x="5636387" y="1397000"/>
                  </a:cubicBezTo>
                  <a:lnTo>
                    <a:pt x="186309" y="1397000"/>
                  </a:lnTo>
                  <a:cubicBezTo>
                    <a:pt x="83439" y="1397000"/>
                    <a:pt x="0" y="1313561"/>
                    <a:pt x="0" y="1210691"/>
                  </a:cubicBezTo>
                  <a:close/>
                </a:path>
              </a:pathLst>
            </a:custGeom>
            <a:solidFill>
              <a:srgbClr val="E3ECFB"/>
            </a:solidFill>
            <a:ln w="19050" cap="sq">
              <a:solidFill>
                <a:srgbClr val="2563EB"/>
              </a:solidFill>
              <a:prstDash val="solid"/>
              <a:miter/>
            </a:ln>
          </p:spPr>
        </p:sp>
      </p:grpSp>
      <p:grpSp>
        <p:nvGrpSpPr>
          <p:cNvPr name="Group 19" id="19"/>
          <p:cNvGrpSpPr/>
          <p:nvPr/>
        </p:nvGrpSpPr>
        <p:grpSpPr>
          <a:xfrm rot="0">
            <a:off x="13098780" y="1645920"/>
            <a:ext cx="4210812" cy="1028700"/>
            <a:chOff x="0" y="0"/>
            <a:chExt cx="5614416" cy="1371600"/>
          </a:xfrm>
        </p:grpSpPr>
        <p:sp>
          <p:nvSpPr>
            <p:cNvPr name="Freeform 20" id="20"/>
            <p:cNvSpPr/>
            <p:nvPr/>
          </p:nvSpPr>
          <p:spPr>
            <a:xfrm flipH="false" flipV="false" rot="0">
              <a:off x="0" y="0"/>
              <a:ext cx="5614416" cy="1371600"/>
            </a:xfrm>
            <a:custGeom>
              <a:avLst/>
              <a:gdLst/>
              <a:ahLst/>
              <a:cxnLst/>
              <a:rect r="r" b="b" t="t" l="l"/>
              <a:pathLst>
                <a:path h="1371600" w="5614416">
                  <a:moveTo>
                    <a:pt x="0" y="0"/>
                  </a:moveTo>
                  <a:lnTo>
                    <a:pt x="5614416" y="0"/>
                  </a:lnTo>
                  <a:lnTo>
                    <a:pt x="5614416" y="1371600"/>
                  </a:lnTo>
                  <a:lnTo>
                    <a:pt x="0" y="1371600"/>
                  </a:lnTo>
                  <a:close/>
                </a:path>
              </a:pathLst>
            </a:custGeom>
            <a:blipFill>
              <a:blip r:embed="rId3">
                <a:alphaModFix amt="0"/>
              </a:blip>
              <a:stretch>
                <a:fillRect l="0" t="-29758" r="0" b="-29758"/>
              </a:stretch>
            </a:blipFill>
          </p:spPr>
        </p:sp>
        <p:sp>
          <p:nvSpPr>
            <p:cNvPr name="TextBox 21" id="21"/>
            <p:cNvSpPr txBox="true"/>
            <p:nvPr/>
          </p:nvSpPr>
          <p:spPr>
            <a:xfrm>
              <a:off x="0" y="-38100"/>
              <a:ext cx="5614416" cy="1409700"/>
            </a:xfrm>
            <a:prstGeom prst="rect">
              <a:avLst/>
            </a:prstGeom>
          </p:spPr>
          <p:txBody>
            <a:bodyPr anchor="ctr" rtlCol="false" tIns="0" lIns="0" bIns="0" rIns="0"/>
            <a:lstStyle/>
            <a:p>
              <a:pPr algn="ctr">
                <a:lnSpc>
                  <a:spcPts val="2070"/>
                </a:lnSpc>
              </a:pPr>
              <a:r>
                <a:rPr lang="en-US" sz="1725" b="true">
                  <a:solidFill>
                    <a:srgbClr val="0F1F45"/>
                  </a:solidFill>
                  <a:latin typeface="Calibri (MS) Bold"/>
                  <a:ea typeface="Calibri (MS) Bold"/>
                  <a:cs typeface="Calibri (MS) Bold"/>
                  <a:sym typeface="Calibri (MS) Bold"/>
                </a:rPr>
                <a:t>RAW CRIME DATA</a:t>
              </a:r>
            </a:p>
          </p:txBody>
        </p:sp>
      </p:grpSp>
      <p:grpSp>
        <p:nvGrpSpPr>
          <p:cNvPr name="Group 22" id="22"/>
          <p:cNvGrpSpPr/>
          <p:nvPr/>
        </p:nvGrpSpPr>
        <p:grpSpPr>
          <a:xfrm rot="0">
            <a:off x="15016353" y="2747391"/>
            <a:ext cx="375666" cy="403098"/>
            <a:chOff x="0" y="0"/>
            <a:chExt cx="500888" cy="537464"/>
          </a:xfrm>
        </p:grpSpPr>
        <p:sp>
          <p:nvSpPr>
            <p:cNvPr name="Freeform 23" id="23"/>
            <p:cNvSpPr/>
            <p:nvPr/>
          </p:nvSpPr>
          <p:spPr>
            <a:xfrm flipH="false" flipV="false" rot="0">
              <a:off x="0" y="0"/>
              <a:ext cx="500888" cy="537464"/>
            </a:xfrm>
            <a:custGeom>
              <a:avLst/>
              <a:gdLst/>
              <a:ahLst/>
              <a:cxnLst/>
              <a:rect r="r" b="b" t="t" l="l"/>
              <a:pathLst>
                <a:path h="537464" w="500888">
                  <a:moveTo>
                    <a:pt x="0" y="287020"/>
                  </a:moveTo>
                  <a:lnTo>
                    <a:pt x="125222" y="287020"/>
                  </a:lnTo>
                  <a:lnTo>
                    <a:pt x="125222" y="0"/>
                  </a:lnTo>
                  <a:lnTo>
                    <a:pt x="375666" y="0"/>
                  </a:lnTo>
                  <a:lnTo>
                    <a:pt x="375666" y="287020"/>
                  </a:lnTo>
                  <a:lnTo>
                    <a:pt x="500888" y="287020"/>
                  </a:lnTo>
                  <a:lnTo>
                    <a:pt x="250444" y="537464"/>
                  </a:lnTo>
                  <a:close/>
                </a:path>
              </a:pathLst>
            </a:custGeom>
            <a:solidFill>
              <a:srgbClr val="2563EB"/>
            </a:solidFill>
            <a:ln w="19050" cap="sq">
              <a:solidFill>
                <a:srgbClr val="2563EB"/>
              </a:solidFill>
              <a:prstDash val="solid"/>
              <a:miter/>
            </a:ln>
          </p:spPr>
        </p:sp>
      </p:grpSp>
      <p:grpSp>
        <p:nvGrpSpPr>
          <p:cNvPr name="Group 24" id="24"/>
          <p:cNvGrpSpPr/>
          <p:nvPr/>
        </p:nvGrpSpPr>
        <p:grpSpPr>
          <a:xfrm rot="0">
            <a:off x="13020675" y="3213735"/>
            <a:ext cx="4367022" cy="1047750"/>
            <a:chOff x="0" y="0"/>
            <a:chExt cx="5822696" cy="1397000"/>
          </a:xfrm>
        </p:grpSpPr>
        <p:sp>
          <p:nvSpPr>
            <p:cNvPr name="Freeform 25" id="25"/>
            <p:cNvSpPr/>
            <p:nvPr/>
          </p:nvSpPr>
          <p:spPr>
            <a:xfrm flipH="false" flipV="false" rot="0">
              <a:off x="0" y="0"/>
              <a:ext cx="5822696" cy="1397000"/>
            </a:xfrm>
            <a:custGeom>
              <a:avLst/>
              <a:gdLst/>
              <a:ahLst/>
              <a:cxnLst/>
              <a:rect r="r" b="b" t="t" l="l"/>
              <a:pathLst>
                <a:path h="1397000" w="5822696">
                  <a:moveTo>
                    <a:pt x="0" y="186309"/>
                  </a:moveTo>
                  <a:cubicBezTo>
                    <a:pt x="0" y="83439"/>
                    <a:pt x="83439" y="0"/>
                    <a:pt x="186309" y="0"/>
                  </a:cubicBezTo>
                  <a:lnTo>
                    <a:pt x="5636387" y="0"/>
                  </a:lnTo>
                  <a:cubicBezTo>
                    <a:pt x="5739257" y="0"/>
                    <a:pt x="5822696" y="83439"/>
                    <a:pt x="5822696" y="186309"/>
                  </a:cubicBezTo>
                  <a:lnTo>
                    <a:pt x="5822696" y="1210691"/>
                  </a:lnTo>
                  <a:cubicBezTo>
                    <a:pt x="5822696" y="1313561"/>
                    <a:pt x="5739257" y="1397000"/>
                    <a:pt x="5636387" y="1397000"/>
                  </a:cubicBezTo>
                  <a:lnTo>
                    <a:pt x="186309" y="1397000"/>
                  </a:lnTo>
                  <a:cubicBezTo>
                    <a:pt x="83439" y="1397000"/>
                    <a:pt x="0" y="1313561"/>
                    <a:pt x="0" y="1210691"/>
                  </a:cubicBezTo>
                  <a:close/>
                </a:path>
              </a:pathLst>
            </a:custGeom>
            <a:solidFill>
              <a:srgbClr val="C7DAF8"/>
            </a:solidFill>
            <a:ln w="19050" cap="sq">
              <a:solidFill>
                <a:srgbClr val="2563EB"/>
              </a:solidFill>
              <a:prstDash val="solid"/>
              <a:miter/>
            </a:ln>
          </p:spPr>
        </p:sp>
      </p:grpSp>
      <p:grpSp>
        <p:nvGrpSpPr>
          <p:cNvPr name="Group 26" id="26"/>
          <p:cNvGrpSpPr/>
          <p:nvPr/>
        </p:nvGrpSpPr>
        <p:grpSpPr>
          <a:xfrm rot="0">
            <a:off x="13098780" y="3223260"/>
            <a:ext cx="4210812" cy="1028700"/>
            <a:chOff x="0" y="0"/>
            <a:chExt cx="5614416" cy="1371600"/>
          </a:xfrm>
        </p:grpSpPr>
        <p:sp>
          <p:nvSpPr>
            <p:cNvPr name="Freeform 27" id="27"/>
            <p:cNvSpPr/>
            <p:nvPr/>
          </p:nvSpPr>
          <p:spPr>
            <a:xfrm flipH="false" flipV="false" rot="0">
              <a:off x="0" y="0"/>
              <a:ext cx="5614416" cy="1371600"/>
            </a:xfrm>
            <a:custGeom>
              <a:avLst/>
              <a:gdLst/>
              <a:ahLst/>
              <a:cxnLst/>
              <a:rect r="r" b="b" t="t" l="l"/>
              <a:pathLst>
                <a:path h="1371600" w="5614416">
                  <a:moveTo>
                    <a:pt x="0" y="0"/>
                  </a:moveTo>
                  <a:lnTo>
                    <a:pt x="5614416" y="0"/>
                  </a:lnTo>
                  <a:lnTo>
                    <a:pt x="5614416" y="1371600"/>
                  </a:lnTo>
                  <a:lnTo>
                    <a:pt x="0" y="1371600"/>
                  </a:lnTo>
                  <a:close/>
                </a:path>
              </a:pathLst>
            </a:custGeom>
            <a:blipFill>
              <a:blip r:embed="rId3">
                <a:alphaModFix amt="0"/>
              </a:blip>
              <a:stretch>
                <a:fillRect l="0" t="-29758" r="0" b="-29758"/>
              </a:stretch>
            </a:blipFill>
          </p:spPr>
        </p:sp>
        <p:sp>
          <p:nvSpPr>
            <p:cNvPr name="TextBox 28" id="28"/>
            <p:cNvSpPr txBox="true"/>
            <p:nvPr/>
          </p:nvSpPr>
          <p:spPr>
            <a:xfrm>
              <a:off x="0" y="-38100"/>
              <a:ext cx="5614416" cy="1409700"/>
            </a:xfrm>
            <a:prstGeom prst="rect">
              <a:avLst/>
            </a:prstGeom>
          </p:spPr>
          <p:txBody>
            <a:bodyPr anchor="ctr" rtlCol="false" tIns="0" lIns="0" bIns="0" rIns="0"/>
            <a:lstStyle/>
            <a:p>
              <a:pPr algn="ctr">
                <a:lnSpc>
                  <a:spcPts val="2070"/>
                </a:lnSpc>
              </a:pPr>
              <a:r>
                <a:rPr lang="en-US" sz="1725" b="true">
                  <a:solidFill>
                    <a:srgbClr val="0F1F45"/>
                  </a:solidFill>
                  <a:latin typeface="Calibri (MS) Bold"/>
                  <a:ea typeface="Calibri (MS) Bold"/>
                  <a:cs typeface="Calibri (MS) Bold"/>
                  <a:sym typeface="Calibri (MS) Bold"/>
                </a:rPr>
                <a:t>NORMALIZATION</a:t>
              </a:r>
            </a:p>
          </p:txBody>
        </p:sp>
      </p:grpSp>
      <p:grpSp>
        <p:nvGrpSpPr>
          <p:cNvPr name="Group 29" id="29"/>
          <p:cNvGrpSpPr/>
          <p:nvPr/>
        </p:nvGrpSpPr>
        <p:grpSpPr>
          <a:xfrm rot="0">
            <a:off x="15016353" y="4324731"/>
            <a:ext cx="375666" cy="403098"/>
            <a:chOff x="0" y="0"/>
            <a:chExt cx="500888" cy="537464"/>
          </a:xfrm>
        </p:grpSpPr>
        <p:sp>
          <p:nvSpPr>
            <p:cNvPr name="Freeform 30" id="30"/>
            <p:cNvSpPr/>
            <p:nvPr/>
          </p:nvSpPr>
          <p:spPr>
            <a:xfrm flipH="false" flipV="false" rot="0">
              <a:off x="0" y="0"/>
              <a:ext cx="500888" cy="537464"/>
            </a:xfrm>
            <a:custGeom>
              <a:avLst/>
              <a:gdLst/>
              <a:ahLst/>
              <a:cxnLst/>
              <a:rect r="r" b="b" t="t" l="l"/>
              <a:pathLst>
                <a:path h="537464" w="500888">
                  <a:moveTo>
                    <a:pt x="0" y="287020"/>
                  </a:moveTo>
                  <a:lnTo>
                    <a:pt x="125222" y="287020"/>
                  </a:lnTo>
                  <a:lnTo>
                    <a:pt x="125222" y="0"/>
                  </a:lnTo>
                  <a:lnTo>
                    <a:pt x="375666" y="0"/>
                  </a:lnTo>
                  <a:lnTo>
                    <a:pt x="375666" y="287020"/>
                  </a:lnTo>
                  <a:lnTo>
                    <a:pt x="500888" y="287020"/>
                  </a:lnTo>
                  <a:lnTo>
                    <a:pt x="250444" y="537464"/>
                  </a:lnTo>
                  <a:close/>
                </a:path>
              </a:pathLst>
            </a:custGeom>
            <a:solidFill>
              <a:srgbClr val="2563EB"/>
            </a:solidFill>
            <a:ln w="19050" cap="sq">
              <a:solidFill>
                <a:srgbClr val="2563EB"/>
              </a:solidFill>
              <a:prstDash val="solid"/>
              <a:miter/>
            </a:ln>
          </p:spPr>
        </p:sp>
      </p:grpSp>
      <p:grpSp>
        <p:nvGrpSpPr>
          <p:cNvPr name="Group 31" id="31"/>
          <p:cNvGrpSpPr/>
          <p:nvPr/>
        </p:nvGrpSpPr>
        <p:grpSpPr>
          <a:xfrm rot="0">
            <a:off x="13020675" y="4791075"/>
            <a:ext cx="4367022" cy="1047750"/>
            <a:chOff x="0" y="0"/>
            <a:chExt cx="5822696" cy="1397000"/>
          </a:xfrm>
        </p:grpSpPr>
        <p:sp>
          <p:nvSpPr>
            <p:cNvPr name="Freeform 32" id="32"/>
            <p:cNvSpPr/>
            <p:nvPr/>
          </p:nvSpPr>
          <p:spPr>
            <a:xfrm flipH="false" flipV="false" rot="0">
              <a:off x="0" y="0"/>
              <a:ext cx="5822696" cy="1397000"/>
            </a:xfrm>
            <a:custGeom>
              <a:avLst/>
              <a:gdLst/>
              <a:ahLst/>
              <a:cxnLst/>
              <a:rect r="r" b="b" t="t" l="l"/>
              <a:pathLst>
                <a:path h="1397000" w="5822696">
                  <a:moveTo>
                    <a:pt x="0" y="186309"/>
                  </a:moveTo>
                  <a:cubicBezTo>
                    <a:pt x="0" y="83439"/>
                    <a:pt x="83439" y="0"/>
                    <a:pt x="186309" y="0"/>
                  </a:cubicBezTo>
                  <a:lnTo>
                    <a:pt x="5636387" y="0"/>
                  </a:lnTo>
                  <a:cubicBezTo>
                    <a:pt x="5739257" y="0"/>
                    <a:pt x="5822696" y="83439"/>
                    <a:pt x="5822696" y="186309"/>
                  </a:cubicBezTo>
                  <a:lnTo>
                    <a:pt x="5822696" y="1210691"/>
                  </a:lnTo>
                  <a:cubicBezTo>
                    <a:pt x="5822696" y="1313561"/>
                    <a:pt x="5739257" y="1397000"/>
                    <a:pt x="5636387" y="1397000"/>
                  </a:cubicBezTo>
                  <a:lnTo>
                    <a:pt x="186309" y="1397000"/>
                  </a:lnTo>
                  <a:cubicBezTo>
                    <a:pt x="83439" y="1397000"/>
                    <a:pt x="0" y="1313561"/>
                    <a:pt x="0" y="1210691"/>
                  </a:cubicBezTo>
                  <a:close/>
                </a:path>
              </a:pathLst>
            </a:custGeom>
            <a:solidFill>
              <a:srgbClr val="E3ECFB"/>
            </a:solidFill>
            <a:ln w="19050" cap="sq">
              <a:solidFill>
                <a:srgbClr val="2563EB"/>
              </a:solidFill>
              <a:prstDash val="solid"/>
              <a:miter/>
            </a:ln>
          </p:spPr>
        </p:sp>
      </p:grpSp>
      <p:grpSp>
        <p:nvGrpSpPr>
          <p:cNvPr name="Group 33" id="33"/>
          <p:cNvGrpSpPr/>
          <p:nvPr/>
        </p:nvGrpSpPr>
        <p:grpSpPr>
          <a:xfrm rot="0">
            <a:off x="13098780" y="4800600"/>
            <a:ext cx="4210812" cy="1028700"/>
            <a:chOff x="0" y="0"/>
            <a:chExt cx="5614416" cy="1371600"/>
          </a:xfrm>
        </p:grpSpPr>
        <p:sp>
          <p:nvSpPr>
            <p:cNvPr name="Freeform 34" id="34"/>
            <p:cNvSpPr/>
            <p:nvPr/>
          </p:nvSpPr>
          <p:spPr>
            <a:xfrm flipH="false" flipV="false" rot="0">
              <a:off x="0" y="0"/>
              <a:ext cx="5614416" cy="1371600"/>
            </a:xfrm>
            <a:custGeom>
              <a:avLst/>
              <a:gdLst/>
              <a:ahLst/>
              <a:cxnLst/>
              <a:rect r="r" b="b" t="t" l="l"/>
              <a:pathLst>
                <a:path h="1371600" w="5614416">
                  <a:moveTo>
                    <a:pt x="0" y="0"/>
                  </a:moveTo>
                  <a:lnTo>
                    <a:pt x="5614416" y="0"/>
                  </a:lnTo>
                  <a:lnTo>
                    <a:pt x="5614416" y="1371600"/>
                  </a:lnTo>
                  <a:lnTo>
                    <a:pt x="0" y="1371600"/>
                  </a:lnTo>
                  <a:close/>
                </a:path>
              </a:pathLst>
            </a:custGeom>
            <a:blipFill>
              <a:blip r:embed="rId3">
                <a:alphaModFix amt="0"/>
              </a:blip>
              <a:stretch>
                <a:fillRect l="0" t="-29758" r="0" b="-29758"/>
              </a:stretch>
            </a:blipFill>
          </p:spPr>
        </p:sp>
        <p:sp>
          <p:nvSpPr>
            <p:cNvPr name="TextBox 35" id="35"/>
            <p:cNvSpPr txBox="true"/>
            <p:nvPr/>
          </p:nvSpPr>
          <p:spPr>
            <a:xfrm>
              <a:off x="0" y="-38100"/>
              <a:ext cx="5614416" cy="1409700"/>
            </a:xfrm>
            <a:prstGeom prst="rect">
              <a:avLst/>
            </a:prstGeom>
          </p:spPr>
          <p:txBody>
            <a:bodyPr anchor="ctr" rtlCol="false" tIns="0" lIns="0" bIns="0" rIns="0"/>
            <a:lstStyle/>
            <a:p>
              <a:pPr algn="ctr">
                <a:lnSpc>
                  <a:spcPts val="2070"/>
                </a:lnSpc>
              </a:pPr>
              <a:r>
                <a:rPr lang="en-US" sz="1725" b="true">
                  <a:solidFill>
                    <a:srgbClr val="0F1F45"/>
                  </a:solidFill>
                  <a:latin typeface="Calibri (MS) Bold"/>
                  <a:ea typeface="Calibri (MS) Bold"/>
                  <a:cs typeface="Calibri (MS) Bold"/>
                  <a:sym typeface="Calibri (MS) Bold"/>
                </a:rPr>
                <a:t>RELATIONAL DATABASE</a:t>
              </a:r>
            </a:p>
          </p:txBody>
        </p:sp>
      </p:grpSp>
      <p:grpSp>
        <p:nvGrpSpPr>
          <p:cNvPr name="Group 36" id="36"/>
          <p:cNvGrpSpPr/>
          <p:nvPr/>
        </p:nvGrpSpPr>
        <p:grpSpPr>
          <a:xfrm rot="0">
            <a:off x="15016353" y="5902071"/>
            <a:ext cx="375666" cy="403098"/>
            <a:chOff x="0" y="0"/>
            <a:chExt cx="500888" cy="537464"/>
          </a:xfrm>
        </p:grpSpPr>
        <p:sp>
          <p:nvSpPr>
            <p:cNvPr name="Freeform 37" id="37"/>
            <p:cNvSpPr/>
            <p:nvPr/>
          </p:nvSpPr>
          <p:spPr>
            <a:xfrm flipH="false" flipV="false" rot="0">
              <a:off x="0" y="0"/>
              <a:ext cx="500888" cy="537464"/>
            </a:xfrm>
            <a:custGeom>
              <a:avLst/>
              <a:gdLst/>
              <a:ahLst/>
              <a:cxnLst/>
              <a:rect r="r" b="b" t="t" l="l"/>
              <a:pathLst>
                <a:path h="537464" w="500888">
                  <a:moveTo>
                    <a:pt x="0" y="287020"/>
                  </a:moveTo>
                  <a:lnTo>
                    <a:pt x="125222" y="287020"/>
                  </a:lnTo>
                  <a:lnTo>
                    <a:pt x="125222" y="0"/>
                  </a:lnTo>
                  <a:lnTo>
                    <a:pt x="375666" y="0"/>
                  </a:lnTo>
                  <a:lnTo>
                    <a:pt x="375666" y="287020"/>
                  </a:lnTo>
                  <a:lnTo>
                    <a:pt x="500888" y="287020"/>
                  </a:lnTo>
                  <a:lnTo>
                    <a:pt x="250444" y="537464"/>
                  </a:lnTo>
                  <a:close/>
                </a:path>
              </a:pathLst>
            </a:custGeom>
            <a:solidFill>
              <a:srgbClr val="2563EB"/>
            </a:solidFill>
            <a:ln w="19050" cap="sq">
              <a:solidFill>
                <a:srgbClr val="2563EB"/>
              </a:solidFill>
              <a:prstDash val="solid"/>
              <a:miter/>
            </a:ln>
          </p:spPr>
        </p:sp>
      </p:grpSp>
      <p:grpSp>
        <p:nvGrpSpPr>
          <p:cNvPr name="Group 38" id="38"/>
          <p:cNvGrpSpPr/>
          <p:nvPr/>
        </p:nvGrpSpPr>
        <p:grpSpPr>
          <a:xfrm rot="0">
            <a:off x="13020675" y="6368415"/>
            <a:ext cx="4367022" cy="1047750"/>
            <a:chOff x="0" y="0"/>
            <a:chExt cx="5822696" cy="1397000"/>
          </a:xfrm>
        </p:grpSpPr>
        <p:sp>
          <p:nvSpPr>
            <p:cNvPr name="Freeform 39" id="39"/>
            <p:cNvSpPr/>
            <p:nvPr/>
          </p:nvSpPr>
          <p:spPr>
            <a:xfrm flipH="false" flipV="false" rot="0">
              <a:off x="0" y="0"/>
              <a:ext cx="5822696" cy="1397000"/>
            </a:xfrm>
            <a:custGeom>
              <a:avLst/>
              <a:gdLst/>
              <a:ahLst/>
              <a:cxnLst/>
              <a:rect r="r" b="b" t="t" l="l"/>
              <a:pathLst>
                <a:path h="1397000" w="5822696">
                  <a:moveTo>
                    <a:pt x="0" y="186309"/>
                  </a:moveTo>
                  <a:cubicBezTo>
                    <a:pt x="0" y="83439"/>
                    <a:pt x="83439" y="0"/>
                    <a:pt x="186309" y="0"/>
                  </a:cubicBezTo>
                  <a:lnTo>
                    <a:pt x="5636387" y="0"/>
                  </a:lnTo>
                  <a:cubicBezTo>
                    <a:pt x="5739257" y="0"/>
                    <a:pt x="5822696" y="83439"/>
                    <a:pt x="5822696" y="186309"/>
                  </a:cubicBezTo>
                  <a:lnTo>
                    <a:pt x="5822696" y="1210691"/>
                  </a:lnTo>
                  <a:cubicBezTo>
                    <a:pt x="5822696" y="1313561"/>
                    <a:pt x="5739257" y="1397000"/>
                    <a:pt x="5636387" y="1397000"/>
                  </a:cubicBezTo>
                  <a:lnTo>
                    <a:pt x="186309" y="1397000"/>
                  </a:lnTo>
                  <a:cubicBezTo>
                    <a:pt x="83439" y="1397000"/>
                    <a:pt x="0" y="1313561"/>
                    <a:pt x="0" y="1210691"/>
                  </a:cubicBezTo>
                  <a:close/>
                </a:path>
              </a:pathLst>
            </a:custGeom>
            <a:solidFill>
              <a:srgbClr val="C7DAF8"/>
            </a:solidFill>
            <a:ln w="19050" cap="sq">
              <a:solidFill>
                <a:srgbClr val="2563EB"/>
              </a:solidFill>
              <a:prstDash val="solid"/>
              <a:miter/>
            </a:ln>
          </p:spPr>
        </p:sp>
      </p:grpSp>
      <p:grpSp>
        <p:nvGrpSpPr>
          <p:cNvPr name="Group 40" id="40"/>
          <p:cNvGrpSpPr/>
          <p:nvPr/>
        </p:nvGrpSpPr>
        <p:grpSpPr>
          <a:xfrm rot="0">
            <a:off x="13098780" y="6377940"/>
            <a:ext cx="4210812" cy="1028700"/>
            <a:chOff x="0" y="0"/>
            <a:chExt cx="5614416" cy="1371600"/>
          </a:xfrm>
        </p:grpSpPr>
        <p:sp>
          <p:nvSpPr>
            <p:cNvPr name="Freeform 41" id="41"/>
            <p:cNvSpPr/>
            <p:nvPr/>
          </p:nvSpPr>
          <p:spPr>
            <a:xfrm flipH="false" flipV="false" rot="0">
              <a:off x="0" y="0"/>
              <a:ext cx="5614416" cy="1371600"/>
            </a:xfrm>
            <a:custGeom>
              <a:avLst/>
              <a:gdLst/>
              <a:ahLst/>
              <a:cxnLst/>
              <a:rect r="r" b="b" t="t" l="l"/>
              <a:pathLst>
                <a:path h="1371600" w="5614416">
                  <a:moveTo>
                    <a:pt x="0" y="0"/>
                  </a:moveTo>
                  <a:lnTo>
                    <a:pt x="5614416" y="0"/>
                  </a:lnTo>
                  <a:lnTo>
                    <a:pt x="5614416" y="1371600"/>
                  </a:lnTo>
                  <a:lnTo>
                    <a:pt x="0" y="1371600"/>
                  </a:lnTo>
                  <a:close/>
                </a:path>
              </a:pathLst>
            </a:custGeom>
            <a:blipFill>
              <a:blip r:embed="rId3">
                <a:alphaModFix amt="0"/>
              </a:blip>
              <a:stretch>
                <a:fillRect l="0" t="-29758" r="0" b="-29758"/>
              </a:stretch>
            </a:blipFill>
          </p:spPr>
        </p:sp>
        <p:sp>
          <p:nvSpPr>
            <p:cNvPr name="TextBox 42" id="42"/>
            <p:cNvSpPr txBox="true"/>
            <p:nvPr/>
          </p:nvSpPr>
          <p:spPr>
            <a:xfrm>
              <a:off x="0" y="-38100"/>
              <a:ext cx="5614416" cy="1409700"/>
            </a:xfrm>
            <a:prstGeom prst="rect">
              <a:avLst/>
            </a:prstGeom>
          </p:spPr>
          <p:txBody>
            <a:bodyPr anchor="ctr" rtlCol="false" tIns="0" lIns="0" bIns="0" rIns="0"/>
            <a:lstStyle/>
            <a:p>
              <a:pPr algn="ctr">
                <a:lnSpc>
                  <a:spcPts val="2070"/>
                </a:lnSpc>
              </a:pPr>
              <a:r>
                <a:rPr lang="en-US" sz="1725" b="true">
                  <a:solidFill>
                    <a:srgbClr val="0F1F45"/>
                  </a:solidFill>
                  <a:latin typeface="Calibri (MS) Bold"/>
                  <a:ea typeface="Calibri (MS) Bold"/>
                  <a:cs typeface="Calibri (MS) Bold"/>
                  <a:sym typeface="Calibri (MS) Bold"/>
                </a:rPr>
                <a:t>SQL QUERIES</a:t>
              </a:r>
            </a:p>
          </p:txBody>
        </p:sp>
      </p:grpSp>
      <p:grpSp>
        <p:nvGrpSpPr>
          <p:cNvPr name="Group 43" id="43"/>
          <p:cNvGrpSpPr/>
          <p:nvPr/>
        </p:nvGrpSpPr>
        <p:grpSpPr>
          <a:xfrm rot="0">
            <a:off x="15016353" y="7479411"/>
            <a:ext cx="375666" cy="403098"/>
            <a:chOff x="0" y="0"/>
            <a:chExt cx="500888" cy="537464"/>
          </a:xfrm>
        </p:grpSpPr>
        <p:sp>
          <p:nvSpPr>
            <p:cNvPr name="Freeform 44" id="44"/>
            <p:cNvSpPr/>
            <p:nvPr/>
          </p:nvSpPr>
          <p:spPr>
            <a:xfrm flipH="false" flipV="false" rot="0">
              <a:off x="0" y="0"/>
              <a:ext cx="500888" cy="537464"/>
            </a:xfrm>
            <a:custGeom>
              <a:avLst/>
              <a:gdLst/>
              <a:ahLst/>
              <a:cxnLst/>
              <a:rect r="r" b="b" t="t" l="l"/>
              <a:pathLst>
                <a:path h="537464" w="500888">
                  <a:moveTo>
                    <a:pt x="0" y="287020"/>
                  </a:moveTo>
                  <a:lnTo>
                    <a:pt x="125222" y="287020"/>
                  </a:lnTo>
                  <a:lnTo>
                    <a:pt x="125222" y="0"/>
                  </a:lnTo>
                  <a:lnTo>
                    <a:pt x="375666" y="0"/>
                  </a:lnTo>
                  <a:lnTo>
                    <a:pt x="375666" y="287020"/>
                  </a:lnTo>
                  <a:lnTo>
                    <a:pt x="500888" y="287020"/>
                  </a:lnTo>
                  <a:lnTo>
                    <a:pt x="250444" y="537464"/>
                  </a:lnTo>
                  <a:close/>
                </a:path>
              </a:pathLst>
            </a:custGeom>
            <a:solidFill>
              <a:srgbClr val="2563EB"/>
            </a:solidFill>
            <a:ln w="19050" cap="sq">
              <a:solidFill>
                <a:srgbClr val="2563EB"/>
              </a:solidFill>
              <a:prstDash val="solid"/>
              <a:miter/>
            </a:ln>
          </p:spPr>
        </p:sp>
      </p:grpSp>
      <p:grpSp>
        <p:nvGrpSpPr>
          <p:cNvPr name="Group 45" id="45"/>
          <p:cNvGrpSpPr/>
          <p:nvPr/>
        </p:nvGrpSpPr>
        <p:grpSpPr>
          <a:xfrm rot="0">
            <a:off x="13020675" y="7945755"/>
            <a:ext cx="4367022" cy="1047750"/>
            <a:chOff x="0" y="0"/>
            <a:chExt cx="5822696" cy="1397000"/>
          </a:xfrm>
        </p:grpSpPr>
        <p:sp>
          <p:nvSpPr>
            <p:cNvPr name="Freeform 46" id="46"/>
            <p:cNvSpPr/>
            <p:nvPr/>
          </p:nvSpPr>
          <p:spPr>
            <a:xfrm flipH="false" flipV="false" rot="0">
              <a:off x="0" y="0"/>
              <a:ext cx="5822696" cy="1397000"/>
            </a:xfrm>
            <a:custGeom>
              <a:avLst/>
              <a:gdLst/>
              <a:ahLst/>
              <a:cxnLst/>
              <a:rect r="r" b="b" t="t" l="l"/>
              <a:pathLst>
                <a:path h="1397000" w="5822696">
                  <a:moveTo>
                    <a:pt x="0" y="186309"/>
                  </a:moveTo>
                  <a:cubicBezTo>
                    <a:pt x="0" y="83439"/>
                    <a:pt x="83439" y="0"/>
                    <a:pt x="186309" y="0"/>
                  </a:cubicBezTo>
                  <a:lnTo>
                    <a:pt x="5636387" y="0"/>
                  </a:lnTo>
                  <a:cubicBezTo>
                    <a:pt x="5739257" y="0"/>
                    <a:pt x="5822696" y="83439"/>
                    <a:pt x="5822696" y="186309"/>
                  </a:cubicBezTo>
                  <a:lnTo>
                    <a:pt x="5822696" y="1210691"/>
                  </a:lnTo>
                  <a:cubicBezTo>
                    <a:pt x="5822696" y="1313561"/>
                    <a:pt x="5739257" y="1397000"/>
                    <a:pt x="5636387" y="1397000"/>
                  </a:cubicBezTo>
                  <a:lnTo>
                    <a:pt x="186309" y="1397000"/>
                  </a:lnTo>
                  <a:cubicBezTo>
                    <a:pt x="83439" y="1397000"/>
                    <a:pt x="0" y="1313561"/>
                    <a:pt x="0" y="1210691"/>
                  </a:cubicBezTo>
                  <a:close/>
                </a:path>
              </a:pathLst>
            </a:custGeom>
            <a:solidFill>
              <a:srgbClr val="2563EB"/>
            </a:solidFill>
            <a:ln w="19050" cap="sq">
              <a:solidFill>
                <a:srgbClr val="1D4ED8"/>
              </a:solidFill>
              <a:prstDash val="solid"/>
              <a:miter/>
            </a:ln>
          </p:spPr>
        </p:sp>
      </p:grpSp>
      <p:grpSp>
        <p:nvGrpSpPr>
          <p:cNvPr name="Group 47" id="47"/>
          <p:cNvGrpSpPr/>
          <p:nvPr/>
        </p:nvGrpSpPr>
        <p:grpSpPr>
          <a:xfrm rot="0">
            <a:off x="13098780" y="7955280"/>
            <a:ext cx="4210812" cy="1028700"/>
            <a:chOff x="0" y="0"/>
            <a:chExt cx="5614416" cy="1371600"/>
          </a:xfrm>
        </p:grpSpPr>
        <p:sp>
          <p:nvSpPr>
            <p:cNvPr name="Freeform 48" id="48"/>
            <p:cNvSpPr/>
            <p:nvPr/>
          </p:nvSpPr>
          <p:spPr>
            <a:xfrm flipH="false" flipV="false" rot="0">
              <a:off x="0" y="0"/>
              <a:ext cx="5614416" cy="1371600"/>
            </a:xfrm>
            <a:custGeom>
              <a:avLst/>
              <a:gdLst/>
              <a:ahLst/>
              <a:cxnLst/>
              <a:rect r="r" b="b" t="t" l="l"/>
              <a:pathLst>
                <a:path h="1371600" w="5614416">
                  <a:moveTo>
                    <a:pt x="0" y="0"/>
                  </a:moveTo>
                  <a:lnTo>
                    <a:pt x="5614416" y="0"/>
                  </a:lnTo>
                  <a:lnTo>
                    <a:pt x="5614416" y="1371600"/>
                  </a:lnTo>
                  <a:lnTo>
                    <a:pt x="0" y="1371600"/>
                  </a:lnTo>
                  <a:close/>
                </a:path>
              </a:pathLst>
            </a:custGeom>
            <a:blipFill>
              <a:blip r:embed="rId3">
                <a:alphaModFix amt="0"/>
              </a:blip>
              <a:stretch>
                <a:fillRect l="0" t="-29758" r="0" b="-29758"/>
              </a:stretch>
            </a:blipFill>
          </p:spPr>
        </p:sp>
        <p:sp>
          <p:nvSpPr>
            <p:cNvPr name="TextBox 49" id="49"/>
            <p:cNvSpPr txBox="true"/>
            <p:nvPr/>
          </p:nvSpPr>
          <p:spPr>
            <a:xfrm>
              <a:off x="0" y="-38100"/>
              <a:ext cx="5614416" cy="1409700"/>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ANALYTICS + OPTIMIZATION</a:t>
              </a:r>
            </a:p>
          </p:txBody>
        </p:sp>
      </p:grpSp>
      <p:sp>
        <p:nvSpPr>
          <p:cNvPr name="Freeform 50" id="50"/>
          <p:cNvSpPr/>
          <p:nvPr/>
        </p:nvSpPr>
        <p:spPr>
          <a:xfrm flipH="false" flipV="false" rot="0">
            <a:off x="16247050" y="152298"/>
            <a:ext cx="1933060" cy="1006418"/>
          </a:xfrm>
          <a:custGeom>
            <a:avLst/>
            <a:gdLst/>
            <a:ahLst/>
            <a:cxnLst/>
            <a:rect r="r" b="b" t="t" l="l"/>
            <a:pathLst>
              <a:path h="1006418" w="1933060">
                <a:moveTo>
                  <a:pt x="0" y="0"/>
                </a:moveTo>
                <a:lnTo>
                  <a:pt x="1933060" y="0"/>
                </a:lnTo>
                <a:lnTo>
                  <a:pt x="1933060" y="1006418"/>
                </a:lnTo>
                <a:lnTo>
                  <a:pt x="0" y="1006418"/>
                </a:lnTo>
                <a:lnTo>
                  <a:pt x="0" y="0"/>
                </a:lnTo>
                <a:close/>
              </a:path>
            </a:pathLst>
          </a:custGeom>
          <a:blipFill>
            <a:blip r:embed="rId4"/>
            <a:stretch>
              <a:fillRect l="0" t="0" r="0" b="0"/>
            </a:stretch>
          </a:blipFill>
        </p:spPr>
      </p:sp>
      <p:sp>
        <p:nvSpPr>
          <p:cNvPr name="Freeform 51" id="51"/>
          <p:cNvSpPr/>
          <p:nvPr/>
        </p:nvSpPr>
        <p:spPr>
          <a:xfrm flipH="false" flipV="false" rot="0">
            <a:off x="0" y="9407477"/>
            <a:ext cx="13461945" cy="846145"/>
          </a:xfrm>
          <a:custGeom>
            <a:avLst/>
            <a:gdLst/>
            <a:ahLst/>
            <a:cxnLst/>
            <a:rect r="r" b="b" t="t" l="l"/>
            <a:pathLst>
              <a:path h="846145" w="13461945">
                <a:moveTo>
                  <a:pt x="0" y="0"/>
                </a:moveTo>
                <a:lnTo>
                  <a:pt x="13461945" y="0"/>
                </a:lnTo>
                <a:lnTo>
                  <a:pt x="13461945" y="846145"/>
                </a:lnTo>
                <a:lnTo>
                  <a:pt x="0" y="846145"/>
                </a:lnTo>
                <a:lnTo>
                  <a:pt x="0" y="0"/>
                </a:lnTo>
                <a:close/>
              </a:path>
            </a:pathLst>
          </a:custGeom>
          <a:blipFill>
            <a:blip r:embed="rId5"/>
            <a:stretch>
              <a:fillRect l="0" t="-22657" r="-4334" b="-20699"/>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8972" y="411480"/>
            <a:ext cx="16459200" cy="960120"/>
            <a:chOff x="0" y="0"/>
            <a:chExt cx="21945600" cy="1280160"/>
          </a:xfrm>
        </p:grpSpPr>
        <p:sp>
          <p:nvSpPr>
            <p:cNvPr name="Freeform 3" id="3"/>
            <p:cNvSpPr/>
            <p:nvPr/>
          </p:nvSpPr>
          <p:spPr>
            <a:xfrm flipH="false" flipV="false" rot="0">
              <a:off x="0" y="0"/>
              <a:ext cx="21945600" cy="1280160"/>
            </a:xfrm>
            <a:custGeom>
              <a:avLst/>
              <a:gdLst/>
              <a:ahLst/>
              <a:cxnLst/>
              <a:rect r="r" b="b" t="t" l="l"/>
              <a:pathLst>
                <a:path h="1280160" w="21945600">
                  <a:moveTo>
                    <a:pt x="0" y="0"/>
                  </a:moveTo>
                  <a:lnTo>
                    <a:pt x="21945600" y="0"/>
                  </a:lnTo>
                  <a:lnTo>
                    <a:pt x="21945600" y="1280160"/>
                  </a:lnTo>
                  <a:lnTo>
                    <a:pt x="0" y="1280160"/>
                  </a:lnTo>
                  <a:close/>
                </a:path>
              </a:pathLst>
            </a:custGeom>
            <a:blipFill>
              <a:blip r:embed="rId3">
                <a:alphaModFix amt="0"/>
              </a:blip>
              <a:stretch>
                <a:fillRect l="0" t="-284029" r="0" b="-284029"/>
              </a:stretch>
            </a:blipFill>
          </p:spPr>
        </p:sp>
        <p:sp>
          <p:nvSpPr>
            <p:cNvPr name="TextBox 4" id="4"/>
            <p:cNvSpPr txBox="true"/>
            <p:nvPr/>
          </p:nvSpPr>
          <p:spPr>
            <a:xfrm>
              <a:off x="0" y="-66675"/>
              <a:ext cx="21945600" cy="1346835"/>
            </a:xfrm>
            <a:prstGeom prst="rect">
              <a:avLst/>
            </a:prstGeom>
          </p:spPr>
          <p:txBody>
            <a:bodyPr anchor="ctr" rtlCol="false" tIns="0" lIns="0" bIns="0" rIns="0"/>
            <a:lstStyle/>
            <a:p>
              <a:pPr algn="l">
                <a:lnSpc>
                  <a:spcPts val="4320"/>
                </a:lnSpc>
              </a:pPr>
              <a:r>
                <a:rPr lang="en-US" sz="3600" b="true">
                  <a:solidFill>
                    <a:srgbClr val="2563EB"/>
                  </a:solidFill>
                  <a:latin typeface="Calibri (MS) Bold"/>
                  <a:ea typeface="Calibri (MS) Bold"/>
                  <a:cs typeface="Calibri (MS) Bold"/>
                  <a:sym typeface="Calibri (MS) Bold"/>
                </a:rPr>
                <a:t>02  </a:t>
              </a:r>
              <a:r>
                <a:rPr lang="en-US" sz="3600" b="true">
                  <a:solidFill>
                    <a:srgbClr val="0F1F45"/>
                  </a:solidFill>
                  <a:latin typeface="Calibri (MS) Bold"/>
                  <a:ea typeface="Calibri (MS) Bold"/>
                  <a:cs typeface="Calibri (MS) Bold"/>
                  <a:sym typeface="Calibri (MS) Bold"/>
                </a:rPr>
                <a:t>Dataset Engineering &amp; Criminal Justice Workflow</a:t>
              </a:r>
            </a:p>
          </p:txBody>
        </p:sp>
      </p:grpSp>
      <p:sp>
        <p:nvSpPr>
          <p:cNvPr name="TextBox 5" id="5"/>
          <p:cNvSpPr txBox="true"/>
          <p:nvPr/>
        </p:nvSpPr>
        <p:spPr>
          <a:xfrm rot="0">
            <a:off x="918972" y="9476613"/>
            <a:ext cx="10972800" cy="440055"/>
          </a:xfrm>
          <a:prstGeom prst="rect">
            <a:avLst/>
          </a:prstGeom>
        </p:spPr>
        <p:txBody>
          <a:bodyPr anchor="t" rtlCol="false" tIns="0" lIns="0" bIns="0" rIns="0">
            <a:spAutoFit/>
          </a:bodyPr>
          <a:lstStyle/>
          <a:p>
            <a:pPr algn="l">
              <a:lnSpc>
                <a:spcPts val="1620"/>
              </a:lnSpc>
            </a:pPr>
            <a:r>
              <a:rPr lang="en-US" sz="1350">
                <a:solidFill>
                  <a:srgbClr val="5B6B8C"/>
                </a:solidFill>
                <a:latin typeface="Calibri (MS)"/>
                <a:ea typeface="Calibri (MS)"/>
                <a:cs typeface="Calibri (MS)"/>
                <a:sym typeface="Calibri (MS)"/>
              </a:rPr>
              <a:t>Gaurav Singh | P15 | CRPSMS | MySQL 8.0</a:t>
            </a:r>
          </a:p>
        </p:txBody>
      </p:sp>
      <p:sp>
        <p:nvSpPr>
          <p:cNvPr name="TextBox 6" id="6"/>
          <p:cNvSpPr txBox="true"/>
          <p:nvPr/>
        </p:nvSpPr>
        <p:spPr>
          <a:xfrm rot="0">
            <a:off x="15553944" y="9476613"/>
            <a:ext cx="1824228" cy="440055"/>
          </a:xfrm>
          <a:prstGeom prst="rect">
            <a:avLst/>
          </a:prstGeom>
        </p:spPr>
        <p:txBody>
          <a:bodyPr anchor="t" rtlCol="false" tIns="0" lIns="0" bIns="0" rIns="0">
            <a:spAutoFit/>
          </a:bodyPr>
          <a:lstStyle/>
          <a:p>
            <a:pPr algn="r">
              <a:lnSpc>
                <a:spcPts val="1620"/>
              </a:lnSpc>
            </a:pPr>
            <a:r>
              <a:rPr lang="en-US" sz="1350">
                <a:solidFill>
                  <a:srgbClr val="5B6B8C"/>
                </a:solidFill>
                <a:latin typeface="Calibri (MS)"/>
                <a:ea typeface="Calibri (MS)"/>
                <a:cs typeface="Calibri (MS)"/>
                <a:sym typeface="Calibri (MS)"/>
              </a:rPr>
              <a:t>2 / 8</a:t>
            </a:r>
          </a:p>
        </p:txBody>
      </p:sp>
      <p:grpSp>
        <p:nvGrpSpPr>
          <p:cNvPr name="Group 7" id="7"/>
          <p:cNvGrpSpPr/>
          <p:nvPr/>
        </p:nvGrpSpPr>
        <p:grpSpPr>
          <a:xfrm rot="0">
            <a:off x="911828" y="1775936"/>
            <a:ext cx="8106728" cy="3580447"/>
            <a:chOff x="0" y="0"/>
            <a:chExt cx="10808970" cy="4773930"/>
          </a:xfrm>
        </p:grpSpPr>
        <p:sp>
          <p:nvSpPr>
            <p:cNvPr name="Freeform 8" id="8"/>
            <p:cNvSpPr/>
            <p:nvPr/>
          </p:nvSpPr>
          <p:spPr>
            <a:xfrm flipH="false" flipV="false" rot="0">
              <a:off x="0" y="0"/>
              <a:ext cx="10808970" cy="4773930"/>
            </a:xfrm>
            <a:custGeom>
              <a:avLst/>
              <a:gdLst/>
              <a:ahLst/>
              <a:cxnLst/>
              <a:rect r="r" b="b" t="t" l="l"/>
              <a:pathLst>
                <a:path h="4773930" w="10808970">
                  <a:moveTo>
                    <a:pt x="0" y="0"/>
                  </a:moveTo>
                  <a:lnTo>
                    <a:pt x="10808970" y="0"/>
                  </a:lnTo>
                  <a:lnTo>
                    <a:pt x="10808970" y="4773930"/>
                  </a:lnTo>
                  <a:lnTo>
                    <a:pt x="0" y="4773930"/>
                  </a:lnTo>
                  <a:close/>
                </a:path>
              </a:pathLst>
            </a:custGeom>
            <a:solidFill>
              <a:srgbClr val="F0F5FF"/>
            </a:solidFill>
            <a:ln w="14288" cap="sq">
              <a:solidFill>
                <a:srgbClr val="C9D9F2"/>
              </a:solidFill>
              <a:prstDash val="solid"/>
              <a:miter/>
            </a:ln>
          </p:spPr>
        </p:sp>
      </p:grpSp>
      <p:sp>
        <p:nvSpPr>
          <p:cNvPr name="TextBox 9" id="9"/>
          <p:cNvSpPr txBox="true"/>
          <p:nvPr/>
        </p:nvSpPr>
        <p:spPr>
          <a:xfrm rot="0">
            <a:off x="1193292" y="1909572"/>
            <a:ext cx="754380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Dataset</a:t>
            </a:r>
          </a:p>
        </p:txBody>
      </p:sp>
      <p:sp>
        <p:nvSpPr>
          <p:cNvPr name="TextBox 10" id="10"/>
          <p:cNvSpPr txBox="true"/>
          <p:nvPr/>
        </p:nvSpPr>
        <p:spPr>
          <a:xfrm rot="0">
            <a:off x="1234440" y="2430780"/>
            <a:ext cx="7543800" cy="2781300"/>
          </a:xfrm>
          <a:prstGeom prst="rect">
            <a:avLst/>
          </a:prstGeom>
        </p:spPr>
        <p:txBody>
          <a:bodyPr anchor="t" rtlCol="false" tIns="0" lIns="0" bIns="0" rIns="0">
            <a:spAutoFit/>
          </a:bodyPr>
          <a:lstStyle/>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Source: Los Angeles Open Data Portal</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Dataset: LAPD Crime Data</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Period: 2020–2024</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Coverage: LAPD geographical divisions</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Raw structure: flat / denormalized records</a:t>
            </a:r>
          </a:p>
        </p:txBody>
      </p:sp>
      <p:grpSp>
        <p:nvGrpSpPr>
          <p:cNvPr name="Group 11" id="11"/>
          <p:cNvGrpSpPr/>
          <p:nvPr/>
        </p:nvGrpSpPr>
        <p:grpSpPr>
          <a:xfrm rot="0">
            <a:off x="9278588" y="1775936"/>
            <a:ext cx="8106728" cy="3580447"/>
            <a:chOff x="0" y="0"/>
            <a:chExt cx="10808970" cy="4773930"/>
          </a:xfrm>
        </p:grpSpPr>
        <p:sp>
          <p:nvSpPr>
            <p:cNvPr name="Freeform 12" id="12"/>
            <p:cNvSpPr/>
            <p:nvPr/>
          </p:nvSpPr>
          <p:spPr>
            <a:xfrm flipH="false" flipV="false" rot="0">
              <a:off x="0" y="0"/>
              <a:ext cx="10808970" cy="4773930"/>
            </a:xfrm>
            <a:custGeom>
              <a:avLst/>
              <a:gdLst/>
              <a:ahLst/>
              <a:cxnLst/>
              <a:rect r="r" b="b" t="t" l="l"/>
              <a:pathLst>
                <a:path h="4773930" w="10808970">
                  <a:moveTo>
                    <a:pt x="0" y="0"/>
                  </a:moveTo>
                  <a:lnTo>
                    <a:pt x="10808970" y="0"/>
                  </a:lnTo>
                  <a:lnTo>
                    <a:pt x="10808970" y="4773930"/>
                  </a:lnTo>
                  <a:lnTo>
                    <a:pt x="0" y="4773930"/>
                  </a:lnTo>
                  <a:close/>
                </a:path>
              </a:pathLst>
            </a:custGeom>
            <a:solidFill>
              <a:srgbClr val="F0F5FF"/>
            </a:solidFill>
            <a:ln w="14288" cap="sq">
              <a:solidFill>
                <a:srgbClr val="C9D9F2"/>
              </a:solidFill>
              <a:prstDash val="solid"/>
              <a:miter/>
            </a:ln>
          </p:spPr>
        </p:sp>
      </p:grpSp>
      <p:sp>
        <p:nvSpPr>
          <p:cNvPr name="TextBox 13" id="13"/>
          <p:cNvSpPr txBox="true"/>
          <p:nvPr/>
        </p:nvSpPr>
        <p:spPr>
          <a:xfrm rot="0">
            <a:off x="9560052" y="1909572"/>
            <a:ext cx="754380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Raw-Data Problems</a:t>
            </a:r>
          </a:p>
        </p:txBody>
      </p:sp>
      <p:sp>
        <p:nvSpPr>
          <p:cNvPr name="TextBox 14" id="14"/>
          <p:cNvSpPr txBox="true"/>
          <p:nvPr/>
        </p:nvSpPr>
        <p:spPr>
          <a:xfrm rot="0">
            <a:off x="9601200" y="2430780"/>
            <a:ext cx="7543800" cy="2781300"/>
          </a:xfrm>
          <a:prstGeom prst="rect">
            <a:avLst/>
          </a:prstGeom>
        </p:spPr>
        <p:txBody>
          <a:bodyPr anchor="t" rtlCol="false" tIns="0" lIns="0" bIns="0" rIns="0">
            <a:spAutoFit/>
          </a:bodyPr>
          <a:lstStyle/>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Repeating crime-code columns</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Repeated master-data descriptions</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Transitive dependencies</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Limited investigation / judicial relationships</a:t>
            </a:r>
          </a:p>
        </p:txBody>
      </p:sp>
      <p:sp>
        <p:nvSpPr>
          <p:cNvPr name="TextBox 15" id="15"/>
          <p:cNvSpPr txBox="true"/>
          <p:nvPr/>
        </p:nvSpPr>
        <p:spPr>
          <a:xfrm rot="0">
            <a:off x="918972" y="5732145"/>
            <a:ext cx="12344400" cy="440055"/>
          </a:xfrm>
          <a:prstGeom prst="rect">
            <a:avLst/>
          </a:prstGeom>
        </p:spPr>
        <p:txBody>
          <a:bodyPr anchor="t" rtlCol="false" tIns="0" lIns="0" bIns="0" rIns="0">
            <a:spAutoFit/>
          </a:bodyPr>
          <a:lstStyle/>
          <a:p>
            <a:pPr algn="l">
              <a:lnSpc>
                <a:spcPts val="1980"/>
              </a:lnSpc>
            </a:pPr>
            <a:r>
              <a:rPr lang="en-US" b="true" sz="1650" spc="225">
                <a:solidFill>
                  <a:srgbClr val="2563EB"/>
                </a:solidFill>
                <a:latin typeface="Calibri (MS) Bold"/>
                <a:ea typeface="Calibri (MS) Bold"/>
                <a:cs typeface="Calibri (MS) Bold"/>
                <a:sym typeface="Calibri (MS) Bold"/>
              </a:rPr>
              <a:t>CRIMINAL JUSTICE WORKFLOW (CONCEPTUAL)</a:t>
            </a:r>
          </a:p>
        </p:txBody>
      </p:sp>
      <p:grpSp>
        <p:nvGrpSpPr>
          <p:cNvPr name="Group 16" id="16"/>
          <p:cNvGrpSpPr/>
          <p:nvPr/>
        </p:nvGrpSpPr>
        <p:grpSpPr>
          <a:xfrm rot="0">
            <a:off x="909447" y="6299835"/>
            <a:ext cx="1457706" cy="1390650"/>
            <a:chOff x="0" y="0"/>
            <a:chExt cx="1943608" cy="1854200"/>
          </a:xfrm>
        </p:grpSpPr>
        <p:sp>
          <p:nvSpPr>
            <p:cNvPr name="Freeform 17" id="17"/>
            <p:cNvSpPr/>
            <p:nvPr/>
          </p:nvSpPr>
          <p:spPr>
            <a:xfrm flipH="false" flipV="false" rot="0">
              <a:off x="0" y="0"/>
              <a:ext cx="1943608" cy="1854200"/>
            </a:xfrm>
            <a:custGeom>
              <a:avLst/>
              <a:gdLst/>
              <a:ahLst/>
              <a:cxnLst/>
              <a:rect r="r" b="b" t="t" l="l"/>
              <a:pathLst>
                <a:path h="1854200" w="1943608">
                  <a:moveTo>
                    <a:pt x="0" y="185420"/>
                  </a:moveTo>
                  <a:cubicBezTo>
                    <a:pt x="0" y="83058"/>
                    <a:pt x="83058" y="0"/>
                    <a:pt x="185420" y="0"/>
                  </a:cubicBezTo>
                  <a:lnTo>
                    <a:pt x="1758188" y="0"/>
                  </a:lnTo>
                  <a:cubicBezTo>
                    <a:pt x="1860550" y="0"/>
                    <a:pt x="1943608" y="83058"/>
                    <a:pt x="1943608" y="185420"/>
                  </a:cubicBezTo>
                  <a:lnTo>
                    <a:pt x="1943608" y="1668780"/>
                  </a:lnTo>
                  <a:cubicBezTo>
                    <a:pt x="1943608" y="1771142"/>
                    <a:pt x="1860550" y="1854200"/>
                    <a:pt x="1758188" y="1854200"/>
                  </a:cubicBezTo>
                  <a:lnTo>
                    <a:pt x="185420" y="1854200"/>
                  </a:lnTo>
                  <a:cubicBezTo>
                    <a:pt x="83058" y="1854200"/>
                    <a:pt x="0" y="1771142"/>
                    <a:pt x="0" y="1668780"/>
                  </a:cubicBezTo>
                  <a:close/>
                </a:path>
              </a:pathLst>
            </a:custGeom>
            <a:solidFill>
              <a:srgbClr val="E3ECFB"/>
            </a:solidFill>
            <a:ln w="19050" cap="sq">
              <a:solidFill>
                <a:srgbClr val="2563EB"/>
              </a:solidFill>
              <a:prstDash val="solid"/>
              <a:miter/>
            </a:ln>
          </p:spPr>
        </p:sp>
      </p:grpSp>
      <p:grpSp>
        <p:nvGrpSpPr>
          <p:cNvPr name="Group 18" id="18"/>
          <p:cNvGrpSpPr/>
          <p:nvPr/>
        </p:nvGrpSpPr>
        <p:grpSpPr>
          <a:xfrm rot="0">
            <a:off x="987552" y="6309360"/>
            <a:ext cx="1301496" cy="1371600"/>
            <a:chOff x="0" y="0"/>
            <a:chExt cx="1735328" cy="1828800"/>
          </a:xfrm>
        </p:grpSpPr>
        <p:sp>
          <p:nvSpPr>
            <p:cNvPr name="Freeform 19" id="19"/>
            <p:cNvSpPr/>
            <p:nvPr/>
          </p:nvSpPr>
          <p:spPr>
            <a:xfrm flipH="false" flipV="false" rot="0">
              <a:off x="0" y="0"/>
              <a:ext cx="1735328" cy="1828800"/>
            </a:xfrm>
            <a:custGeom>
              <a:avLst/>
              <a:gdLst/>
              <a:ahLst/>
              <a:cxnLst/>
              <a:rect r="r" b="b" t="t" l="l"/>
              <a:pathLst>
                <a:path h="1828800" w="1735328">
                  <a:moveTo>
                    <a:pt x="0" y="0"/>
                  </a:moveTo>
                  <a:lnTo>
                    <a:pt x="1735328" y="0"/>
                  </a:lnTo>
                  <a:lnTo>
                    <a:pt x="1735328" y="1828800"/>
                  </a:lnTo>
                  <a:lnTo>
                    <a:pt x="0" y="1828800"/>
                  </a:lnTo>
                  <a:close/>
                </a:path>
              </a:pathLst>
            </a:custGeom>
            <a:blipFill>
              <a:blip r:embed="rId3">
                <a:alphaModFix amt="0"/>
              </a:blip>
              <a:stretch>
                <a:fillRect l="-85214" t="0" r="-85214" b="0"/>
              </a:stretch>
            </a:blipFill>
          </p:spPr>
        </p:sp>
        <p:sp>
          <p:nvSpPr>
            <p:cNvPr name="TextBox 20" id="20"/>
            <p:cNvSpPr txBox="true"/>
            <p:nvPr/>
          </p:nvSpPr>
          <p:spPr>
            <a:xfrm>
              <a:off x="0" y="-38100"/>
              <a:ext cx="1735328" cy="1866900"/>
            </a:xfrm>
            <a:prstGeom prst="rect">
              <a:avLst/>
            </a:prstGeom>
          </p:spPr>
          <p:txBody>
            <a:bodyPr anchor="ctr" rtlCol="false" tIns="0" lIns="0" bIns="0" rIns="0"/>
            <a:lstStyle/>
            <a:p>
              <a:pPr algn="ctr">
                <a:lnSpc>
                  <a:spcPts val="1709"/>
                </a:lnSpc>
              </a:pPr>
              <a:r>
                <a:rPr lang="en-US" sz="1425" b="true">
                  <a:solidFill>
                    <a:srgbClr val="0F1F45"/>
                  </a:solidFill>
                  <a:latin typeface="Calibri (MS) Bold"/>
                  <a:ea typeface="Calibri (MS) Bold"/>
                  <a:cs typeface="Calibri (MS) Bold"/>
                  <a:sym typeface="Calibri (MS) Bold"/>
                </a:rPr>
                <a:t>Incident</a:t>
              </a:r>
            </a:p>
          </p:txBody>
        </p:sp>
      </p:grpSp>
      <p:grpSp>
        <p:nvGrpSpPr>
          <p:cNvPr name="Group 21" id="21"/>
          <p:cNvGrpSpPr/>
          <p:nvPr/>
        </p:nvGrpSpPr>
        <p:grpSpPr>
          <a:xfrm rot="0">
            <a:off x="2402967" y="6848475"/>
            <a:ext cx="348234" cy="293370"/>
            <a:chOff x="0" y="0"/>
            <a:chExt cx="464312" cy="391160"/>
          </a:xfrm>
        </p:grpSpPr>
        <p:sp>
          <p:nvSpPr>
            <p:cNvPr name="Freeform 22" id="22"/>
            <p:cNvSpPr/>
            <p:nvPr/>
          </p:nvSpPr>
          <p:spPr>
            <a:xfrm flipH="false" flipV="false" rot="0">
              <a:off x="0" y="0"/>
              <a:ext cx="464312" cy="391160"/>
            </a:xfrm>
            <a:custGeom>
              <a:avLst/>
              <a:gdLst/>
              <a:ahLst/>
              <a:cxnLst/>
              <a:rect r="r" b="b" t="t" l="l"/>
              <a:pathLst>
                <a:path h="391160" w="464312">
                  <a:moveTo>
                    <a:pt x="0" y="97790"/>
                  </a:moveTo>
                  <a:lnTo>
                    <a:pt x="268732" y="97790"/>
                  </a:lnTo>
                  <a:lnTo>
                    <a:pt x="268732" y="0"/>
                  </a:lnTo>
                  <a:lnTo>
                    <a:pt x="464312" y="195580"/>
                  </a:lnTo>
                  <a:lnTo>
                    <a:pt x="268732" y="391160"/>
                  </a:lnTo>
                  <a:lnTo>
                    <a:pt x="268732" y="293370"/>
                  </a:lnTo>
                  <a:lnTo>
                    <a:pt x="0" y="293370"/>
                  </a:lnTo>
                  <a:close/>
                </a:path>
              </a:pathLst>
            </a:custGeom>
            <a:solidFill>
              <a:srgbClr val="2563EB"/>
            </a:solidFill>
            <a:ln w="19050" cap="sq">
              <a:solidFill>
                <a:srgbClr val="2563EB"/>
              </a:solidFill>
              <a:prstDash val="solid"/>
              <a:miter/>
            </a:ln>
          </p:spPr>
        </p:sp>
      </p:grpSp>
      <p:grpSp>
        <p:nvGrpSpPr>
          <p:cNvPr name="Group 23" id="23"/>
          <p:cNvGrpSpPr/>
          <p:nvPr/>
        </p:nvGrpSpPr>
        <p:grpSpPr>
          <a:xfrm rot="0">
            <a:off x="2787015" y="6299835"/>
            <a:ext cx="1457706" cy="1390650"/>
            <a:chOff x="0" y="0"/>
            <a:chExt cx="1943608" cy="1854200"/>
          </a:xfrm>
        </p:grpSpPr>
        <p:sp>
          <p:nvSpPr>
            <p:cNvPr name="Freeform 24" id="24"/>
            <p:cNvSpPr/>
            <p:nvPr/>
          </p:nvSpPr>
          <p:spPr>
            <a:xfrm flipH="false" flipV="false" rot="0">
              <a:off x="0" y="0"/>
              <a:ext cx="1943608" cy="1854200"/>
            </a:xfrm>
            <a:custGeom>
              <a:avLst/>
              <a:gdLst/>
              <a:ahLst/>
              <a:cxnLst/>
              <a:rect r="r" b="b" t="t" l="l"/>
              <a:pathLst>
                <a:path h="1854200" w="1943608">
                  <a:moveTo>
                    <a:pt x="0" y="185420"/>
                  </a:moveTo>
                  <a:cubicBezTo>
                    <a:pt x="0" y="83058"/>
                    <a:pt x="83058" y="0"/>
                    <a:pt x="185420" y="0"/>
                  </a:cubicBezTo>
                  <a:lnTo>
                    <a:pt x="1758188" y="0"/>
                  </a:lnTo>
                  <a:cubicBezTo>
                    <a:pt x="1860550" y="0"/>
                    <a:pt x="1943608" y="83058"/>
                    <a:pt x="1943608" y="185420"/>
                  </a:cubicBezTo>
                  <a:lnTo>
                    <a:pt x="1943608" y="1668780"/>
                  </a:lnTo>
                  <a:cubicBezTo>
                    <a:pt x="1943608" y="1771142"/>
                    <a:pt x="1860550" y="1854200"/>
                    <a:pt x="1758188" y="1854200"/>
                  </a:cubicBezTo>
                  <a:lnTo>
                    <a:pt x="185420" y="1854200"/>
                  </a:lnTo>
                  <a:cubicBezTo>
                    <a:pt x="83058" y="1854200"/>
                    <a:pt x="0" y="1771142"/>
                    <a:pt x="0" y="1668780"/>
                  </a:cubicBezTo>
                  <a:close/>
                </a:path>
              </a:pathLst>
            </a:custGeom>
            <a:solidFill>
              <a:srgbClr val="C7DAF8"/>
            </a:solidFill>
            <a:ln w="19050" cap="sq">
              <a:solidFill>
                <a:srgbClr val="2563EB"/>
              </a:solidFill>
              <a:prstDash val="solid"/>
              <a:miter/>
            </a:ln>
          </p:spPr>
        </p:sp>
      </p:grpSp>
      <p:grpSp>
        <p:nvGrpSpPr>
          <p:cNvPr name="Group 25" id="25"/>
          <p:cNvGrpSpPr/>
          <p:nvPr/>
        </p:nvGrpSpPr>
        <p:grpSpPr>
          <a:xfrm rot="0">
            <a:off x="2865120" y="6309360"/>
            <a:ext cx="1301496" cy="1371600"/>
            <a:chOff x="0" y="0"/>
            <a:chExt cx="1735328" cy="1828800"/>
          </a:xfrm>
        </p:grpSpPr>
        <p:sp>
          <p:nvSpPr>
            <p:cNvPr name="Freeform 26" id="26"/>
            <p:cNvSpPr/>
            <p:nvPr/>
          </p:nvSpPr>
          <p:spPr>
            <a:xfrm flipH="false" flipV="false" rot="0">
              <a:off x="0" y="0"/>
              <a:ext cx="1735328" cy="1828800"/>
            </a:xfrm>
            <a:custGeom>
              <a:avLst/>
              <a:gdLst/>
              <a:ahLst/>
              <a:cxnLst/>
              <a:rect r="r" b="b" t="t" l="l"/>
              <a:pathLst>
                <a:path h="1828800" w="1735328">
                  <a:moveTo>
                    <a:pt x="0" y="0"/>
                  </a:moveTo>
                  <a:lnTo>
                    <a:pt x="1735328" y="0"/>
                  </a:lnTo>
                  <a:lnTo>
                    <a:pt x="1735328" y="1828800"/>
                  </a:lnTo>
                  <a:lnTo>
                    <a:pt x="0" y="1828800"/>
                  </a:lnTo>
                  <a:close/>
                </a:path>
              </a:pathLst>
            </a:custGeom>
            <a:blipFill>
              <a:blip r:embed="rId3">
                <a:alphaModFix amt="0"/>
              </a:blip>
              <a:stretch>
                <a:fillRect l="-85214" t="0" r="-85214" b="0"/>
              </a:stretch>
            </a:blipFill>
          </p:spPr>
        </p:sp>
        <p:sp>
          <p:nvSpPr>
            <p:cNvPr name="TextBox 27" id="27"/>
            <p:cNvSpPr txBox="true"/>
            <p:nvPr/>
          </p:nvSpPr>
          <p:spPr>
            <a:xfrm>
              <a:off x="0" y="-38100"/>
              <a:ext cx="1735328" cy="1866900"/>
            </a:xfrm>
            <a:prstGeom prst="rect">
              <a:avLst/>
            </a:prstGeom>
          </p:spPr>
          <p:txBody>
            <a:bodyPr anchor="ctr" rtlCol="false" tIns="0" lIns="0" bIns="0" rIns="0"/>
            <a:lstStyle/>
            <a:p>
              <a:pPr algn="ctr">
                <a:lnSpc>
                  <a:spcPts val="1709"/>
                </a:lnSpc>
              </a:pPr>
              <a:r>
                <a:rPr lang="en-US" sz="1425" b="true">
                  <a:solidFill>
                    <a:srgbClr val="0F1F45"/>
                  </a:solidFill>
                  <a:latin typeface="Calibri (MS) Bold"/>
                  <a:ea typeface="Calibri (MS) Bold"/>
                  <a:cs typeface="Calibri (MS) Bold"/>
                  <a:sym typeface="Calibri (MS) Bold"/>
                </a:rPr>
                <a:t>FIR</a:t>
              </a:r>
            </a:p>
          </p:txBody>
        </p:sp>
      </p:grpSp>
      <p:grpSp>
        <p:nvGrpSpPr>
          <p:cNvPr name="Group 28" id="28"/>
          <p:cNvGrpSpPr/>
          <p:nvPr/>
        </p:nvGrpSpPr>
        <p:grpSpPr>
          <a:xfrm rot="0">
            <a:off x="4280535" y="6848475"/>
            <a:ext cx="348234" cy="293370"/>
            <a:chOff x="0" y="0"/>
            <a:chExt cx="464312" cy="391160"/>
          </a:xfrm>
        </p:grpSpPr>
        <p:sp>
          <p:nvSpPr>
            <p:cNvPr name="Freeform 29" id="29"/>
            <p:cNvSpPr/>
            <p:nvPr/>
          </p:nvSpPr>
          <p:spPr>
            <a:xfrm flipH="false" flipV="false" rot="0">
              <a:off x="0" y="0"/>
              <a:ext cx="464312" cy="391160"/>
            </a:xfrm>
            <a:custGeom>
              <a:avLst/>
              <a:gdLst/>
              <a:ahLst/>
              <a:cxnLst/>
              <a:rect r="r" b="b" t="t" l="l"/>
              <a:pathLst>
                <a:path h="391160" w="464312">
                  <a:moveTo>
                    <a:pt x="0" y="97790"/>
                  </a:moveTo>
                  <a:lnTo>
                    <a:pt x="268732" y="97790"/>
                  </a:lnTo>
                  <a:lnTo>
                    <a:pt x="268732" y="0"/>
                  </a:lnTo>
                  <a:lnTo>
                    <a:pt x="464312" y="195580"/>
                  </a:lnTo>
                  <a:lnTo>
                    <a:pt x="268732" y="391160"/>
                  </a:lnTo>
                  <a:lnTo>
                    <a:pt x="268732" y="293370"/>
                  </a:lnTo>
                  <a:lnTo>
                    <a:pt x="0" y="293370"/>
                  </a:lnTo>
                  <a:close/>
                </a:path>
              </a:pathLst>
            </a:custGeom>
            <a:solidFill>
              <a:srgbClr val="2563EB"/>
            </a:solidFill>
            <a:ln w="19050" cap="sq">
              <a:solidFill>
                <a:srgbClr val="2563EB"/>
              </a:solidFill>
              <a:prstDash val="solid"/>
              <a:miter/>
            </a:ln>
          </p:spPr>
        </p:sp>
      </p:grpSp>
      <p:grpSp>
        <p:nvGrpSpPr>
          <p:cNvPr name="Group 30" id="30"/>
          <p:cNvGrpSpPr/>
          <p:nvPr/>
        </p:nvGrpSpPr>
        <p:grpSpPr>
          <a:xfrm rot="0">
            <a:off x="4664583" y="6299835"/>
            <a:ext cx="1457706" cy="1390650"/>
            <a:chOff x="0" y="0"/>
            <a:chExt cx="1943608" cy="1854200"/>
          </a:xfrm>
        </p:grpSpPr>
        <p:sp>
          <p:nvSpPr>
            <p:cNvPr name="Freeform 31" id="31"/>
            <p:cNvSpPr/>
            <p:nvPr/>
          </p:nvSpPr>
          <p:spPr>
            <a:xfrm flipH="false" flipV="false" rot="0">
              <a:off x="0" y="0"/>
              <a:ext cx="1943608" cy="1854200"/>
            </a:xfrm>
            <a:custGeom>
              <a:avLst/>
              <a:gdLst/>
              <a:ahLst/>
              <a:cxnLst/>
              <a:rect r="r" b="b" t="t" l="l"/>
              <a:pathLst>
                <a:path h="1854200" w="1943608">
                  <a:moveTo>
                    <a:pt x="0" y="185420"/>
                  </a:moveTo>
                  <a:cubicBezTo>
                    <a:pt x="0" y="83058"/>
                    <a:pt x="83058" y="0"/>
                    <a:pt x="185420" y="0"/>
                  </a:cubicBezTo>
                  <a:lnTo>
                    <a:pt x="1758188" y="0"/>
                  </a:lnTo>
                  <a:cubicBezTo>
                    <a:pt x="1860550" y="0"/>
                    <a:pt x="1943608" y="83058"/>
                    <a:pt x="1943608" y="185420"/>
                  </a:cubicBezTo>
                  <a:lnTo>
                    <a:pt x="1943608" y="1668780"/>
                  </a:lnTo>
                  <a:cubicBezTo>
                    <a:pt x="1943608" y="1771142"/>
                    <a:pt x="1860550" y="1854200"/>
                    <a:pt x="1758188" y="1854200"/>
                  </a:cubicBezTo>
                  <a:lnTo>
                    <a:pt x="185420" y="1854200"/>
                  </a:lnTo>
                  <a:cubicBezTo>
                    <a:pt x="83058" y="1854200"/>
                    <a:pt x="0" y="1771142"/>
                    <a:pt x="0" y="1668780"/>
                  </a:cubicBezTo>
                  <a:close/>
                </a:path>
              </a:pathLst>
            </a:custGeom>
            <a:solidFill>
              <a:srgbClr val="E3ECFB"/>
            </a:solidFill>
            <a:ln w="19050" cap="sq">
              <a:solidFill>
                <a:srgbClr val="2563EB"/>
              </a:solidFill>
              <a:prstDash val="solid"/>
              <a:miter/>
            </a:ln>
          </p:spPr>
        </p:sp>
      </p:grpSp>
      <p:grpSp>
        <p:nvGrpSpPr>
          <p:cNvPr name="Group 32" id="32"/>
          <p:cNvGrpSpPr/>
          <p:nvPr/>
        </p:nvGrpSpPr>
        <p:grpSpPr>
          <a:xfrm rot="0">
            <a:off x="4742688" y="6309360"/>
            <a:ext cx="1301496" cy="1371600"/>
            <a:chOff x="0" y="0"/>
            <a:chExt cx="1735328" cy="1828800"/>
          </a:xfrm>
        </p:grpSpPr>
        <p:sp>
          <p:nvSpPr>
            <p:cNvPr name="Freeform 33" id="33"/>
            <p:cNvSpPr/>
            <p:nvPr/>
          </p:nvSpPr>
          <p:spPr>
            <a:xfrm flipH="false" flipV="false" rot="0">
              <a:off x="0" y="0"/>
              <a:ext cx="1735328" cy="1828800"/>
            </a:xfrm>
            <a:custGeom>
              <a:avLst/>
              <a:gdLst/>
              <a:ahLst/>
              <a:cxnLst/>
              <a:rect r="r" b="b" t="t" l="l"/>
              <a:pathLst>
                <a:path h="1828800" w="1735328">
                  <a:moveTo>
                    <a:pt x="0" y="0"/>
                  </a:moveTo>
                  <a:lnTo>
                    <a:pt x="1735328" y="0"/>
                  </a:lnTo>
                  <a:lnTo>
                    <a:pt x="1735328" y="1828800"/>
                  </a:lnTo>
                  <a:lnTo>
                    <a:pt x="0" y="1828800"/>
                  </a:lnTo>
                  <a:close/>
                </a:path>
              </a:pathLst>
            </a:custGeom>
            <a:blipFill>
              <a:blip r:embed="rId3">
                <a:alphaModFix amt="0"/>
              </a:blip>
              <a:stretch>
                <a:fillRect l="-85214" t="0" r="-85214" b="0"/>
              </a:stretch>
            </a:blipFill>
          </p:spPr>
        </p:sp>
        <p:sp>
          <p:nvSpPr>
            <p:cNvPr name="TextBox 34" id="34"/>
            <p:cNvSpPr txBox="true"/>
            <p:nvPr/>
          </p:nvSpPr>
          <p:spPr>
            <a:xfrm>
              <a:off x="0" y="-38100"/>
              <a:ext cx="1735328" cy="1866900"/>
            </a:xfrm>
            <a:prstGeom prst="rect">
              <a:avLst/>
            </a:prstGeom>
          </p:spPr>
          <p:txBody>
            <a:bodyPr anchor="ctr" rtlCol="false" tIns="0" lIns="0" bIns="0" rIns="0"/>
            <a:lstStyle/>
            <a:p>
              <a:pPr algn="ctr">
                <a:lnSpc>
                  <a:spcPts val="1709"/>
                </a:lnSpc>
              </a:pPr>
              <a:r>
                <a:rPr lang="en-US" sz="1425" b="true">
                  <a:solidFill>
                    <a:srgbClr val="0F1F45"/>
                  </a:solidFill>
                  <a:latin typeface="Calibri (MS) Bold"/>
                  <a:ea typeface="Calibri (MS) Bold"/>
                  <a:cs typeface="Calibri (MS) Bold"/>
                  <a:sym typeface="Calibri (MS) Bold"/>
                </a:rPr>
                <a:t>Police Station</a:t>
              </a:r>
            </a:p>
          </p:txBody>
        </p:sp>
      </p:grpSp>
      <p:grpSp>
        <p:nvGrpSpPr>
          <p:cNvPr name="Group 35" id="35"/>
          <p:cNvGrpSpPr/>
          <p:nvPr/>
        </p:nvGrpSpPr>
        <p:grpSpPr>
          <a:xfrm rot="0">
            <a:off x="6158103" y="6848475"/>
            <a:ext cx="348234" cy="293370"/>
            <a:chOff x="0" y="0"/>
            <a:chExt cx="464312" cy="391160"/>
          </a:xfrm>
        </p:grpSpPr>
        <p:sp>
          <p:nvSpPr>
            <p:cNvPr name="Freeform 36" id="36"/>
            <p:cNvSpPr/>
            <p:nvPr/>
          </p:nvSpPr>
          <p:spPr>
            <a:xfrm flipH="false" flipV="false" rot="0">
              <a:off x="0" y="0"/>
              <a:ext cx="464312" cy="391160"/>
            </a:xfrm>
            <a:custGeom>
              <a:avLst/>
              <a:gdLst/>
              <a:ahLst/>
              <a:cxnLst/>
              <a:rect r="r" b="b" t="t" l="l"/>
              <a:pathLst>
                <a:path h="391160" w="464312">
                  <a:moveTo>
                    <a:pt x="0" y="97790"/>
                  </a:moveTo>
                  <a:lnTo>
                    <a:pt x="268732" y="97790"/>
                  </a:lnTo>
                  <a:lnTo>
                    <a:pt x="268732" y="0"/>
                  </a:lnTo>
                  <a:lnTo>
                    <a:pt x="464312" y="195580"/>
                  </a:lnTo>
                  <a:lnTo>
                    <a:pt x="268732" y="391160"/>
                  </a:lnTo>
                  <a:lnTo>
                    <a:pt x="268732" y="293370"/>
                  </a:lnTo>
                  <a:lnTo>
                    <a:pt x="0" y="293370"/>
                  </a:lnTo>
                  <a:close/>
                </a:path>
              </a:pathLst>
            </a:custGeom>
            <a:solidFill>
              <a:srgbClr val="2563EB"/>
            </a:solidFill>
            <a:ln w="19050" cap="sq">
              <a:solidFill>
                <a:srgbClr val="2563EB"/>
              </a:solidFill>
              <a:prstDash val="solid"/>
              <a:miter/>
            </a:ln>
          </p:spPr>
        </p:sp>
      </p:grpSp>
      <p:grpSp>
        <p:nvGrpSpPr>
          <p:cNvPr name="Group 37" id="37"/>
          <p:cNvGrpSpPr/>
          <p:nvPr/>
        </p:nvGrpSpPr>
        <p:grpSpPr>
          <a:xfrm rot="0">
            <a:off x="6542151" y="6299835"/>
            <a:ext cx="1457706" cy="1390650"/>
            <a:chOff x="0" y="0"/>
            <a:chExt cx="1943608" cy="1854200"/>
          </a:xfrm>
        </p:grpSpPr>
        <p:sp>
          <p:nvSpPr>
            <p:cNvPr name="Freeform 38" id="38"/>
            <p:cNvSpPr/>
            <p:nvPr/>
          </p:nvSpPr>
          <p:spPr>
            <a:xfrm flipH="false" flipV="false" rot="0">
              <a:off x="0" y="0"/>
              <a:ext cx="1943608" cy="1854200"/>
            </a:xfrm>
            <a:custGeom>
              <a:avLst/>
              <a:gdLst/>
              <a:ahLst/>
              <a:cxnLst/>
              <a:rect r="r" b="b" t="t" l="l"/>
              <a:pathLst>
                <a:path h="1854200" w="1943608">
                  <a:moveTo>
                    <a:pt x="0" y="185420"/>
                  </a:moveTo>
                  <a:cubicBezTo>
                    <a:pt x="0" y="83058"/>
                    <a:pt x="83058" y="0"/>
                    <a:pt x="185420" y="0"/>
                  </a:cubicBezTo>
                  <a:lnTo>
                    <a:pt x="1758188" y="0"/>
                  </a:lnTo>
                  <a:cubicBezTo>
                    <a:pt x="1860550" y="0"/>
                    <a:pt x="1943608" y="83058"/>
                    <a:pt x="1943608" y="185420"/>
                  </a:cubicBezTo>
                  <a:lnTo>
                    <a:pt x="1943608" y="1668780"/>
                  </a:lnTo>
                  <a:cubicBezTo>
                    <a:pt x="1943608" y="1771142"/>
                    <a:pt x="1860550" y="1854200"/>
                    <a:pt x="1758188" y="1854200"/>
                  </a:cubicBezTo>
                  <a:lnTo>
                    <a:pt x="185420" y="1854200"/>
                  </a:lnTo>
                  <a:cubicBezTo>
                    <a:pt x="83058" y="1854200"/>
                    <a:pt x="0" y="1771142"/>
                    <a:pt x="0" y="1668780"/>
                  </a:cubicBezTo>
                  <a:close/>
                </a:path>
              </a:pathLst>
            </a:custGeom>
            <a:solidFill>
              <a:srgbClr val="C7DAF8"/>
            </a:solidFill>
            <a:ln w="19050" cap="sq">
              <a:solidFill>
                <a:srgbClr val="2563EB"/>
              </a:solidFill>
              <a:prstDash val="solid"/>
              <a:miter/>
            </a:ln>
          </p:spPr>
        </p:sp>
      </p:grpSp>
      <p:grpSp>
        <p:nvGrpSpPr>
          <p:cNvPr name="Group 39" id="39"/>
          <p:cNvGrpSpPr/>
          <p:nvPr/>
        </p:nvGrpSpPr>
        <p:grpSpPr>
          <a:xfrm rot="0">
            <a:off x="6620256" y="6309360"/>
            <a:ext cx="1301496" cy="1371600"/>
            <a:chOff x="0" y="0"/>
            <a:chExt cx="1735328" cy="1828800"/>
          </a:xfrm>
        </p:grpSpPr>
        <p:sp>
          <p:nvSpPr>
            <p:cNvPr name="Freeform 40" id="40"/>
            <p:cNvSpPr/>
            <p:nvPr/>
          </p:nvSpPr>
          <p:spPr>
            <a:xfrm flipH="false" flipV="false" rot="0">
              <a:off x="0" y="0"/>
              <a:ext cx="1735328" cy="1828800"/>
            </a:xfrm>
            <a:custGeom>
              <a:avLst/>
              <a:gdLst/>
              <a:ahLst/>
              <a:cxnLst/>
              <a:rect r="r" b="b" t="t" l="l"/>
              <a:pathLst>
                <a:path h="1828800" w="1735328">
                  <a:moveTo>
                    <a:pt x="0" y="0"/>
                  </a:moveTo>
                  <a:lnTo>
                    <a:pt x="1735328" y="0"/>
                  </a:lnTo>
                  <a:lnTo>
                    <a:pt x="1735328" y="1828800"/>
                  </a:lnTo>
                  <a:lnTo>
                    <a:pt x="0" y="1828800"/>
                  </a:lnTo>
                  <a:close/>
                </a:path>
              </a:pathLst>
            </a:custGeom>
            <a:blipFill>
              <a:blip r:embed="rId3">
                <a:alphaModFix amt="0"/>
              </a:blip>
              <a:stretch>
                <a:fillRect l="-85214" t="0" r="-85214" b="0"/>
              </a:stretch>
            </a:blipFill>
          </p:spPr>
        </p:sp>
        <p:sp>
          <p:nvSpPr>
            <p:cNvPr name="TextBox 41" id="41"/>
            <p:cNvSpPr txBox="true"/>
            <p:nvPr/>
          </p:nvSpPr>
          <p:spPr>
            <a:xfrm>
              <a:off x="0" y="-38100"/>
              <a:ext cx="1735328" cy="1866900"/>
            </a:xfrm>
            <a:prstGeom prst="rect">
              <a:avLst/>
            </a:prstGeom>
          </p:spPr>
          <p:txBody>
            <a:bodyPr anchor="ctr" rtlCol="false" tIns="0" lIns="0" bIns="0" rIns="0"/>
            <a:lstStyle/>
            <a:p>
              <a:pPr algn="ctr">
                <a:lnSpc>
                  <a:spcPts val="1709"/>
                </a:lnSpc>
              </a:pPr>
              <a:r>
                <a:rPr lang="en-US" sz="1425" b="true">
                  <a:solidFill>
                    <a:srgbClr val="0F1F45"/>
                  </a:solidFill>
                  <a:latin typeface="Calibri (MS) Bold"/>
                  <a:ea typeface="Calibri (MS) Bold"/>
                  <a:cs typeface="Calibri (MS) Bold"/>
                  <a:sym typeface="Calibri (MS) Bold"/>
                </a:rPr>
                <a:t>Officer</a:t>
              </a:r>
            </a:p>
          </p:txBody>
        </p:sp>
      </p:grpSp>
      <p:grpSp>
        <p:nvGrpSpPr>
          <p:cNvPr name="Group 42" id="42"/>
          <p:cNvGrpSpPr/>
          <p:nvPr/>
        </p:nvGrpSpPr>
        <p:grpSpPr>
          <a:xfrm rot="0">
            <a:off x="8035671" y="6848475"/>
            <a:ext cx="348234" cy="293370"/>
            <a:chOff x="0" y="0"/>
            <a:chExt cx="464312" cy="391160"/>
          </a:xfrm>
        </p:grpSpPr>
        <p:sp>
          <p:nvSpPr>
            <p:cNvPr name="Freeform 43" id="43"/>
            <p:cNvSpPr/>
            <p:nvPr/>
          </p:nvSpPr>
          <p:spPr>
            <a:xfrm flipH="false" flipV="false" rot="0">
              <a:off x="0" y="0"/>
              <a:ext cx="464312" cy="391160"/>
            </a:xfrm>
            <a:custGeom>
              <a:avLst/>
              <a:gdLst/>
              <a:ahLst/>
              <a:cxnLst/>
              <a:rect r="r" b="b" t="t" l="l"/>
              <a:pathLst>
                <a:path h="391160" w="464312">
                  <a:moveTo>
                    <a:pt x="0" y="97790"/>
                  </a:moveTo>
                  <a:lnTo>
                    <a:pt x="268732" y="97790"/>
                  </a:lnTo>
                  <a:lnTo>
                    <a:pt x="268732" y="0"/>
                  </a:lnTo>
                  <a:lnTo>
                    <a:pt x="464312" y="195580"/>
                  </a:lnTo>
                  <a:lnTo>
                    <a:pt x="268732" y="391160"/>
                  </a:lnTo>
                  <a:lnTo>
                    <a:pt x="268732" y="293370"/>
                  </a:lnTo>
                  <a:lnTo>
                    <a:pt x="0" y="293370"/>
                  </a:lnTo>
                  <a:close/>
                </a:path>
              </a:pathLst>
            </a:custGeom>
            <a:solidFill>
              <a:srgbClr val="2563EB"/>
            </a:solidFill>
            <a:ln w="19050" cap="sq">
              <a:solidFill>
                <a:srgbClr val="2563EB"/>
              </a:solidFill>
              <a:prstDash val="solid"/>
              <a:miter/>
            </a:ln>
          </p:spPr>
        </p:sp>
      </p:grpSp>
      <p:grpSp>
        <p:nvGrpSpPr>
          <p:cNvPr name="Group 44" id="44"/>
          <p:cNvGrpSpPr/>
          <p:nvPr/>
        </p:nvGrpSpPr>
        <p:grpSpPr>
          <a:xfrm rot="0">
            <a:off x="8419719" y="6299835"/>
            <a:ext cx="1457706" cy="1390650"/>
            <a:chOff x="0" y="0"/>
            <a:chExt cx="1943608" cy="1854200"/>
          </a:xfrm>
        </p:grpSpPr>
        <p:sp>
          <p:nvSpPr>
            <p:cNvPr name="Freeform 45" id="45"/>
            <p:cNvSpPr/>
            <p:nvPr/>
          </p:nvSpPr>
          <p:spPr>
            <a:xfrm flipH="false" flipV="false" rot="0">
              <a:off x="0" y="0"/>
              <a:ext cx="1943608" cy="1854200"/>
            </a:xfrm>
            <a:custGeom>
              <a:avLst/>
              <a:gdLst/>
              <a:ahLst/>
              <a:cxnLst/>
              <a:rect r="r" b="b" t="t" l="l"/>
              <a:pathLst>
                <a:path h="1854200" w="1943608">
                  <a:moveTo>
                    <a:pt x="0" y="185420"/>
                  </a:moveTo>
                  <a:cubicBezTo>
                    <a:pt x="0" y="83058"/>
                    <a:pt x="83058" y="0"/>
                    <a:pt x="185420" y="0"/>
                  </a:cubicBezTo>
                  <a:lnTo>
                    <a:pt x="1758188" y="0"/>
                  </a:lnTo>
                  <a:cubicBezTo>
                    <a:pt x="1860550" y="0"/>
                    <a:pt x="1943608" y="83058"/>
                    <a:pt x="1943608" y="185420"/>
                  </a:cubicBezTo>
                  <a:lnTo>
                    <a:pt x="1943608" y="1668780"/>
                  </a:lnTo>
                  <a:cubicBezTo>
                    <a:pt x="1943608" y="1771142"/>
                    <a:pt x="1860550" y="1854200"/>
                    <a:pt x="1758188" y="1854200"/>
                  </a:cubicBezTo>
                  <a:lnTo>
                    <a:pt x="185420" y="1854200"/>
                  </a:lnTo>
                  <a:cubicBezTo>
                    <a:pt x="83058" y="1854200"/>
                    <a:pt x="0" y="1771142"/>
                    <a:pt x="0" y="1668780"/>
                  </a:cubicBezTo>
                  <a:close/>
                </a:path>
              </a:pathLst>
            </a:custGeom>
            <a:solidFill>
              <a:srgbClr val="E3ECFB"/>
            </a:solidFill>
            <a:ln w="19050" cap="sq">
              <a:solidFill>
                <a:srgbClr val="2563EB"/>
              </a:solidFill>
              <a:prstDash val="solid"/>
              <a:miter/>
            </a:ln>
          </p:spPr>
        </p:sp>
      </p:grpSp>
      <p:grpSp>
        <p:nvGrpSpPr>
          <p:cNvPr name="Group 46" id="46"/>
          <p:cNvGrpSpPr/>
          <p:nvPr/>
        </p:nvGrpSpPr>
        <p:grpSpPr>
          <a:xfrm rot="0">
            <a:off x="8497824" y="6309360"/>
            <a:ext cx="1301496" cy="1371600"/>
            <a:chOff x="0" y="0"/>
            <a:chExt cx="1735328" cy="1828800"/>
          </a:xfrm>
        </p:grpSpPr>
        <p:sp>
          <p:nvSpPr>
            <p:cNvPr name="Freeform 47" id="47"/>
            <p:cNvSpPr/>
            <p:nvPr/>
          </p:nvSpPr>
          <p:spPr>
            <a:xfrm flipH="false" flipV="false" rot="0">
              <a:off x="0" y="0"/>
              <a:ext cx="1735328" cy="1828800"/>
            </a:xfrm>
            <a:custGeom>
              <a:avLst/>
              <a:gdLst/>
              <a:ahLst/>
              <a:cxnLst/>
              <a:rect r="r" b="b" t="t" l="l"/>
              <a:pathLst>
                <a:path h="1828800" w="1735328">
                  <a:moveTo>
                    <a:pt x="0" y="0"/>
                  </a:moveTo>
                  <a:lnTo>
                    <a:pt x="1735328" y="0"/>
                  </a:lnTo>
                  <a:lnTo>
                    <a:pt x="1735328" y="1828800"/>
                  </a:lnTo>
                  <a:lnTo>
                    <a:pt x="0" y="1828800"/>
                  </a:lnTo>
                  <a:close/>
                </a:path>
              </a:pathLst>
            </a:custGeom>
            <a:blipFill>
              <a:blip r:embed="rId3">
                <a:alphaModFix amt="0"/>
              </a:blip>
              <a:stretch>
                <a:fillRect l="-85214" t="0" r="-85214" b="0"/>
              </a:stretch>
            </a:blipFill>
          </p:spPr>
        </p:sp>
        <p:sp>
          <p:nvSpPr>
            <p:cNvPr name="TextBox 48" id="48"/>
            <p:cNvSpPr txBox="true"/>
            <p:nvPr/>
          </p:nvSpPr>
          <p:spPr>
            <a:xfrm>
              <a:off x="0" y="-38100"/>
              <a:ext cx="1735328" cy="1866900"/>
            </a:xfrm>
            <a:prstGeom prst="rect">
              <a:avLst/>
            </a:prstGeom>
          </p:spPr>
          <p:txBody>
            <a:bodyPr anchor="ctr" rtlCol="false" tIns="0" lIns="0" bIns="0" rIns="0"/>
            <a:lstStyle/>
            <a:p>
              <a:pPr algn="ctr">
                <a:lnSpc>
                  <a:spcPts val="1709"/>
                </a:lnSpc>
              </a:pPr>
              <a:r>
                <a:rPr lang="en-US" sz="1425" b="true">
                  <a:solidFill>
                    <a:srgbClr val="0F1F45"/>
                  </a:solidFill>
                  <a:latin typeface="Calibri (MS) Bold"/>
                  <a:ea typeface="Calibri (MS) Bold"/>
                  <a:cs typeface="Calibri (MS) Bold"/>
                  <a:sym typeface="Calibri (MS) Bold"/>
                </a:rPr>
                <a:t>Victim / Crime Classification</a:t>
              </a:r>
            </a:p>
          </p:txBody>
        </p:sp>
      </p:grpSp>
      <p:grpSp>
        <p:nvGrpSpPr>
          <p:cNvPr name="Group 49" id="49"/>
          <p:cNvGrpSpPr/>
          <p:nvPr/>
        </p:nvGrpSpPr>
        <p:grpSpPr>
          <a:xfrm rot="0">
            <a:off x="9913239" y="6848475"/>
            <a:ext cx="348234" cy="293370"/>
            <a:chOff x="0" y="0"/>
            <a:chExt cx="464312" cy="391160"/>
          </a:xfrm>
        </p:grpSpPr>
        <p:sp>
          <p:nvSpPr>
            <p:cNvPr name="Freeform 50" id="50"/>
            <p:cNvSpPr/>
            <p:nvPr/>
          </p:nvSpPr>
          <p:spPr>
            <a:xfrm flipH="false" flipV="false" rot="0">
              <a:off x="0" y="0"/>
              <a:ext cx="464312" cy="391160"/>
            </a:xfrm>
            <a:custGeom>
              <a:avLst/>
              <a:gdLst/>
              <a:ahLst/>
              <a:cxnLst/>
              <a:rect r="r" b="b" t="t" l="l"/>
              <a:pathLst>
                <a:path h="391160" w="464312">
                  <a:moveTo>
                    <a:pt x="0" y="97790"/>
                  </a:moveTo>
                  <a:lnTo>
                    <a:pt x="268732" y="97790"/>
                  </a:lnTo>
                  <a:lnTo>
                    <a:pt x="268732" y="0"/>
                  </a:lnTo>
                  <a:lnTo>
                    <a:pt x="464312" y="195580"/>
                  </a:lnTo>
                  <a:lnTo>
                    <a:pt x="268732" y="391160"/>
                  </a:lnTo>
                  <a:lnTo>
                    <a:pt x="268732" y="293370"/>
                  </a:lnTo>
                  <a:lnTo>
                    <a:pt x="0" y="293370"/>
                  </a:lnTo>
                  <a:close/>
                </a:path>
              </a:pathLst>
            </a:custGeom>
            <a:solidFill>
              <a:srgbClr val="2563EB"/>
            </a:solidFill>
            <a:ln w="19050" cap="sq">
              <a:solidFill>
                <a:srgbClr val="2563EB"/>
              </a:solidFill>
              <a:prstDash val="solid"/>
              <a:miter/>
            </a:ln>
          </p:spPr>
        </p:sp>
      </p:grpSp>
      <p:grpSp>
        <p:nvGrpSpPr>
          <p:cNvPr name="Group 51" id="51"/>
          <p:cNvGrpSpPr/>
          <p:nvPr/>
        </p:nvGrpSpPr>
        <p:grpSpPr>
          <a:xfrm rot="0">
            <a:off x="10297287" y="6299835"/>
            <a:ext cx="1457706" cy="1390650"/>
            <a:chOff x="0" y="0"/>
            <a:chExt cx="1943608" cy="1854200"/>
          </a:xfrm>
        </p:grpSpPr>
        <p:sp>
          <p:nvSpPr>
            <p:cNvPr name="Freeform 52" id="52"/>
            <p:cNvSpPr/>
            <p:nvPr/>
          </p:nvSpPr>
          <p:spPr>
            <a:xfrm flipH="false" flipV="false" rot="0">
              <a:off x="0" y="0"/>
              <a:ext cx="1943608" cy="1854200"/>
            </a:xfrm>
            <a:custGeom>
              <a:avLst/>
              <a:gdLst/>
              <a:ahLst/>
              <a:cxnLst/>
              <a:rect r="r" b="b" t="t" l="l"/>
              <a:pathLst>
                <a:path h="1854200" w="1943608">
                  <a:moveTo>
                    <a:pt x="0" y="185420"/>
                  </a:moveTo>
                  <a:cubicBezTo>
                    <a:pt x="0" y="83058"/>
                    <a:pt x="83058" y="0"/>
                    <a:pt x="185420" y="0"/>
                  </a:cubicBezTo>
                  <a:lnTo>
                    <a:pt x="1758188" y="0"/>
                  </a:lnTo>
                  <a:cubicBezTo>
                    <a:pt x="1860550" y="0"/>
                    <a:pt x="1943608" y="83058"/>
                    <a:pt x="1943608" y="185420"/>
                  </a:cubicBezTo>
                  <a:lnTo>
                    <a:pt x="1943608" y="1668780"/>
                  </a:lnTo>
                  <a:cubicBezTo>
                    <a:pt x="1943608" y="1771142"/>
                    <a:pt x="1860550" y="1854200"/>
                    <a:pt x="1758188" y="1854200"/>
                  </a:cubicBezTo>
                  <a:lnTo>
                    <a:pt x="185420" y="1854200"/>
                  </a:lnTo>
                  <a:cubicBezTo>
                    <a:pt x="83058" y="1854200"/>
                    <a:pt x="0" y="1771142"/>
                    <a:pt x="0" y="1668780"/>
                  </a:cubicBezTo>
                  <a:close/>
                </a:path>
              </a:pathLst>
            </a:custGeom>
            <a:solidFill>
              <a:srgbClr val="C7DAF8"/>
            </a:solidFill>
            <a:ln w="19050" cap="sq">
              <a:solidFill>
                <a:srgbClr val="2563EB"/>
              </a:solidFill>
              <a:prstDash val="solid"/>
              <a:miter/>
            </a:ln>
          </p:spPr>
        </p:sp>
      </p:grpSp>
      <p:grpSp>
        <p:nvGrpSpPr>
          <p:cNvPr name="Group 53" id="53"/>
          <p:cNvGrpSpPr/>
          <p:nvPr/>
        </p:nvGrpSpPr>
        <p:grpSpPr>
          <a:xfrm rot="0">
            <a:off x="10375392" y="6309360"/>
            <a:ext cx="1301496" cy="1371600"/>
            <a:chOff x="0" y="0"/>
            <a:chExt cx="1735328" cy="1828800"/>
          </a:xfrm>
        </p:grpSpPr>
        <p:sp>
          <p:nvSpPr>
            <p:cNvPr name="Freeform 54" id="54"/>
            <p:cNvSpPr/>
            <p:nvPr/>
          </p:nvSpPr>
          <p:spPr>
            <a:xfrm flipH="false" flipV="false" rot="0">
              <a:off x="0" y="0"/>
              <a:ext cx="1735328" cy="1828800"/>
            </a:xfrm>
            <a:custGeom>
              <a:avLst/>
              <a:gdLst/>
              <a:ahLst/>
              <a:cxnLst/>
              <a:rect r="r" b="b" t="t" l="l"/>
              <a:pathLst>
                <a:path h="1828800" w="1735328">
                  <a:moveTo>
                    <a:pt x="0" y="0"/>
                  </a:moveTo>
                  <a:lnTo>
                    <a:pt x="1735328" y="0"/>
                  </a:lnTo>
                  <a:lnTo>
                    <a:pt x="1735328" y="1828800"/>
                  </a:lnTo>
                  <a:lnTo>
                    <a:pt x="0" y="1828800"/>
                  </a:lnTo>
                  <a:close/>
                </a:path>
              </a:pathLst>
            </a:custGeom>
            <a:blipFill>
              <a:blip r:embed="rId3">
                <a:alphaModFix amt="0"/>
              </a:blip>
              <a:stretch>
                <a:fillRect l="-85214" t="0" r="-85214" b="0"/>
              </a:stretch>
            </a:blipFill>
          </p:spPr>
        </p:sp>
        <p:sp>
          <p:nvSpPr>
            <p:cNvPr name="TextBox 55" id="55"/>
            <p:cNvSpPr txBox="true"/>
            <p:nvPr/>
          </p:nvSpPr>
          <p:spPr>
            <a:xfrm>
              <a:off x="0" y="-38100"/>
              <a:ext cx="1735328" cy="1866900"/>
            </a:xfrm>
            <a:prstGeom prst="rect">
              <a:avLst/>
            </a:prstGeom>
          </p:spPr>
          <p:txBody>
            <a:bodyPr anchor="ctr" rtlCol="false" tIns="0" lIns="0" bIns="0" rIns="0"/>
            <a:lstStyle/>
            <a:p>
              <a:pPr algn="ctr">
                <a:lnSpc>
                  <a:spcPts val="1709"/>
                </a:lnSpc>
              </a:pPr>
              <a:r>
                <a:rPr lang="en-US" sz="1425" b="true">
                  <a:solidFill>
                    <a:srgbClr val="0F1F45"/>
                  </a:solidFill>
                  <a:latin typeface="Calibri (MS) Bold"/>
                  <a:ea typeface="Calibri (MS) Bold"/>
                  <a:cs typeface="Calibri (MS) Bold"/>
                  <a:sym typeface="Calibri (MS) Bold"/>
                </a:rPr>
                <a:t>Accused / Arrest</a:t>
              </a:r>
            </a:p>
          </p:txBody>
        </p:sp>
      </p:grpSp>
      <p:grpSp>
        <p:nvGrpSpPr>
          <p:cNvPr name="Group 56" id="56"/>
          <p:cNvGrpSpPr/>
          <p:nvPr/>
        </p:nvGrpSpPr>
        <p:grpSpPr>
          <a:xfrm rot="0">
            <a:off x="11790807" y="6848475"/>
            <a:ext cx="348234" cy="293370"/>
            <a:chOff x="0" y="0"/>
            <a:chExt cx="464312" cy="391160"/>
          </a:xfrm>
        </p:grpSpPr>
        <p:sp>
          <p:nvSpPr>
            <p:cNvPr name="Freeform 57" id="57"/>
            <p:cNvSpPr/>
            <p:nvPr/>
          </p:nvSpPr>
          <p:spPr>
            <a:xfrm flipH="false" flipV="false" rot="0">
              <a:off x="0" y="0"/>
              <a:ext cx="464312" cy="391160"/>
            </a:xfrm>
            <a:custGeom>
              <a:avLst/>
              <a:gdLst/>
              <a:ahLst/>
              <a:cxnLst/>
              <a:rect r="r" b="b" t="t" l="l"/>
              <a:pathLst>
                <a:path h="391160" w="464312">
                  <a:moveTo>
                    <a:pt x="0" y="97790"/>
                  </a:moveTo>
                  <a:lnTo>
                    <a:pt x="268732" y="97790"/>
                  </a:lnTo>
                  <a:lnTo>
                    <a:pt x="268732" y="0"/>
                  </a:lnTo>
                  <a:lnTo>
                    <a:pt x="464312" y="195580"/>
                  </a:lnTo>
                  <a:lnTo>
                    <a:pt x="268732" y="391160"/>
                  </a:lnTo>
                  <a:lnTo>
                    <a:pt x="268732" y="293370"/>
                  </a:lnTo>
                  <a:lnTo>
                    <a:pt x="0" y="293370"/>
                  </a:lnTo>
                  <a:close/>
                </a:path>
              </a:pathLst>
            </a:custGeom>
            <a:solidFill>
              <a:srgbClr val="2563EB"/>
            </a:solidFill>
            <a:ln w="19050" cap="sq">
              <a:solidFill>
                <a:srgbClr val="2563EB"/>
              </a:solidFill>
              <a:prstDash val="solid"/>
              <a:miter/>
            </a:ln>
          </p:spPr>
        </p:sp>
      </p:grpSp>
      <p:grpSp>
        <p:nvGrpSpPr>
          <p:cNvPr name="Group 58" id="58"/>
          <p:cNvGrpSpPr/>
          <p:nvPr/>
        </p:nvGrpSpPr>
        <p:grpSpPr>
          <a:xfrm rot="0">
            <a:off x="12174855" y="6299835"/>
            <a:ext cx="1457706" cy="1390650"/>
            <a:chOff x="0" y="0"/>
            <a:chExt cx="1943608" cy="1854200"/>
          </a:xfrm>
        </p:grpSpPr>
        <p:sp>
          <p:nvSpPr>
            <p:cNvPr name="Freeform 59" id="59"/>
            <p:cNvSpPr/>
            <p:nvPr/>
          </p:nvSpPr>
          <p:spPr>
            <a:xfrm flipH="false" flipV="false" rot="0">
              <a:off x="0" y="0"/>
              <a:ext cx="1943608" cy="1854200"/>
            </a:xfrm>
            <a:custGeom>
              <a:avLst/>
              <a:gdLst/>
              <a:ahLst/>
              <a:cxnLst/>
              <a:rect r="r" b="b" t="t" l="l"/>
              <a:pathLst>
                <a:path h="1854200" w="1943608">
                  <a:moveTo>
                    <a:pt x="0" y="185420"/>
                  </a:moveTo>
                  <a:cubicBezTo>
                    <a:pt x="0" y="83058"/>
                    <a:pt x="83058" y="0"/>
                    <a:pt x="185420" y="0"/>
                  </a:cubicBezTo>
                  <a:lnTo>
                    <a:pt x="1758188" y="0"/>
                  </a:lnTo>
                  <a:cubicBezTo>
                    <a:pt x="1860550" y="0"/>
                    <a:pt x="1943608" y="83058"/>
                    <a:pt x="1943608" y="185420"/>
                  </a:cubicBezTo>
                  <a:lnTo>
                    <a:pt x="1943608" y="1668780"/>
                  </a:lnTo>
                  <a:cubicBezTo>
                    <a:pt x="1943608" y="1771142"/>
                    <a:pt x="1860550" y="1854200"/>
                    <a:pt x="1758188" y="1854200"/>
                  </a:cubicBezTo>
                  <a:lnTo>
                    <a:pt x="185420" y="1854200"/>
                  </a:lnTo>
                  <a:cubicBezTo>
                    <a:pt x="83058" y="1854200"/>
                    <a:pt x="0" y="1771142"/>
                    <a:pt x="0" y="1668780"/>
                  </a:cubicBezTo>
                  <a:close/>
                </a:path>
              </a:pathLst>
            </a:custGeom>
            <a:solidFill>
              <a:srgbClr val="E3ECFB"/>
            </a:solidFill>
            <a:ln w="19050" cap="sq">
              <a:solidFill>
                <a:srgbClr val="2563EB"/>
              </a:solidFill>
              <a:prstDash val="solid"/>
              <a:miter/>
            </a:ln>
          </p:spPr>
        </p:sp>
      </p:grpSp>
      <p:grpSp>
        <p:nvGrpSpPr>
          <p:cNvPr name="Group 60" id="60"/>
          <p:cNvGrpSpPr/>
          <p:nvPr/>
        </p:nvGrpSpPr>
        <p:grpSpPr>
          <a:xfrm rot="0">
            <a:off x="12252960" y="6309360"/>
            <a:ext cx="1301496" cy="1371600"/>
            <a:chOff x="0" y="0"/>
            <a:chExt cx="1735328" cy="1828800"/>
          </a:xfrm>
        </p:grpSpPr>
        <p:sp>
          <p:nvSpPr>
            <p:cNvPr name="Freeform 61" id="61"/>
            <p:cNvSpPr/>
            <p:nvPr/>
          </p:nvSpPr>
          <p:spPr>
            <a:xfrm flipH="false" flipV="false" rot="0">
              <a:off x="0" y="0"/>
              <a:ext cx="1735328" cy="1828800"/>
            </a:xfrm>
            <a:custGeom>
              <a:avLst/>
              <a:gdLst/>
              <a:ahLst/>
              <a:cxnLst/>
              <a:rect r="r" b="b" t="t" l="l"/>
              <a:pathLst>
                <a:path h="1828800" w="1735328">
                  <a:moveTo>
                    <a:pt x="0" y="0"/>
                  </a:moveTo>
                  <a:lnTo>
                    <a:pt x="1735328" y="0"/>
                  </a:lnTo>
                  <a:lnTo>
                    <a:pt x="1735328" y="1828800"/>
                  </a:lnTo>
                  <a:lnTo>
                    <a:pt x="0" y="1828800"/>
                  </a:lnTo>
                  <a:close/>
                </a:path>
              </a:pathLst>
            </a:custGeom>
            <a:blipFill>
              <a:blip r:embed="rId3">
                <a:alphaModFix amt="0"/>
              </a:blip>
              <a:stretch>
                <a:fillRect l="-85214" t="0" r="-85214" b="0"/>
              </a:stretch>
            </a:blipFill>
          </p:spPr>
        </p:sp>
        <p:sp>
          <p:nvSpPr>
            <p:cNvPr name="TextBox 62" id="62"/>
            <p:cNvSpPr txBox="true"/>
            <p:nvPr/>
          </p:nvSpPr>
          <p:spPr>
            <a:xfrm>
              <a:off x="0" y="-38100"/>
              <a:ext cx="1735328" cy="1866900"/>
            </a:xfrm>
            <a:prstGeom prst="rect">
              <a:avLst/>
            </a:prstGeom>
          </p:spPr>
          <p:txBody>
            <a:bodyPr anchor="ctr" rtlCol="false" tIns="0" lIns="0" bIns="0" rIns="0"/>
            <a:lstStyle/>
            <a:p>
              <a:pPr algn="ctr">
                <a:lnSpc>
                  <a:spcPts val="1709"/>
                </a:lnSpc>
              </a:pPr>
              <a:r>
                <a:rPr lang="en-US" sz="1425" b="true">
                  <a:solidFill>
                    <a:srgbClr val="0F1F45"/>
                  </a:solidFill>
                  <a:latin typeface="Calibri (MS) Bold"/>
                  <a:ea typeface="Calibri (MS) Bold"/>
                  <a:cs typeface="Calibri (MS) Bold"/>
                  <a:sym typeface="Calibri (MS) Bold"/>
                </a:rPr>
                <a:t>Court Case</a:t>
              </a:r>
            </a:p>
          </p:txBody>
        </p:sp>
      </p:grpSp>
      <p:grpSp>
        <p:nvGrpSpPr>
          <p:cNvPr name="Group 63" id="63"/>
          <p:cNvGrpSpPr/>
          <p:nvPr/>
        </p:nvGrpSpPr>
        <p:grpSpPr>
          <a:xfrm rot="0">
            <a:off x="13668375" y="6848475"/>
            <a:ext cx="348234" cy="293370"/>
            <a:chOff x="0" y="0"/>
            <a:chExt cx="464312" cy="391160"/>
          </a:xfrm>
        </p:grpSpPr>
        <p:sp>
          <p:nvSpPr>
            <p:cNvPr name="Freeform 64" id="64"/>
            <p:cNvSpPr/>
            <p:nvPr/>
          </p:nvSpPr>
          <p:spPr>
            <a:xfrm flipH="false" flipV="false" rot="0">
              <a:off x="0" y="0"/>
              <a:ext cx="464312" cy="391160"/>
            </a:xfrm>
            <a:custGeom>
              <a:avLst/>
              <a:gdLst/>
              <a:ahLst/>
              <a:cxnLst/>
              <a:rect r="r" b="b" t="t" l="l"/>
              <a:pathLst>
                <a:path h="391160" w="464312">
                  <a:moveTo>
                    <a:pt x="0" y="97790"/>
                  </a:moveTo>
                  <a:lnTo>
                    <a:pt x="268732" y="97790"/>
                  </a:lnTo>
                  <a:lnTo>
                    <a:pt x="268732" y="0"/>
                  </a:lnTo>
                  <a:lnTo>
                    <a:pt x="464312" y="195580"/>
                  </a:lnTo>
                  <a:lnTo>
                    <a:pt x="268732" y="391160"/>
                  </a:lnTo>
                  <a:lnTo>
                    <a:pt x="268732" y="293370"/>
                  </a:lnTo>
                  <a:lnTo>
                    <a:pt x="0" y="293370"/>
                  </a:lnTo>
                  <a:close/>
                </a:path>
              </a:pathLst>
            </a:custGeom>
            <a:solidFill>
              <a:srgbClr val="2563EB"/>
            </a:solidFill>
            <a:ln w="19050" cap="sq">
              <a:solidFill>
                <a:srgbClr val="2563EB"/>
              </a:solidFill>
              <a:prstDash val="solid"/>
              <a:miter/>
            </a:ln>
          </p:spPr>
        </p:sp>
      </p:grpSp>
      <p:grpSp>
        <p:nvGrpSpPr>
          <p:cNvPr name="Group 65" id="65"/>
          <p:cNvGrpSpPr/>
          <p:nvPr/>
        </p:nvGrpSpPr>
        <p:grpSpPr>
          <a:xfrm rot="0">
            <a:off x="14052423" y="6299835"/>
            <a:ext cx="1457706" cy="1390650"/>
            <a:chOff x="0" y="0"/>
            <a:chExt cx="1943608" cy="1854200"/>
          </a:xfrm>
        </p:grpSpPr>
        <p:sp>
          <p:nvSpPr>
            <p:cNvPr name="Freeform 66" id="66"/>
            <p:cNvSpPr/>
            <p:nvPr/>
          </p:nvSpPr>
          <p:spPr>
            <a:xfrm flipH="false" flipV="false" rot="0">
              <a:off x="0" y="0"/>
              <a:ext cx="1943608" cy="1854200"/>
            </a:xfrm>
            <a:custGeom>
              <a:avLst/>
              <a:gdLst/>
              <a:ahLst/>
              <a:cxnLst/>
              <a:rect r="r" b="b" t="t" l="l"/>
              <a:pathLst>
                <a:path h="1854200" w="1943608">
                  <a:moveTo>
                    <a:pt x="0" y="185420"/>
                  </a:moveTo>
                  <a:cubicBezTo>
                    <a:pt x="0" y="83058"/>
                    <a:pt x="83058" y="0"/>
                    <a:pt x="185420" y="0"/>
                  </a:cubicBezTo>
                  <a:lnTo>
                    <a:pt x="1758188" y="0"/>
                  </a:lnTo>
                  <a:cubicBezTo>
                    <a:pt x="1860550" y="0"/>
                    <a:pt x="1943608" y="83058"/>
                    <a:pt x="1943608" y="185420"/>
                  </a:cubicBezTo>
                  <a:lnTo>
                    <a:pt x="1943608" y="1668780"/>
                  </a:lnTo>
                  <a:cubicBezTo>
                    <a:pt x="1943608" y="1771142"/>
                    <a:pt x="1860550" y="1854200"/>
                    <a:pt x="1758188" y="1854200"/>
                  </a:cubicBezTo>
                  <a:lnTo>
                    <a:pt x="185420" y="1854200"/>
                  </a:lnTo>
                  <a:cubicBezTo>
                    <a:pt x="83058" y="1854200"/>
                    <a:pt x="0" y="1771142"/>
                    <a:pt x="0" y="1668780"/>
                  </a:cubicBezTo>
                  <a:close/>
                </a:path>
              </a:pathLst>
            </a:custGeom>
            <a:solidFill>
              <a:srgbClr val="C7DAF8"/>
            </a:solidFill>
            <a:ln w="19050" cap="sq">
              <a:solidFill>
                <a:srgbClr val="2563EB"/>
              </a:solidFill>
              <a:prstDash val="solid"/>
              <a:miter/>
            </a:ln>
          </p:spPr>
        </p:sp>
      </p:grpSp>
      <p:grpSp>
        <p:nvGrpSpPr>
          <p:cNvPr name="Group 67" id="67"/>
          <p:cNvGrpSpPr/>
          <p:nvPr/>
        </p:nvGrpSpPr>
        <p:grpSpPr>
          <a:xfrm rot="0">
            <a:off x="14130528" y="6309360"/>
            <a:ext cx="1301496" cy="1371600"/>
            <a:chOff x="0" y="0"/>
            <a:chExt cx="1735328" cy="1828800"/>
          </a:xfrm>
        </p:grpSpPr>
        <p:sp>
          <p:nvSpPr>
            <p:cNvPr name="Freeform 68" id="68"/>
            <p:cNvSpPr/>
            <p:nvPr/>
          </p:nvSpPr>
          <p:spPr>
            <a:xfrm flipH="false" flipV="false" rot="0">
              <a:off x="0" y="0"/>
              <a:ext cx="1735328" cy="1828800"/>
            </a:xfrm>
            <a:custGeom>
              <a:avLst/>
              <a:gdLst/>
              <a:ahLst/>
              <a:cxnLst/>
              <a:rect r="r" b="b" t="t" l="l"/>
              <a:pathLst>
                <a:path h="1828800" w="1735328">
                  <a:moveTo>
                    <a:pt x="0" y="0"/>
                  </a:moveTo>
                  <a:lnTo>
                    <a:pt x="1735328" y="0"/>
                  </a:lnTo>
                  <a:lnTo>
                    <a:pt x="1735328" y="1828800"/>
                  </a:lnTo>
                  <a:lnTo>
                    <a:pt x="0" y="1828800"/>
                  </a:lnTo>
                  <a:close/>
                </a:path>
              </a:pathLst>
            </a:custGeom>
            <a:blipFill>
              <a:blip r:embed="rId3">
                <a:alphaModFix amt="0"/>
              </a:blip>
              <a:stretch>
                <a:fillRect l="-85214" t="0" r="-85214" b="0"/>
              </a:stretch>
            </a:blipFill>
          </p:spPr>
        </p:sp>
        <p:sp>
          <p:nvSpPr>
            <p:cNvPr name="TextBox 69" id="69"/>
            <p:cNvSpPr txBox="true"/>
            <p:nvPr/>
          </p:nvSpPr>
          <p:spPr>
            <a:xfrm>
              <a:off x="0" y="-38100"/>
              <a:ext cx="1735328" cy="1866900"/>
            </a:xfrm>
            <a:prstGeom prst="rect">
              <a:avLst/>
            </a:prstGeom>
          </p:spPr>
          <p:txBody>
            <a:bodyPr anchor="ctr" rtlCol="false" tIns="0" lIns="0" bIns="0" rIns="0"/>
            <a:lstStyle/>
            <a:p>
              <a:pPr algn="ctr">
                <a:lnSpc>
                  <a:spcPts val="1709"/>
                </a:lnSpc>
              </a:pPr>
              <a:r>
                <a:rPr lang="en-US" sz="1425" b="true">
                  <a:solidFill>
                    <a:srgbClr val="0F1F45"/>
                  </a:solidFill>
                  <a:latin typeface="Calibri (MS) Bold"/>
                  <a:ea typeface="Calibri (MS) Bold"/>
                  <a:cs typeface="Calibri (MS) Bold"/>
                  <a:sym typeface="Calibri (MS) Bold"/>
                </a:rPr>
                <a:t>Verdict</a:t>
              </a:r>
            </a:p>
          </p:txBody>
        </p:sp>
      </p:grpSp>
      <p:grpSp>
        <p:nvGrpSpPr>
          <p:cNvPr name="Group 70" id="70"/>
          <p:cNvGrpSpPr/>
          <p:nvPr/>
        </p:nvGrpSpPr>
        <p:grpSpPr>
          <a:xfrm rot="0">
            <a:off x="15545943" y="6848475"/>
            <a:ext cx="348234" cy="293370"/>
            <a:chOff x="0" y="0"/>
            <a:chExt cx="464312" cy="391160"/>
          </a:xfrm>
        </p:grpSpPr>
        <p:sp>
          <p:nvSpPr>
            <p:cNvPr name="Freeform 71" id="71"/>
            <p:cNvSpPr/>
            <p:nvPr/>
          </p:nvSpPr>
          <p:spPr>
            <a:xfrm flipH="false" flipV="false" rot="0">
              <a:off x="0" y="0"/>
              <a:ext cx="464312" cy="391160"/>
            </a:xfrm>
            <a:custGeom>
              <a:avLst/>
              <a:gdLst/>
              <a:ahLst/>
              <a:cxnLst/>
              <a:rect r="r" b="b" t="t" l="l"/>
              <a:pathLst>
                <a:path h="391160" w="464312">
                  <a:moveTo>
                    <a:pt x="0" y="97790"/>
                  </a:moveTo>
                  <a:lnTo>
                    <a:pt x="268732" y="97790"/>
                  </a:lnTo>
                  <a:lnTo>
                    <a:pt x="268732" y="0"/>
                  </a:lnTo>
                  <a:lnTo>
                    <a:pt x="464312" y="195580"/>
                  </a:lnTo>
                  <a:lnTo>
                    <a:pt x="268732" y="391160"/>
                  </a:lnTo>
                  <a:lnTo>
                    <a:pt x="268732" y="293370"/>
                  </a:lnTo>
                  <a:lnTo>
                    <a:pt x="0" y="293370"/>
                  </a:lnTo>
                  <a:close/>
                </a:path>
              </a:pathLst>
            </a:custGeom>
            <a:solidFill>
              <a:srgbClr val="2563EB"/>
            </a:solidFill>
            <a:ln w="19050" cap="sq">
              <a:solidFill>
                <a:srgbClr val="2563EB"/>
              </a:solidFill>
              <a:prstDash val="solid"/>
              <a:miter/>
            </a:ln>
          </p:spPr>
        </p:sp>
      </p:grpSp>
      <p:grpSp>
        <p:nvGrpSpPr>
          <p:cNvPr name="Group 72" id="72"/>
          <p:cNvGrpSpPr/>
          <p:nvPr/>
        </p:nvGrpSpPr>
        <p:grpSpPr>
          <a:xfrm rot="0">
            <a:off x="15929991" y="6299835"/>
            <a:ext cx="1457706" cy="1390650"/>
            <a:chOff x="0" y="0"/>
            <a:chExt cx="1943608" cy="1854200"/>
          </a:xfrm>
        </p:grpSpPr>
        <p:sp>
          <p:nvSpPr>
            <p:cNvPr name="Freeform 73" id="73"/>
            <p:cNvSpPr/>
            <p:nvPr/>
          </p:nvSpPr>
          <p:spPr>
            <a:xfrm flipH="false" flipV="false" rot="0">
              <a:off x="0" y="0"/>
              <a:ext cx="1943608" cy="1854200"/>
            </a:xfrm>
            <a:custGeom>
              <a:avLst/>
              <a:gdLst/>
              <a:ahLst/>
              <a:cxnLst/>
              <a:rect r="r" b="b" t="t" l="l"/>
              <a:pathLst>
                <a:path h="1854200" w="1943608">
                  <a:moveTo>
                    <a:pt x="0" y="185420"/>
                  </a:moveTo>
                  <a:cubicBezTo>
                    <a:pt x="0" y="83058"/>
                    <a:pt x="83058" y="0"/>
                    <a:pt x="185420" y="0"/>
                  </a:cubicBezTo>
                  <a:lnTo>
                    <a:pt x="1758188" y="0"/>
                  </a:lnTo>
                  <a:cubicBezTo>
                    <a:pt x="1860550" y="0"/>
                    <a:pt x="1943608" y="83058"/>
                    <a:pt x="1943608" y="185420"/>
                  </a:cubicBezTo>
                  <a:lnTo>
                    <a:pt x="1943608" y="1668780"/>
                  </a:lnTo>
                  <a:cubicBezTo>
                    <a:pt x="1943608" y="1771142"/>
                    <a:pt x="1860550" y="1854200"/>
                    <a:pt x="1758188" y="1854200"/>
                  </a:cubicBezTo>
                  <a:lnTo>
                    <a:pt x="185420" y="1854200"/>
                  </a:lnTo>
                  <a:cubicBezTo>
                    <a:pt x="83058" y="1854200"/>
                    <a:pt x="0" y="1771142"/>
                    <a:pt x="0" y="1668780"/>
                  </a:cubicBezTo>
                  <a:close/>
                </a:path>
              </a:pathLst>
            </a:custGeom>
            <a:solidFill>
              <a:srgbClr val="2563EB"/>
            </a:solidFill>
            <a:ln w="19050" cap="sq">
              <a:solidFill>
                <a:srgbClr val="1D4ED8"/>
              </a:solidFill>
              <a:prstDash val="solid"/>
              <a:miter/>
            </a:ln>
          </p:spPr>
        </p:sp>
      </p:grpSp>
      <p:grpSp>
        <p:nvGrpSpPr>
          <p:cNvPr name="Group 74" id="74"/>
          <p:cNvGrpSpPr/>
          <p:nvPr/>
        </p:nvGrpSpPr>
        <p:grpSpPr>
          <a:xfrm rot="0">
            <a:off x="16008096" y="6309360"/>
            <a:ext cx="1301496" cy="1371600"/>
            <a:chOff x="0" y="0"/>
            <a:chExt cx="1735328" cy="1828800"/>
          </a:xfrm>
        </p:grpSpPr>
        <p:sp>
          <p:nvSpPr>
            <p:cNvPr name="Freeform 75" id="75"/>
            <p:cNvSpPr/>
            <p:nvPr/>
          </p:nvSpPr>
          <p:spPr>
            <a:xfrm flipH="false" flipV="false" rot="0">
              <a:off x="0" y="0"/>
              <a:ext cx="1735328" cy="1828800"/>
            </a:xfrm>
            <a:custGeom>
              <a:avLst/>
              <a:gdLst/>
              <a:ahLst/>
              <a:cxnLst/>
              <a:rect r="r" b="b" t="t" l="l"/>
              <a:pathLst>
                <a:path h="1828800" w="1735328">
                  <a:moveTo>
                    <a:pt x="0" y="0"/>
                  </a:moveTo>
                  <a:lnTo>
                    <a:pt x="1735328" y="0"/>
                  </a:lnTo>
                  <a:lnTo>
                    <a:pt x="1735328" y="1828800"/>
                  </a:lnTo>
                  <a:lnTo>
                    <a:pt x="0" y="1828800"/>
                  </a:lnTo>
                  <a:close/>
                </a:path>
              </a:pathLst>
            </a:custGeom>
            <a:blipFill>
              <a:blip r:embed="rId3">
                <a:alphaModFix amt="0"/>
              </a:blip>
              <a:stretch>
                <a:fillRect l="-85214" t="0" r="-85214" b="0"/>
              </a:stretch>
            </a:blipFill>
          </p:spPr>
        </p:sp>
        <p:sp>
          <p:nvSpPr>
            <p:cNvPr name="TextBox 76" id="76"/>
            <p:cNvSpPr txBox="true"/>
            <p:nvPr/>
          </p:nvSpPr>
          <p:spPr>
            <a:xfrm>
              <a:off x="0" y="-38100"/>
              <a:ext cx="1735328" cy="186690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Audit</a:t>
              </a:r>
            </a:p>
          </p:txBody>
        </p:sp>
      </p:grpSp>
      <p:sp>
        <p:nvSpPr>
          <p:cNvPr name="TextBox 77" id="77"/>
          <p:cNvSpPr txBox="true"/>
          <p:nvPr/>
        </p:nvSpPr>
        <p:spPr>
          <a:xfrm rot="0">
            <a:off x="918972" y="8132445"/>
            <a:ext cx="16459200" cy="440055"/>
          </a:xfrm>
          <a:prstGeom prst="rect">
            <a:avLst/>
          </a:prstGeom>
        </p:spPr>
        <p:txBody>
          <a:bodyPr anchor="t" rtlCol="false" tIns="0" lIns="0" bIns="0" rIns="0">
            <a:spAutoFit/>
          </a:bodyPr>
          <a:lstStyle/>
          <a:p>
            <a:pPr algn="l">
              <a:lnSpc>
                <a:spcPts val="1980"/>
              </a:lnSpc>
            </a:pPr>
            <a:r>
              <a:rPr lang="en-US" sz="1650" i="true">
                <a:solidFill>
                  <a:srgbClr val="5B6B8C"/>
                </a:solidFill>
                <a:latin typeface="Calibri (MS) Italics"/>
                <a:ea typeface="Calibri (MS) Italics"/>
                <a:cs typeface="Calibri (MS) Italics"/>
                <a:sym typeface="Calibri (MS) Italics"/>
              </a:rPr>
              <a:t>Academic DBMS project built on public crime-data records; not an operational police system.</a:t>
            </a:r>
          </a:p>
        </p:txBody>
      </p:sp>
      <p:sp>
        <p:nvSpPr>
          <p:cNvPr name="Freeform 78" id="78"/>
          <p:cNvSpPr/>
          <p:nvPr/>
        </p:nvSpPr>
        <p:spPr>
          <a:xfrm flipH="false" flipV="false" rot="0">
            <a:off x="16247050" y="152298"/>
            <a:ext cx="1933060" cy="1006418"/>
          </a:xfrm>
          <a:custGeom>
            <a:avLst/>
            <a:gdLst/>
            <a:ahLst/>
            <a:cxnLst/>
            <a:rect r="r" b="b" t="t" l="l"/>
            <a:pathLst>
              <a:path h="1006418" w="1933060">
                <a:moveTo>
                  <a:pt x="0" y="0"/>
                </a:moveTo>
                <a:lnTo>
                  <a:pt x="1933060" y="0"/>
                </a:lnTo>
                <a:lnTo>
                  <a:pt x="1933060" y="1006418"/>
                </a:lnTo>
                <a:lnTo>
                  <a:pt x="0" y="1006418"/>
                </a:lnTo>
                <a:lnTo>
                  <a:pt x="0" y="0"/>
                </a:lnTo>
                <a:close/>
              </a:path>
            </a:pathLst>
          </a:custGeom>
          <a:blipFill>
            <a:blip r:embed="rId4"/>
            <a:stretch>
              <a:fillRect l="0" t="0" r="0" b="0"/>
            </a:stretch>
          </a:blipFill>
        </p:spPr>
      </p:sp>
      <p:sp>
        <p:nvSpPr>
          <p:cNvPr name="Freeform 79" id="79"/>
          <p:cNvSpPr/>
          <p:nvPr/>
        </p:nvSpPr>
        <p:spPr>
          <a:xfrm flipH="false" flipV="false" rot="0">
            <a:off x="0" y="9407477"/>
            <a:ext cx="13461945" cy="846145"/>
          </a:xfrm>
          <a:custGeom>
            <a:avLst/>
            <a:gdLst/>
            <a:ahLst/>
            <a:cxnLst/>
            <a:rect r="r" b="b" t="t" l="l"/>
            <a:pathLst>
              <a:path h="846145" w="13461945">
                <a:moveTo>
                  <a:pt x="0" y="0"/>
                </a:moveTo>
                <a:lnTo>
                  <a:pt x="13461945" y="0"/>
                </a:lnTo>
                <a:lnTo>
                  <a:pt x="13461945" y="846145"/>
                </a:lnTo>
                <a:lnTo>
                  <a:pt x="0" y="846145"/>
                </a:lnTo>
                <a:lnTo>
                  <a:pt x="0" y="0"/>
                </a:lnTo>
                <a:close/>
              </a:path>
            </a:pathLst>
          </a:custGeom>
          <a:blipFill>
            <a:blip r:embed="rId5"/>
            <a:stretch>
              <a:fillRect l="0" t="-22657" r="-4334" b="-20699"/>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8972" y="411480"/>
            <a:ext cx="16459200" cy="960120"/>
            <a:chOff x="0" y="0"/>
            <a:chExt cx="21945600" cy="1280160"/>
          </a:xfrm>
        </p:grpSpPr>
        <p:sp>
          <p:nvSpPr>
            <p:cNvPr name="Freeform 3" id="3"/>
            <p:cNvSpPr/>
            <p:nvPr/>
          </p:nvSpPr>
          <p:spPr>
            <a:xfrm flipH="false" flipV="false" rot="0">
              <a:off x="0" y="0"/>
              <a:ext cx="21945600" cy="1280160"/>
            </a:xfrm>
            <a:custGeom>
              <a:avLst/>
              <a:gdLst/>
              <a:ahLst/>
              <a:cxnLst/>
              <a:rect r="r" b="b" t="t" l="l"/>
              <a:pathLst>
                <a:path h="1280160" w="21945600">
                  <a:moveTo>
                    <a:pt x="0" y="0"/>
                  </a:moveTo>
                  <a:lnTo>
                    <a:pt x="21945600" y="0"/>
                  </a:lnTo>
                  <a:lnTo>
                    <a:pt x="21945600" y="1280160"/>
                  </a:lnTo>
                  <a:lnTo>
                    <a:pt x="0" y="1280160"/>
                  </a:lnTo>
                  <a:close/>
                </a:path>
              </a:pathLst>
            </a:custGeom>
            <a:blipFill>
              <a:blip r:embed="rId3">
                <a:alphaModFix amt="0"/>
              </a:blip>
              <a:stretch>
                <a:fillRect l="0" t="-284029" r="0" b="-284029"/>
              </a:stretch>
            </a:blipFill>
          </p:spPr>
        </p:sp>
        <p:sp>
          <p:nvSpPr>
            <p:cNvPr name="TextBox 4" id="4"/>
            <p:cNvSpPr txBox="true"/>
            <p:nvPr/>
          </p:nvSpPr>
          <p:spPr>
            <a:xfrm>
              <a:off x="0" y="-66675"/>
              <a:ext cx="21945600" cy="1346835"/>
            </a:xfrm>
            <a:prstGeom prst="rect">
              <a:avLst/>
            </a:prstGeom>
          </p:spPr>
          <p:txBody>
            <a:bodyPr anchor="ctr" rtlCol="false" tIns="0" lIns="0" bIns="0" rIns="0"/>
            <a:lstStyle/>
            <a:p>
              <a:pPr algn="l">
                <a:lnSpc>
                  <a:spcPts val="4320"/>
                </a:lnSpc>
              </a:pPr>
              <a:r>
                <a:rPr lang="en-US" sz="3600" b="true">
                  <a:solidFill>
                    <a:srgbClr val="2563EB"/>
                  </a:solidFill>
                  <a:latin typeface="Calibri (MS) Bold"/>
                  <a:ea typeface="Calibri (MS) Bold"/>
                  <a:cs typeface="Calibri (MS) Bold"/>
                  <a:sym typeface="Calibri (MS) Bold"/>
                </a:rPr>
                <a:t>03  </a:t>
              </a:r>
              <a:r>
                <a:rPr lang="en-US" sz="3600" b="true">
                  <a:solidFill>
                    <a:srgbClr val="0F1F45"/>
                  </a:solidFill>
                  <a:latin typeface="Calibri (MS) Bold"/>
                  <a:ea typeface="Calibri (MS) Bold"/>
                  <a:cs typeface="Calibri (MS) Bold"/>
                  <a:sym typeface="Calibri (MS) Bold"/>
                </a:rPr>
                <a:t>Relational Architecture: UNF → 1NF → 2NF → 3NF</a:t>
              </a:r>
            </a:p>
          </p:txBody>
        </p:sp>
      </p:grpSp>
      <p:sp>
        <p:nvSpPr>
          <p:cNvPr name="TextBox 5" id="5"/>
          <p:cNvSpPr txBox="true"/>
          <p:nvPr/>
        </p:nvSpPr>
        <p:spPr>
          <a:xfrm rot="0">
            <a:off x="918972" y="9476613"/>
            <a:ext cx="10972800" cy="440055"/>
          </a:xfrm>
          <a:prstGeom prst="rect">
            <a:avLst/>
          </a:prstGeom>
        </p:spPr>
        <p:txBody>
          <a:bodyPr anchor="t" rtlCol="false" tIns="0" lIns="0" bIns="0" rIns="0">
            <a:spAutoFit/>
          </a:bodyPr>
          <a:lstStyle/>
          <a:p>
            <a:pPr algn="l">
              <a:lnSpc>
                <a:spcPts val="1620"/>
              </a:lnSpc>
            </a:pPr>
            <a:r>
              <a:rPr lang="en-US" sz="1350">
                <a:solidFill>
                  <a:srgbClr val="5B6B8C"/>
                </a:solidFill>
                <a:latin typeface="Calibri (MS)"/>
                <a:ea typeface="Calibri (MS)"/>
                <a:cs typeface="Calibri (MS)"/>
                <a:sym typeface="Calibri (MS)"/>
              </a:rPr>
              <a:t>Gaurav Singh | P15 | CRPSMS | MySQL 8.0</a:t>
            </a:r>
          </a:p>
        </p:txBody>
      </p:sp>
      <p:sp>
        <p:nvSpPr>
          <p:cNvPr name="TextBox 6" id="6"/>
          <p:cNvSpPr txBox="true"/>
          <p:nvPr/>
        </p:nvSpPr>
        <p:spPr>
          <a:xfrm rot="0">
            <a:off x="15553944" y="9476613"/>
            <a:ext cx="1824228" cy="440055"/>
          </a:xfrm>
          <a:prstGeom prst="rect">
            <a:avLst/>
          </a:prstGeom>
        </p:spPr>
        <p:txBody>
          <a:bodyPr anchor="t" rtlCol="false" tIns="0" lIns="0" bIns="0" rIns="0">
            <a:spAutoFit/>
          </a:bodyPr>
          <a:lstStyle/>
          <a:p>
            <a:pPr algn="r">
              <a:lnSpc>
                <a:spcPts val="1620"/>
              </a:lnSpc>
            </a:pPr>
            <a:r>
              <a:rPr lang="en-US" sz="1350">
                <a:solidFill>
                  <a:srgbClr val="5B6B8C"/>
                </a:solidFill>
                <a:latin typeface="Calibri (MS)"/>
                <a:ea typeface="Calibri (MS)"/>
                <a:cs typeface="Calibri (MS)"/>
                <a:sym typeface="Calibri (MS)"/>
              </a:rPr>
              <a:t>3 / 8</a:t>
            </a:r>
          </a:p>
        </p:txBody>
      </p:sp>
      <p:grpSp>
        <p:nvGrpSpPr>
          <p:cNvPr name="Group 7" id="7"/>
          <p:cNvGrpSpPr/>
          <p:nvPr/>
        </p:nvGrpSpPr>
        <p:grpSpPr>
          <a:xfrm rot="0">
            <a:off x="909447" y="1773555"/>
            <a:ext cx="4271010" cy="1116330"/>
            <a:chOff x="0" y="0"/>
            <a:chExt cx="5694680" cy="1488440"/>
          </a:xfrm>
        </p:grpSpPr>
        <p:sp>
          <p:nvSpPr>
            <p:cNvPr name="Freeform 8" id="8"/>
            <p:cNvSpPr/>
            <p:nvPr/>
          </p:nvSpPr>
          <p:spPr>
            <a:xfrm flipH="false" flipV="false" rot="0">
              <a:off x="0" y="0"/>
              <a:ext cx="5694680" cy="1488440"/>
            </a:xfrm>
            <a:custGeom>
              <a:avLst/>
              <a:gdLst/>
              <a:ahLst/>
              <a:cxnLst/>
              <a:rect r="r" b="b" t="t" l="l"/>
              <a:pathLst>
                <a:path h="1488440" w="5694680">
                  <a:moveTo>
                    <a:pt x="0" y="186055"/>
                  </a:moveTo>
                  <a:cubicBezTo>
                    <a:pt x="0" y="83312"/>
                    <a:pt x="83312" y="0"/>
                    <a:pt x="186055" y="0"/>
                  </a:cubicBezTo>
                  <a:lnTo>
                    <a:pt x="5508625" y="0"/>
                  </a:lnTo>
                  <a:cubicBezTo>
                    <a:pt x="5611368" y="0"/>
                    <a:pt x="5694680" y="83312"/>
                    <a:pt x="5694680" y="186055"/>
                  </a:cubicBezTo>
                  <a:lnTo>
                    <a:pt x="5694680" y="1302385"/>
                  </a:lnTo>
                  <a:cubicBezTo>
                    <a:pt x="5694680" y="1405128"/>
                    <a:pt x="5611368" y="1488440"/>
                    <a:pt x="5508625" y="1488440"/>
                  </a:cubicBezTo>
                  <a:lnTo>
                    <a:pt x="186055" y="1488440"/>
                  </a:lnTo>
                  <a:cubicBezTo>
                    <a:pt x="83312" y="1488440"/>
                    <a:pt x="0" y="1405128"/>
                    <a:pt x="0" y="1302385"/>
                  </a:cubicBezTo>
                  <a:close/>
                </a:path>
              </a:pathLst>
            </a:custGeom>
            <a:solidFill>
              <a:srgbClr val="E3ECFB"/>
            </a:solidFill>
            <a:ln w="19050" cap="sq">
              <a:solidFill>
                <a:srgbClr val="2563EB"/>
              </a:solidFill>
              <a:prstDash val="solid"/>
              <a:miter/>
            </a:ln>
          </p:spPr>
        </p:sp>
      </p:grpSp>
      <p:grpSp>
        <p:nvGrpSpPr>
          <p:cNvPr name="Group 9" id="9"/>
          <p:cNvGrpSpPr/>
          <p:nvPr/>
        </p:nvGrpSpPr>
        <p:grpSpPr>
          <a:xfrm rot="0">
            <a:off x="987552" y="1783080"/>
            <a:ext cx="4114800" cy="1097280"/>
            <a:chOff x="0" y="0"/>
            <a:chExt cx="5486400" cy="1463040"/>
          </a:xfrm>
        </p:grpSpPr>
        <p:sp>
          <p:nvSpPr>
            <p:cNvPr name="Freeform 10" id="10"/>
            <p:cNvSpPr/>
            <p:nvPr/>
          </p:nvSpPr>
          <p:spPr>
            <a:xfrm flipH="false" flipV="false" rot="0">
              <a:off x="0" y="0"/>
              <a:ext cx="5486400" cy="1463040"/>
            </a:xfrm>
            <a:custGeom>
              <a:avLst/>
              <a:gdLst/>
              <a:ahLst/>
              <a:cxnLst/>
              <a:rect r="r" b="b" t="t" l="l"/>
              <a:pathLst>
                <a:path h="1463040" w="5486400">
                  <a:moveTo>
                    <a:pt x="0" y="0"/>
                  </a:moveTo>
                  <a:lnTo>
                    <a:pt x="5486400" y="0"/>
                  </a:lnTo>
                  <a:lnTo>
                    <a:pt x="5486400" y="1463040"/>
                  </a:lnTo>
                  <a:lnTo>
                    <a:pt x="0" y="1463040"/>
                  </a:lnTo>
                  <a:close/>
                </a:path>
              </a:pathLst>
            </a:custGeom>
            <a:blipFill>
              <a:blip r:embed="rId3">
                <a:alphaModFix amt="0"/>
              </a:blip>
              <a:stretch>
                <a:fillRect l="0" t="-23068" r="0" b="-23068"/>
              </a:stretch>
            </a:blipFill>
          </p:spPr>
        </p:sp>
        <p:sp>
          <p:nvSpPr>
            <p:cNvPr name="TextBox 11" id="11"/>
            <p:cNvSpPr txBox="true"/>
            <p:nvPr/>
          </p:nvSpPr>
          <p:spPr>
            <a:xfrm>
              <a:off x="0" y="-38100"/>
              <a:ext cx="5486400" cy="1501140"/>
            </a:xfrm>
            <a:prstGeom prst="rect">
              <a:avLst/>
            </a:prstGeom>
          </p:spPr>
          <p:txBody>
            <a:bodyPr anchor="ctr" rtlCol="false" tIns="0" lIns="0" bIns="0" rIns="0"/>
            <a:lstStyle/>
            <a:p>
              <a:pPr algn="ctr">
                <a:lnSpc>
                  <a:spcPts val="2070"/>
                </a:lnSpc>
              </a:pPr>
              <a:r>
                <a:rPr lang="en-US" sz="1725" b="true">
                  <a:solidFill>
                    <a:srgbClr val="0F1F45"/>
                  </a:solidFill>
                  <a:latin typeface="Calibri (MS) Bold"/>
                  <a:ea typeface="Calibri (MS) Bold"/>
                  <a:cs typeface="Calibri (MS) Bold"/>
                  <a:sym typeface="Calibri (MS) Bold"/>
                </a:rPr>
                <a:t>UNNORMALIZED TABLE</a:t>
              </a:r>
            </a:p>
          </p:txBody>
        </p:sp>
      </p:grpSp>
      <p:grpSp>
        <p:nvGrpSpPr>
          <p:cNvPr name="Group 12" id="12"/>
          <p:cNvGrpSpPr/>
          <p:nvPr/>
        </p:nvGrpSpPr>
        <p:grpSpPr>
          <a:xfrm rot="0">
            <a:off x="2857119" y="2953131"/>
            <a:ext cx="375666" cy="403098"/>
            <a:chOff x="0" y="0"/>
            <a:chExt cx="500888" cy="537464"/>
          </a:xfrm>
        </p:grpSpPr>
        <p:sp>
          <p:nvSpPr>
            <p:cNvPr name="Freeform 13" id="13"/>
            <p:cNvSpPr/>
            <p:nvPr/>
          </p:nvSpPr>
          <p:spPr>
            <a:xfrm flipH="false" flipV="false" rot="0">
              <a:off x="0" y="0"/>
              <a:ext cx="500888" cy="537464"/>
            </a:xfrm>
            <a:custGeom>
              <a:avLst/>
              <a:gdLst/>
              <a:ahLst/>
              <a:cxnLst/>
              <a:rect r="r" b="b" t="t" l="l"/>
              <a:pathLst>
                <a:path h="537464" w="500888">
                  <a:moveTo>
                    <a:pt x="0" y="287020"/>
                  </a:moveTo>
                  <a:lnTo>
                    <a:pt x="125222" y="287020"/>
                  </a:lnTo>
                  <a:lnTo>
                    <a:pt x="125222" y="0"/>
                  </a:lnTo>
                  <a:lnTo>
                    <a:pt x="375666" y="0"/>
                  </a:lnTo>
                  <a:lnTo>
                    <a:pt x="375666" y="287020"/>
                  </a:lnTo>
                  <a:lnTo>
                    <a:pt x="500888" y="287020"/>
                  </a:lnTo>
                  <a:lnTo>
                    <a:pt x="250444" y="537464"/>
                  </a:lnTo>
                  <a:close/>
                </a:path>
              </a:pathLst>
            </a:custGeom>
            <a:solidFill>
              <a:srgbClr val="2563EB"/>
            </a:solidFill>
            <a:ln w="19050" cap="sq">
              <a:solidFill>
                <a:srgbClr val="2563EB"/>
              </a:solidFill>
              <a:prstDash val="solid"/>
              <a:miter/>
            </a:ln>
          </p:spPr>
        </p:sp>
      </p:grpSp>
      <p:grpSp>
        <p:nvGrpSpPr>
          <p:cNvPr name="Group 14" id="14"/>
          <p:cNvGrpSpPr/>
          <p:nvPr/>
        </p:nvGrpSpPr>
        <p:grpSpPr>
          <a:xfrm rot="0">
            <a:off x="909447" y="3419475"/>
            <a:ext cx="4271010" cy="1116330"/>
            <a:chOff x="0" y="0"/>
            <a:chExt cx="5694680" cy="1488440"/>
          </a:xfrm>
        </p:grpSpPr>
        <p:sp>
          <p:nvSpPr>
            <p:cNvPr name="Freeform 15" id="15"/>
            <p:cNvSpPr/>
            <p:nvPr/>
          </p:nvSpPr>
          <p:spPr>
            <a:xfrm flipH="false" flipV="false" rot="0">
              <a:off x="0" y="0"/>
              <a:ext cx="5694680" cy="1488440"/>
            </a:xfrm>
            <a:custGeom>
              <a:avLst/>
              <a:gdLst/>
              <a:ahLst/>
              <a:cxnLst/>
              <a:rect r="r" b="b" t="t" l="l"/>
              <a:pathLst>
                <a:path h="1488440" w="5694680">
                  <a:moveTo>
                    <a:pt x="0" y="186055"/>
                  </a:moveTo>
                  <a:cubicBezTo>
                    <a:pt x="0" y="83312"/>
                    <a:pt x="83312" y="0"/>
                    <a:pt x="186055" y="0"/>
                  </a:cubicBezTo>
                  <a:lnTo>
                    <a:pt x="5508625" y="0"/>
                  </a:lnTo>
                  <a:cubicBezTo>
                    <a:pt x="5611368" y="0"/>
                    <a:pt x="5694680" y="83312"/>
                    <a:pt x="5694680" y="186055"/>
                  </a:cubicBezTo>
                  <a:lnTo>
                    <a:pt x="5694680" y="1302385"/>
                  </a:lnTo>
                  <a:cubicBezTo>
                    <a:pt x="5694680" y="1405128"/>
                    <a:pt x="5611368" y="1488440"/>
                    <a:pt x="5508625" y="1488440"/>
                  </a:cubicBezTo>
                  <a:lnTo>
                    <a:pt x="186055" y="1488440"/>
                  </a:lnTo>
                  <a:cubicBezTo>
                    <a:pt x="83312" y="1488440"/>
                    <a:pt x="0" y="1405128"/>
                    <a:pt x="0" y="1302385"/>
                  </a:cubicBezTo>
                  <a:close/>
                </a:path>
              </a:pathLst>
            </a:custGeom>
            <a:solidFill>
              <a:srgbClr val="C7DAF8"/>
            </a:solidFill>
            <a:ln w="19050" cap="sq">
              <a:solidFill>
                <a:srgbClr val="2563EB"/>
              </a:solidFill>
              <a:prstDash val="solid"/>
              <a:miter/>
            </a:ln>
          </p:spPr>
        </p:sp>
      </p:grpSp>
      <p:grpSp>
        <p:nvGrpSpPr>
          <p:cNvPr name="Group 16" id="16"/>
          <p:cNvGrpSpPr/>
          <p:nvPr/>
        </p:nvGrpSpPr>
        <p:grpSpPr>
          <a:xfrm rot="0">
            <a:off x="987552" y="3429000"/>
            <a:ext cx="4114800" cy="1097280"/>
            <a:chOff x="0" y="0"/>
            <a:chExt cx="5486400" cy="1463040"/>
          </a:xfrm>
        </p:grpSpPr>
        <p:sp>
          <p:nvSpPr>
            <p:cNvPr name="Freeform 17" id="17"/>
            <p:cNvSpPr/>
            <p:nvPr/>
          </p:nvSpPr>
          <p:spPr>
            <a:xfrm flipH="false" flipV="false" rot="0">
              <a:off x="0" y="0"/>
              <a:ext cx="5486400" cy="1463040"/>
            </a:xfrm>
            <a:custGeom>
              <a:avLst/>
              <a:gdLst/>
              <a:ahLst/>
              <a:cxnLst/>
              <a:rect r="r" b="b" t="t" l="l"/>
              <a:pathLst>
                <a:path h="1463040" w="5486400">
                  <a:moveTo>
                    <a:pt x="0" y="0"/>
                  </a:moveTo>
                  <a:lnTo>
                    <a:pt x="5486400" y="0"/>
                  </a:lnTo>
                  <a:lnTo>
                    <a:pt x="5486400" y="1463040"/>
                  </a:lnTo>
                  <a:lnTo>
                    <a:pt x="0" y="1463040"/>
                  </a:lnTo>
                  <a:close/>
                </a:path>
              </a:pathLst>
            </a:custGeom>
            <a:blipFill>
              <a:blip r:embed="rId3">
                <a:alphaModFix amt="0"/>
              </a:blip>
              <a:stretch>
                <a:fillRect l="0" t="-23068" r="0" b="-23068"/>
              </a:stretch>
            </a:blipFill>
          </p:spPr>
        </p:sp>
        <p:sp>
          <p:nvSpPr>
            <p:cNvPr name="TextBox 18" id="18"/>
            <p:cNvSpPr txBox="true"/>
            <p:nvPr/>
          </p:nvSpPr>
          <p:spPr>
            <a:xfrm>
              <a:off x="0" y="-38100"/>
              <a:ext cx="5486400" cy="1501140"/>
            </a:xfrm>
            <a:prstGeom prst="rect">
              <a:avLst/>
            </a:prstGeom>
          </p:spPr>
          <p:txBody>
            <a:bodyPr anchor="ctr" rtlCol="false" tIns="0" lIns="0" bIns="0" rIns="0"/>
            <a:lstStyle/>
            <a:p>
              <a:pPr algn="ctr">
                <a:lnSpc>
                  <a:spcPts val="2070"/>
                </a:lnSpc>
              </a:pPr>
              <a:r>
                <a:rPr lang="en-US" sz="1725" b="true">
                  <a:solidFill>
                    <a:srgbClr val="0F1F45"/>
                  </a:solidFill>
                  <a:latin typeface="Calibri (MS) Bold"/>
                  <a:ea typeface="Calibri (MS) Bold"/>
                  <a:cs typeface="Calibri (MS) Bold"/>
                  <a:sym typeface="Calibri (MS) Bold"/>
                </a:rPr>
                <a:t>1NF: Atomic attributes</a:t>
              </a:r>
            </a:p>
          </p:txBody>
        </p:sp>
      </p:grpSp>
      <p:grpSp>
        <p:nvGrpSpPr>
          <p:cNvPr name="Group 19" id="19"/>
          <p:cNvGrpSpPr/>
          <p:nvPr/>
        </p:nvGrpSpPr>
        <p:grpSpPr>
          <a:xfrm rot="0">
            <a:off x="2857119" y="4599051"/>
            <a:ext cx="375666" cy="403098"/>
            <a:chOff x="0" y="0"/>
            <a:chExt cx="500888" cy="537464"/>
          </a:xfrm>
        </p:grpSpPr>
        <p:sp>
          <p:nvSpPr>
            <p:cNvPr name="Freeform 20" id="20"/>
            <p:cNvSpPr/>
            <p:nvPr/>
          </p:nvSpPr>
          <p:spPr>
            <a:xfrm flipH="false" flipV="false" rot="0">
              <a:off x="0" y="0"/>
              <a:ext cx="500888" cy="537464"/>
            </a:xfrm>
            <a:custGeom>
              <a:avLst/>
              <a:gdLst/>
              <a:ahLst/>
              <a:cxnLst/>
              <a:rect r="r" b="b" t="t" l="l"/>
              <a:pathLst>
                <a:path h="537464" w="500888">
                  <a:moveTo>
                    <a:pt x="0" y="287020"/>
                  </a:moveTo>
                  <a:lnTo>
                    <a:pt x="125222" y="287020"/>
                  </a:lnTo>
                  <a:lnTo>
                    <a:pt x="125222" y="0"/>
                  </a:lnTo>
                  <a:lnTo>
                    <a:pt x="375666" y="0"/>
                  </a:lnTo>
                  <a:lnTo>
                    <a:pt x="375666" y="287020"/>
                  </a:lnTo>
                  <a:lnTo>
                    <a:pt x="500888" y="287020"/>
                  </a:lnTo>
                  <a:lnTo>
                    <a:pt x="250444" y="537464"/>
                  </a:lnTo>
                  <a:close/>
                </a:path>
              </a:pathLst>
            </a:custGeom>
            <a:solidFill>
              <a:srgbClr val="2563EB"/>
            </a:solidFill>
            <a:ln w="19050" cap="sq">
              <a:solidFill>
                <a:srgbClr val="2563EB"/>
              </a:solidFill>
              <a:prstDash val="solid"/>
              <a:miter/>
            </a:ln>
          </p:spPr>
        </p:sp>
      </p:grpSp>
      <p:grpSp>
        <p:nvGrpSpPr>
          <p:cNvPr name="Group 21" id="21"/>
          <p:cNvGrpSpPr/>
          <p:nvPr/>
        </p:nvGrpSpPr>
        <p:grpSpPr>
          <a:xfrm rot="0">
            <a:off x="909447" y="5065395"/>
            <a:ext cx="4271010" cy="1116330"/>
            <a:chOff x="0" y="0"/>
            <a:chExt cx="5694680" cy="1488440"/>
          </a:xfrm>
        </p:grpSpPr>
        <p:sp>
          <p:nvSpPr>
            <p:cNvPr name="Freeform 22" id="22"/>
            <p:cNvSpPr/>
            <p:nvPr/>
          </p:nvSpPr>
          <p:spPr>
            <a:xfrm flipH="false" flipV="false" rot="0">
              <a:off x="0" y="0"/>
              <a:ext cx="5694680" cy="1488440"/>
            </a:xfrm>
            <a:custGeom>
              <a:avLst/>
              <a:gdLst/>
              <a:ahLst/>
              <a:cxnLst/>
              <a:rect r="r" b="b" t="t" l="l"/>
              <a:pathLst>
                <a:path h="1488440" w="5694680">
                  <a:moveTo>
                    <a:pt x="0" y="186055"/>
                  </a:moveTo>
                  <a:cubicBezTo>
                    <a:pt x="0" y="83312"/>
                    <a:pt x="83312" y="0"/>
                    <a:pt x="186055" y="0"/>
                  </a:cubicBezTo>
                  <a:lnTo>
                    <a:pt x="5508625" y="0"/>
                  </a:lnTo>
                  <a:cubicBezTo>
                    <a:pt x="5611368" y="0"/>
                    <a:pt x="5694680" y="83312"/>
                    <a:pt x="5694680" y="186055"/>
                  </a:cubicBezTo>
                  <a:lnTo>
                    <a:pt x="5694680" y="1302385"/>
                  </a:lnTo>
                  <a:cubicBezTo>
                    <a:pt x="5694680" y="1405128"/>
                    <a:pt x="5611368" y="1488440"/>
                    <a:pt x="5508625" y="1488440"/>
                  </a:cubicBezTo>
                  <a:lnTo>
                    <a:pt x="186055" y="1488440"/>
                  </a:lnTo>
                  <a:cubicBezTo>
                    <a:pt x="83312" y="1488440"/>
                    <a:pt x="0" y="1405128"/>
                    <a:pt x="0" y="1302385"/>
                  </a:cubicBezTo>
                  <a:close/>
                </a:path>
              </a:pathLst>
            </a:custGeom>
            <a:solidFill>
              <a:srgbClr val="E3ECFB"/>
            </a:solidFill>
            <a:ln w="19050" cap="sq">
              <a:solidFill>
                <a:srgbClr val="2563EB"/>
              </a:solidFill>
              <a:prstDash val="solid"/>
              <a:miter/>
            </a:ln>
          </p:spPr>
        </p:sp>
      </p:grpSp>
      <p:grpSp>
        <p:nvGrpSpPr>
          <p:cNvPr name="Group 23" id="23"/>
          <p:cNvGrpSpPr/>
          <p:nvPr/>
        </p:nvGrpSpPr>
        <p:grpSpPr>
          <a:xfrm rot="0">
            <a:off x="987552" y="5074920"/>
            <a:ext cx="4114800" cy="1097280"/>
            <a:chOff x="0" y="0"/>
            <a:chExt cx="5486400" cy="1463040"/>
          </a:xfrm>
        </p:grpSpPr>
        <p:sp>
          <p:nvSpPr>
            <p:cNvPr name="Freeform 24" id="24"/>
            <p:cNvSpPr/>
            <p:nvPr/>
          </p:nvSpPr>
          <p:spPr>
            <a:xfrm flipH="false" flipV="false" rot="0">
              <a:off x="0" y="0"/>
              <a:ext cx="5486400" cy="1463040"/>
            </a:xfrm>
            <a:custGeom>
              <a:avLst/>
              <a:gdLst/>
              <a:ahLst/>
              <a:cxnLst/>
              <a:rect r="r" b="b" t="t" l="l"/>
              <a:pathLst>
                <a:path h="1463040" w="5486400">
                  <a:moveTo>
                    <a:pt x="0" y="0"/>
                  </a:moveTo>
                  <a:lnTo>
                    <a:pt x="5486400" y="0"/>
                  </a:lnTo>
                  <a:lnTo>
                    <a:pt x="5486400" y="1463040"/>
                  </a:lnTo>
                  <a:lnTo>
                    <a:pt x="0" y="1463040"/>
                  </a:lnTo>
                  <a:close/>
                </a:path>
              </a:pathLst>
            </a:custGeom>
            <a:blipFill>
              <a:blip r:embed="rId3">
                <a:alphaModFix amt="0"/>
              </a:blip>
              <a:stretch>
                <a:fillRect l="0" t="-23068" r="0" b="-23068"/>
              </a:stretch>
            </a:blipFill>
          </p:spPr>
        </p:sp>
        <p:sp>
          <p:nvSpPr>
            <p:cNvPr name="TextBox 25" id="25"/>
            <p:cNvSpPr txBox="true"/>
            <p:nvPr/>
          </p:nvSpPr>
          <p:spPr>
            <a:xfrm>
              <a:off x="0" y="-38100"/>
              <a:ext cx="5486400" cy="1501140"/>
            </a:xfrm>
            <a:prstGeom prst="rect">
              <a:avLst/>
            </a:prstGeom>
          </p:spPr>
          <p:txBody>
            <a:bodyPr anchor="ctr" rtlCol="false" tIns="0" lIns="0" bIns="0" rIns="0"/>
            <a:lstStyle/>
            <a:p>
              <a:pPr algn="ctr">
                <a:lnSpc>
                  <a:spcPts val="2070"/>
                </a:lnSpc>
              </a:pPr>
              <a:r>
                <a:rPr lang="en-US" sz="1725" b="true">
                  <a:solidFill>
                    <a:srgbClr val="0F1F45"/>
                  </a:solidFill>
                  <a:latin typeface="Calibri (MS) Bold"/>
                  <a:ea typeface="Calibri (MS) Bold"/>
                  <a:cs typeface="Calibri (MS) Bold"/>
                  <a:sym typeface="Calibri (MS) Bold"/>
                </a:rPr>
                <a:t>2NF: Remove partial dependencies</a:t>
              </a:r>
            </a:p>
          </p:txBody>
        </p:sp>
      </p:grpSp>
      <p:grpSp>
        <p:nvGrpSpPr>
          <p:cNvPr name="Group 26" id="26"/>
          <p:cNvGrpSpPr/>
          <p:nvPr/>
        </p:nvGrpSpPr>
        <p:grpSpPr>
          <a:xfrm rot="0">
            <a:off x="2857119" y="6244971"/>
            <a:ext cx="375666" cy="403098"/>
            <a:chOff x="0" y="0"/>
            <a:chExt cx="500888" cy="537464"/>
          </a:xfrm>
        </p:grpSpPr>
        <p:sp>
          <p:nvSpPr>
            <p:cNvPr name="Freeform 27" id="27"/>
            <p:cNvSpPr/>
            <p:nvPr/>
          </p:nvSpPr>
          <p:spPr>
            <a:xfrm flipH="false" flipV="false" rot="0">
              <a:off x="0" y="0"/>
              <a:ext cx="500888" cy="537464"/>
            </a:xfrm>
            <a:custGeom>
              <a:avLst/>
              <a:gdLst/>
              <a:ahLst/>
              <a:cxnLst/>
              <a:rect r="r" b="b" t="t" l="l"/>
              <a:pathLst>
                <a:path h="537464" w="500888">
                  <a:moveTo>
                    <a:pt x="0" y="287020"/>
                  </a:moveTo>
                  <a:lnTo>
                    <a:pt x="125222" y="287020"/>
                  </a:lnTo>
                  <a:lnTo>
                    <a:pt x="125222" y="0"/>
                  </a:lnTo>
                  <a:lnTo>
                    <a:pt x="375666" y="0"/>
                  </a:lnTo>
                  <a:lnTo>
                    <a:pt x="375666" y="287020"/>
                  </a:lnTo>
                  <a:lnTo>
                    <a:pt x="500888" y="287020"/>
                  </a:lnTo>
                  <a:lnTo>
                    <a:pt x="250444" y="537464"/>
                  </a:lnTo>
                  <a:close/>
                </a:path>
              </a:pathLst>
            </a:custGeom>
            <a:solidFill>
              <a:srgbClr val="2563EB"/>
            </a:solidFill>
            <a:ln w="19050" cap="sq">
              <a:solidFill>
                <a:srgbClr val="2563EB"/>
              </a:solidFill>
              <a:prstDash val="solid"/>
              <a:miter/>
            </a:ln>
          </p:spPr>
        </p:sp>
      </p:grpSp>
      <p:grpSp>
        <p:nvGrpSpPr>
          <p:cNvPr name="Group 28" id="28"/>
          <p:cNvGrpSpPr/>
          <p:nvPr/>
        </p:nvGrpSpPr>
        <p:grpSpPr>
          <a:xfrm rot="0">
            <a:off x="909447" y="6711315"/>
            <a:ext cx="4271010" cy="1116330"/>
            <a:chOff x="0" y="0"/>
            <a:chExt cx="5694680" cy="1488440"/>
          </a:xfrm>
        </p:grpSpPr>
        <p:sp>
          <p:nvSpPr>
            <p:cNvPr name="Freeform 29" id="29"/>
            <p:cNvSpPr/>
            <p:nvPr/>
          </p:nvSpPr>
          <p:spPr>
            <a:xfrm flipH="false" flipV="false" rot="0">
              <a:off x="0" y="0"/>
              <a:ext cx="5694680" cy="1488440"/>
            </a:xfrm>
            <a:custGeom>
              <a:avLst/>
              <a:gdLst/>
              <a:ahLst/>
              <a:cxnLst/>
              <a:rect r="r" b="b" t="t" l="l"/>
              <a:pathLst>
                <a:path h="1488440" w="5694680">
                  <a:moveTo>
                    <a:pt x="0" y="186055"/>
                  </a:moveTo>
                  <a:cubicBezTo>
                    <a:pt x="0" y="83312"/>
                    <a:pt x="83312" y="0"/>
                    <a:pt x="186055" y="0"/>
                  </a:cubicBezTo>
                  <a:lnTo>
                    <a:pt x="5508625" y="0"/>
                  </a:lnTo>
                  <a:cubicBezTo>
                    <a:pt x="5611368" y="0"/>
                    <a:pt x="5694680" y="83312"/>
                    <a:pt x="5694680" y="186055"/>
                  </a:cubicBezTo>
                  <a:lnTo>
                    <a:pt x="5694680" y="1302385"/>
                  </a:lnTo>
                  <a:cubicBezTo>
                    <a:pt x="5694680" y="1405128"/>
                    <a:pt x="5611368" y="1488440"/>
                    <a:pt x="5508625" y="1488440"/>
                  </a:cubicBezTo>
                  <a:lnTo>
                    <a:pt x="186055" y="1488440"/>
                  </a:lnTo>
                  <a:cubicBezTo>
                    <a:pt x="83312" y="1488440"/>
                    <a:pt x="0" y="1405128"/>
                    <a:pt x="0" y="1302385"/>
                  </a:cubicBezTo>
                  <a:close/>
                </a:path>
              </a:pathLst>
            </a:custGeom>
            <a:solidFill>
              <a:srgbClr val="C7DAF8"/>
            </a:solidFill>
            <a:ln w="19050" cap="sq">
              <a:solidFill>
                <a:srgbClr val="2563EB"/>
              </a:solidFill>
              <a:prstDash val="solid"/>
              <a:miter/>
            </a:ln>
          </p:spPr>
        </p:sp>
      </p:grpSp>
      <p:grpSp>
        <p:nvGrpSpPr>
          <p:cNvPr name="Group 30" id="30"/>
          <p:cNvGrpSpPr/>
          <p:nvPr/>
        </p:nvGrpSpPr>
        <p:grpSpPr>
          <a:xfrm rot="0">
            <a:off x="987552" y="6720840"/>
            <a:ext cx="4114800" cy="1097280"/>
            <a:chOff x="0" y="0"/>
            <a:chExt cx="5486400" cy="1463040"/>
          </a:xfrm>
        </p:grpSpPr>
        <p:sp>
          <p:nvSpPr>
            <p:cNvPr name="Freeform 31" id="31"/>
            <p:cNvSpPr/>
            <p:nvPr/>
          </p:nvSpPr>
          <p:spPr>
            <a:xfrm flipH="false" flipV="false" rot="0">
              <a:off x="0" y="0"/>
              <a:ext cx="5486400" cy="1463040"/>
            </a:xfrm>
            <a:custGeom>
              <a:avLst/>
              <a:gdLst/>
              <a:ahLst/>
              <a:cxnLst/>
              <a:rect r="r" b="b" t="t" l="l"/>
              <a:pathLst>
                <a:path h="1463040" w="5486400">
                  <a:moveTo>
                    <a:pt x="0" y="0"/>
                  </a:moveTo>
                  <a:lnTo>
                    <a:pt x="5486400" y="0"/>
                  </a:lnTo>
                  <a:lnTo>
                    <a:pt x="5486400" y="1463040"/>
                  </a:lnTo>
                  <a:lnTo>
                    <a:pt x="0" y="1463040"/>
                  </a:lnTo>
                  <a:close/>
                </a:path>
              </a:pathLst>
            </a:custGeom>
            <a:blipFill>
              <a:blip r:embed="rId3">
                <a:alphaModFix amt="0"/>
              </a:blip>
              <a:stretch>
                <a:fillRect l="0" t="-23068" r="0" b="-23068"/>
              </a:stretch>
            </a:blipFill>
          </p:spPr>
        </p:sp>
        <p:sp>
          <p:nvSpPr>
            <p:cNvPr name="TextBox 32" id="32"/>
            <p:cNvSpPr txBox="true"/>
            <p:nvPr/>
          </p:nvSpPr>
          <p:spPr>
            <a:xfrm>
              <a:off x="0" y="-38100"/>
              <a:ext cx="5486400" cy="1501140"/>
            </a:xfrm>
            <a:prstGeom prst="rect">
              <a:avLst/>
            </a:prstGeom>
          </p:spPr>
          <p:txBody>
            <a:bodyPr anchor="ctr" rtlCol="false" tIns="0" lIns="0" bIns="0" rIns="0"/>
            <a:lstStyle/>
            <a:p>
              <a:pPr algn="ctr">
                <a:lnSpc>
                  <a:spcPts val="2070"/>
                </a:lnSpc>
              </a:pPr>
              <a:r>
                <a:rPr lang="en-US" sz="1725" b="true">
                  <a:solidFill>
                    <a:srgbClr val="0F1F45"/>
                  </a:solidFill>
                  <a:latin typeface="Calibri (MS) Bold"/>
                  <a:ea typeface="Calibri (MS) Bold"/>
                  <a:cs typeface="Calibri (MS) Bold"/>
                  <a:sym typeface="Calibri (MS) Bold"/>
                </a:rPr>
                <a:t>3NF: Remove transitive dependencies</a:t>
              </a:r>
            </a:p>
          </p:txBody>
        </p:sp>
      </p:grpSp>
      <p:grpSp>
        <p:nvGrpSpPr>
          <p:cNvPr name="Group 33" id="33"/>
          <p:cNvGrpSpPr/>
          <p:nvPr/>
        </p:nvGrpSpPr>
        <p:grpSpPr>
          <a:xfrm rot="0">
            <a:off x="2857119" y="7890891"/>
            <a:ext cx="375666" cy="403098"/>
            <a:chOff x="0" y="0"/>
            <a:chExt cx="500888" cy="537464"/>
          </a:xfrm>
        </p:grpSpPr>
        <p:sp>
          <p:nvSpPr>
            <p:cNvPr name="Freeform 34" id="34"/>
            <p:cNvSpPr/>
            <p:nvPr/>
          </p:nvSpPr>
          <p:spPr>
            <a:xfrm flipH="false" flipV="false" rot="0">
              <a:off x="0" y="0"/>
              <a:ext cx="500888" cy="537464"/>
            </a:xfrm>
            <a:custGeom>
              <a:avLst/>
              <a:gdLst/>
              <a:ahLst/>
              <a:cxnLst/>
              <a:rect r="r" b="b" t="t" l="l"/>
              <a:pathLst>
                <a:path h="537464" w="500888">
                  <a:moveTo>
                    <a:pt x="0" y="287020"/>
                  </a:moveTo>
                  <a:lnTo>
                    <a:pt x="125222" y="287020"/>
                  </a:lnTo>
                  <a:lnTo>
                    <a:pt x="125222" y="0"/>
                  </a:lnTo>
                  <a:lnTo>
                    <a:pt x="375666" y="0"/>
                  </a:lnTo>
                  <a:lnTo>
                    <a:pt x="375666" y="287020"/>
                  </a:lnTo>
                  <a:lnTo>
                    <a:pt x="500888" y="287020"/>
                  </a:lnTo>
                  <a:lnTo>
                    <a:pt x="250444" y="537464"/>
                  </a:lnTo>
                  <a:close/>
                </a:path>
              </a:pathLst>
            </a:custGeom>
            <a:solidFill>
              <a:srgbClr val="2563EB"/>
            </a:solidFill>
            <a:ln w="19050" cap="sq">
              <a:solidFill>
                <a:srgbClr val="2563EB"/>
              </a:solidFill>
              <a:prstDash val="solid"/>
              <a:miter/>
            </a:ln>
          </p:spPr>
        </p:sp>
      </p:grpSp>
      <p:grpSp>
        <p:nvGrpSpPr>
          <p:cNvPr name="Group 35" id="35"/>
          <p:cNvGrpSpPr/>
          <p:nvPr/>
        </p:nvGrpSpPr>
        <p:grpSpPr>
          <a:xfrm rot="0">
            <a:off x="909447" y="8357235"/>
            <a:ext cx="4271010" cy="1116330"/>
            <a:chOff x="0" y="0"/>
            <a:chExt cx="5694680" cy="1488440"/>
          </a:xfrm>
        </p:grpSpPr>
        <p:sp>
          <p:nvSpPr>
            <p:cNvPr name="Freeform 36" id="36"/>
            <p:cNvSpPr/>
            <p:nvPr/>
          </p:nvSpPr>
          <p:spPr>
            <a:xfrm flipH="false" flipV="false" rot="0">
              <a:off x="0" y="0"/>
              <a:ext cx="5694680" cy="1488440"/>
            </a:xfrm>
            <a:custGeom>
              <a:avLst/>
              <a:gdLst/>
              <a:ahLst/>
              <a:cxnLst/>
              <a:rect r="r" b="b" t="t" l="l"/>
              <a:pathLst>
                <a:path h="1488440" w="5694680">
                  <a:moveTo>
                    <a:pt x="0" y="186055"/>
                  </a:moveTo>
                  <a:cubicBezTo>
                    <a:pt x="0" y="83312"/>
                    <a:pt x="83312" y="0"/>
                    <a:pt x="186055" y="0"/>
                  </a:cubicBezTo>
                  <a:lnTo>
                    <a:pt x="5508625" y="0"/>
                  </a:lnTo>
                  <a:cubicBezTo>
                    <a:pt x="5611368" y="0"/>
                    <a:pt x="5694680" y="83312"/>
                    <a:pt x="5694680" y="186055"/>
                  </a:cubicBezTo>
                  <a:lnTo>
                    <a:pt x="5694680" y="1302385"/>
                  </a:lnTo>
                  <a:cubicBezTo>
                    <a:pt x="5694680" y="1405128"/>
                    <a:pt x="5611368" y="1488440"/>
                    <a:pt x="5508625" y="1488440"/>
                  </a:cubicBezTo>
                  <a:lnTo>
                    <a:pt x="186055" y="1488440"/>
                  </a:lnTo>
                  <a:cubicBezTo>
                    <a:pt x="83312" y="1488440"/>
                    <a:pt x="0" y="1405128"/>
                    <a:pt x="0" y="1302385"/>
                  </a:cubicBezTo>
                  <a:close/>
                </a:path>
              </a:pathLst>
            </a:custGeom>
            <a:solidFill>
              <a:srgbClr val="2563EB"/>
            </a:solidFill>
            <a:ln w="19050" cap="sq">
              <a:solidFill>
                <a:srgbClr val="1D4ED8"/>
              </a:solidFill>
              <a:prstDash val="solid"/>
              <a:miter/>
            </a:ln>
          </p:spPr>
        </p:sp>
      </p:grpSp>
      <p:grpSp>
        <p:nvGrpSpPr>
          <p:cNvPr name="Group 37" id="37"/>
          <p:cNvGrpSpPr/>
          <p:nvPr/>
        </p:nvGrpSpPr>
        <p:grpSpPr>
          <a:xfrm rot="0">
            <a:off x="987552" y="8366760"/>
            <a:ext cx="4114800" cy="1097280"/>
            <a:chOff x="0" y="0"/>
            <a:chExt cx="5486400" cy="1463040"/>
          </a:xfrm>
        </p:grpSpPr>
        <p:sp>
          <p:nvSpPr>
            <p:cNvPr name="Freeform 38" id="38"/>
            <p:cNvSpPr/>
            <p:nvPr/>
          </p:nvSpPr>
          <p:spPr>
            <a:xfrm flipH="false" flipV="false" rot="0">
              <a:off x="0" y="0"/>
              <a:ext cx="5486400" cy="1463040"/>
            </a:xfrm>
            <a:custGeom>
              <a:avLst/>
              <a:gdLst/>
              <a:ahLst/>
              <a:cxnLst/>
              <a:rect r="r" b="b" t="t" l="l"/>
              <a:pathLst>
                <a:path h="1463040" w="5486400">
                  <a:moveTo>
                    <a:pt x="0" y="0"/>
                  </a:moveTo>
                  <a:lnTo>
                    <a:pt x="5486400" y="0"/>
                  </a:lnTo>
                  <a:lnTo>
                    <a:pt x="5486400" y="1463040"/>
                  </a:lnTo>
                  <a:lnTo>
                    <a:pt x="0" y="1463040"/>
                  </a:lnTo>
                  <a:close/>
                </a:path>
              </a:pathLst>
            </a:custGeom>
            <a:blipFill>
              <a:blip r:embed="rId3">
                <a:alphaModFix amt="0"/>
              </a:blip>
              <a:stretch>
                <a:fillRect l="0" t="-23068" r="0" b="-23068"/>
              </a:stretch>
            </a:blipFill>
          </p:spPr>
        </p:sp>
        <p:sp>
          <p:nvSpPr>
            <p:cNvPr name="TextBox 39" id="39"/>
            <p:cNvSpPr txBox="true"/>
            <p:nvPr/>
          </p:nvSpPr>
          <p:spPr>
            <a:xfrm>
              <a:off x="0" y="-38100"/>
              <a:ext cx="5486400" cy="1501140"/>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NORMALIZED CRPSMS</a:t>
              </a:r>
            </a:p>
          </p:txBody>
        </p:sp>
      </p:grpSp>
      <p:grpSp>
        <p:nvGrpSpPr>
          <p:cNvPr name="Group 40" id="40"/>
          <p:cNvGrpSpPr/>
          <p:nvPr/>
        </p:nvGrpSpPr>
        <p:grpSpPr>
          <a:xfrm rot="0">
            <a:off x="5616416" y="1775936"/>
            <a:ext cx="5775008" cy="2551748"/>
            <a:chOff x="0" y="0"/>
            <a:chExt cx="7700010" cy="3402330"/>
          </a:xfrm>
        </p:grpSpPr>
        <p:sp>
          <p:nvSpPr>
            <p:cNvPr name="Freeform 41" id="41"/>
            <p:cNvSpPr/>
            <p:nvPr/>
          </p:nvSpPr>
          <p:spPr>
            <a:xfrm flipH="false" flipV="false" rot="0">
              <a:off x="0" y="0"/>
              <a:ext cx="7700010" cy="3402330"/>
            </a:xfrm>
            <a:custGeom>
              <a:avLst/>
              <a:gdLst/>
              <a:ahLst/>
              <a:cxnLst/>
              <a:rect r="r" b="b" t="t" l="l"/>
              <a:pathLst>
                <a:path h="3402330" w="7700010">
                  <a:moveTo>
                    <a:pt x="0" y="0"/>
                  </a:moveTo>
                  <a:lnTo>
                    <a:pt x="7700010" y="0"/>
                  </a:lnTo>
                  <a:lnTo>
                    <a:pt x="7700010" y="3402330"/>
                  </a:lnTo>
                  <a:lnTo>
                    <a:pt x="0" y="3402330"/>
                  </a:lnTo>
                  <a:close/>
                </a:path>
              </a:pathLst>
            </a:custGeom>
            <a:solidFill>
              <a:srgbClr val="F0F5FF"/>
            </a:solidFill>
            <a:ln w="14288" cap="sq">
              <a:solidFill>
                <a:srgbClr val="C9D9F2"/>
              </a:solidFill>
              <a:prstDash val="solid"/>
              <a:miter/>
            </a:ln>
          </p:spPr>
        </p:sp>
      </p:grpSp>
      <p:sp>
        <p:nvSpPr>
          <p:cNvPr name="TextBox 42" id="42"/>
          <p:cNvSpPr txBox="true"/>
          <p:nvPr/>
        </p:nvSpPr>
        <p:spPr>
          <a:xfrm rot="0">
            <a:off x="5897880" y="1909572"/>
            <a:ext cx="521208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1NF</a:t>
            </a:r>
          </a:p>
        </p:txBody>
      </p:sp>
      <p:sp>
        <p:nvSpPr>
          <p:cNvPr name="TextBox 43" id="43"/>
          <p:cNvSpPr txBox="true"/>
          <p:nvPr/>
        </p:nvSpPr>
        <p:spPr>
          <a:xfrm rot="0">
            <a:off x="5897880" y="2362200"/>
            <a:ext cx="5280660" cy="1821180"/>
          </a:xfrm>
          <a:prstGeom prst="rect">
            <a:avLst/>
          </a:prstGeom>
        </p:spPr>
        <p:txBody>
          <a:bodyPr anchor="t" rtlCol="false" tIns="0" lIns="0" bIns="0" rIns="0">
            <a:spAutoFit/>
          </a:bodyPr>
          <a:lstStyle/>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Remove repeating / multi-valued crime-code columns</a:t>
            </a:r>
          </a:p>
        </p:txBody>
      </p:sp>
      <p:grpSp>
        <p:nvGrpSpPr>
          <p:cNvPr name="Group 44" id="44"/>
          <p:cNvGrpSpPr/>
          <p:nvPr/>
        </p:nvGrpSpPr>
        <p:grpSpPr>
          <a:xfrm rot="0">
            <a:off x="11651456" y="1775936"/>
            <a:ext cx="5733860" cy="2551748"/>
            <a:chOff x="0" y="0"/>
            <a:chExt cx="7645146" cy="3402330"/>
          </a:xfrm>
        </p:grpSpPr>
        <p:sp>
          <p:nvSpPr>
            <p:cNvPr name="Freeform 45" id="45"/>
            <p:cNvSpPr/>
            <p:nvPr/>
          </p:nvSpPr>
          <p:spPr>
            <a:xfrm flipH="false" flipV="false" rot="0">
              <a:off x="0" y="0"/>
              <a:ext cx="7645146" cy="3402330"/>
            </a:xfrm>
            <a:custGeom>
              <a:avLst/>
              <a:gdLst/>
              <a:ahLst/>
              <a:cxnLst/>
              <a:rect r="r" b="b" t="t" l="l"/>
              <a:pathLst>
                <a:path h="3402330" w="7645146">
                  <a:moveTo>
                    <a:pt x="0" y="0"/>
                  </a:moveTo>
                  <a:lnTo>
                    <a:pt x="7645146" y="0"/>
                  </a:lnTo>
                  <a:lnTo>
                    <a:pt x="7645146" y="3402330"/>
                  </a:lnTo>
                  <a:lnTo>
                    <a:pt x="0" y="3402330"/>
                  </a:lnTo>
                  <a:close/>
                </a:path>
              </a:pathLst>
            </a:custGeom>
            <a:solidFill>
              <a:srgbClr val="F0F5FF"/>
            </a:solidFill>
            <a:ln w="14288" cap="sq">
              <a:solidFill>
                <a:srgbClr val="C9D9F2"/>
              </a:solidFill>
              <a:prstDash val="solid"/>
              <a:miter/>
            </a:ln>
          </p:spPr>
        </p:sp>
      </p:grpSp>
      <p:sp>
        <p:nvSpPr>
          <p:cNvPr name="TextBox 46" id="46"/>
          <p:cNvSpPr txBox="true"/>
          <p:nvPr/>
        </p:nvSpPr>
        <p:spPr>
          <a:xfrm rot="0">
            <a:off x="11932920" y="1909572"/>
            <a:ext cx="5170932"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Unnormalized Table</a:t>
            </a:r>
          </a:p>
        </p:txBody>
      </p:sp>
      <p:grpSp>
        <p:nvGrpSpPr>
          <p:cNvPr name="Group 47" id="47"/>
          <p:cNvGrpSpPr/>
          <p:nvPr/>
        </p:nvGrpSpPr>
        <p:grpSpPr>
          <a:xfrm rot="0">
            <a:off x="11925776" y="2393156"/>
            <a:ext cx="5185220" cy="1728788"/>
            <a:chOff x="0" y="0"/>
            <a:chExt cx="6913626" cy="2305050"/>
          </a:xfrm>
        </p:grpSpPr>
        <p:sp>
          <p:nvSpPr>
            <p:cNvPr name="Freeform 48" id="48"/>
            <p:cNvSpPr/>
            <p:nvPr/>
          </p:nvSpPr>
          <p:spPr>
            <a:xfrm flipH="false" flipV="false" rot="0">
              <a:off x="0" y="0"/>
              <a:ext cx="6913626" cy="2305050"/>
            </a:xfrm>
            <a:custGeom>
              <a:avLst/>
              <a:gdLst/>
              <a:ahLst/>
              <a:cxnLst/>
              <a:rect r="r" b="b" t="t" l="l"/>
              <a:pathLst>
                <a:path h="2305050" w="6913626">
                  <a:moveTo>
                    <a:pt x="0" y="0"/>
                  </a:moveTo>
                  <a:lnTo>
                    <a:pt x="6913626" y="0"/>
                  </a:lnTo>
                  <a:lnTo>
                    <a:pt x="6913626" y="2305050"/>
                  </a:lnTo>
                  <a:lnTo>
                    <a:pt x="0" y="2305050"/>
                  </a:lnTo>
                  <a:close/>
                </a:path>
              </a:pathLst>
            </a:custGeom>
            <a:solidFill>
              <a:srgbClr val="FFFFFF"/>
            </a:solidFill>
            <a:ln w="14288" cap="sq">
              <a:solidFill>
                <a:srgbClr val="2563EB"/>
              </a:solidFill>
              <a:prstDash val="solid"/>
              <a:miter/>
            </a:ln>
          </p:spPr>
        </p:sp>
      </p:grpSp>
      <p:grpSp>
        <p:nvGrpSpPr>
          <p:cNvPr name="Group 49" id="49"/>
          <p:cNvGrpSpPr/>
          <p:nvPr/>
        </p:nvGrpSpPr>
        <p:grpSpPr>
          <a:xfrm rot="0">
            <a:off x="12138660" y="2510028"/>
            <a:ext cx="4759452" cy="1495044"/>
            <a:chOff x="0" y="0"/>
            <a:chExt cx="6345936" cy="1993392"/>
          </a:xfrm>
        </p:grpSpPr>
        <p:sp>
          <p:nvSpPr>
            <p:cNvPr name="Freeform 50" id="50"/>
            <p:cNvSpPr/>
            <p:nvPr/>
          </p:nvSpPr>
          <p:spPr>
            <a:xfrm flipH="false" flipV="false" rot="0">
              <a:off x="0" y="0"/>
              <a:ext cx="6345936" cy="1993392"/>
            </a:xfrm>
            <a:custGeom>
              <a:avLst/>
              <a:gdLst/>
              <a:ahLst/>
              <a:cxnLst/>
              <a:rect r="r" b="b" t="t" l="l"/>
              <a:pathLst>
                <a:path h="1993392" w="6345936">
                  <a:moveTo>
                    <a:pt x="0" y="0"/>
                  </a:moveTo>
                  <a:lnTo>
                    <a:pt x="6345936" y="0"/>
                  </a:lnTo>
                  <a:lnTo>
                    <a:pt x="6345936" y="1993392"/>
                  </a:lnTo>
                  <a:lnTo>
                    <a:pt x="0" y="1993392"/>
                  </a:lnTo>
                  <a:close/>
                </a:path>
              </a:pathLst>
            </a:custGeom>
            <a:blipFill>
              <a:blip r:embed="rId3">
                <a:alphaModFix amt="0"/>
              </a:blip>
              <a:stretch>
                <a:fillRect l="0" t="-12030" r="0" b="-12030"/>
              </a:stretch>
            </a:blipFill>
          </p:spPr>
        </p:sp>
        <p:sp>
          <p:nvSpPr>
            <p:cNvPr name="TextBox 51" id="51"/>
            <p:cNvSpPr txBox="true"/>
            <p:nvPr/>
          </p:nvSpPr>
          <p:spPr>
            <a:xfrm>
              <a:off x="0" y="-38100"/>
              <a:ext cx="6345936" cy="2031492"/>
            </a:xfrm>
            <a:prstGeom prst="rect">
              <a:avLst/>
            </a:prstGeom>
          </p:spPr>
          <p:txBody>
            <a:bodyPr anchor="ctr" rtlCol="false" tIns="0" lIns="0" bIns="0" rIns="0"/>
            <a:lstStyle/>
            <a:p>
              <a:pPr algn="l">
                <a:lnSpc>
                  <a:spcPts val="1709"/>
                </a:lnSpc>
              </a:pPr>
              <a:r>
                <a:rPr lang="en-US" sz="1425">
                  <a:solidFill>
                    <a:srgbClr val="0F1F45"/>
                  </a:solidFill>
                  <a:latin typeface="Consolas"/>
                  <a:ea typeface="Consolas"/>
                  <a:cs typeface="Consolas"/>
                  <a:sym typeface="Consolas"/>
                </a:rPr>
                <a:t>-- Instead of:</a:t>
              </a:r>
            </a:p>
            <a:p>
              <a:pPr algn="l">
                <a:lnSpc>
                  <a:spcPts val="1709"/>
                </a:lnSpc>
              </a:pPr>
              <a:r>
                <a:rPr lang="en-US" sz="1425">
                  <a:solidFill>
                    <a:srgbClr val="0F1F45"/>
                  </a:solidFill>
                  <a:latin typeface="Consolas"/>
                  <a:ea typeface="Consolas"/>
                  <a:cs typeface="Consolas"/>
                  <a:sym typeface="Consolas"/>
                </a:rPr>
                <a:t>Crm_Cd_1, Crm_Cd_2,</a:t>
              </a:r>
            </a:p>
            <a:p>
              <a:pPr algn="l">
                <a:lnSpc>
                  <a:spcPts val="1709"/>
                </a:lnSpc>
              </a:pPr>
              <a:r>
                <a:rPr lang="en-US" sz="1425">
                  <a:solidFill>
                    <a:srgbClr val="0F1F45"/>
                  </a:solidFill>
                  <a:latin typeface="Consolas"/>
                  <a:ea typeface="Consolas"/>
                  <a:cs typeface="Consolas"/>
                  <a:sym typeface="Consolas"/>
                </a:rPr>
                <a:t>Crm_Cd_3, Crm_Cd_4</a:t>
              </a:r>
            </a:p>
            <a:p>
              <a:pPr algn="l">
                <a:lnSpc>
                  <a:spcPts val="1709"/>
                </a:lnSpc>
              </a:pPr>
              <a:r>
                <a:rPr lang="en-US" sz="1425">
                  <a:solidFill>
                    <a:srgbClr val="0F1F45"/>
                  </a:solidFill>
                  <a:latin typeface="Consolas"/>
                  <a:ea typeface="Consolas"/>
                  <a:cs typeface="Consolas"/>
                  <a:sym typeface="Consolas"/>
                </a:rPr>
                <a:t>-- use:</a:t>
              </a:r>
            </a:p>
            <a:p>
              <a:pPr algn="l">
                <a:lnSpc>
                  <a:spcPts val="1709"/>
                </a:lnSpc>
              </a:pPr>
              <a:r>
                <a:rPr lang="en-US" sz="1425">
                  <a:solidFill>
                    <a:srgbClr val="0F1F45"/>
                  </a:solidFill>
                  <a:latin typeface="Consolas"/>
                  <a:ea typeface="Consolas"/>
                  <a:cs typeface="Consolas"/>
                  <a:sym typeface="Consolas"/>
                </a:rPr>
                <a:t>FIR_CrimeType(DR_NO, Crm_Cd)</a:t>
              </a:r>
            </a:p>
          </p:txBody>
        </p:sp>
      </p:grpSp>
      <p:grpSp>
        <p:nvGrpSpPr>
          <p:cNvPr name="Group 52" id="52"/>
          <p:cNvGrpSpPr/>
          <p:nvPr/>
        </p:nvGrpSpPr>
        <p:grpSpPr>
          <a:xfrm rot="0">
            <a:off x="5616416" y="4587716"/>
            <a:ext cx="5775008" cy="2757488"/>
            <a:chOff x="0" y="0"/>
            <a:chExt cx="7700010" cy="3676650"/>
          </a:xfrm>
        </p:grpSpPr>
        <p:sp>
          <p:nvSpPr>
            <p:cNvPr name="Freeform 53" id="53"/>
            <p:cNvSpPr/>
            <p:nvPr/>
          </p:nvSpPr>
          <p:spPr>
            <a:xfrm flipH="false" flipV="false" rot="0">
              <a:off x="0" y="0"/>
              <a:ext cx="7700010" cy="3676650"/>
            </a:xfrm>
            <a:custGeom>
              <a:avLst/>
              <a:gdLst/>
              <a:ahLst/>
              <a:cxnLst/>
              <a:rect r="r" b="b" t="t" l="l"/>
              <a:pathLst>
                <a:path h="3676650" w="7700010">
                  <a:moveTo>
                    <a:pt x="0" y="0"/>
                  </a:moveTo>
                  <a:lnTo>
                    <a:pt x="7700010" y="0"/>
                  </a:lnTo>
                  <a:lnTo>
                    <a:pt x="7700010" y="3676650"/>
                  </a:lnTo>
                  <a:lnTo>
                    <a:pt x="0" y="3676650"/>
                  </a:lnTo>
                  <a:close/>
                </a:path>
              </a:pathLst>
            </a:custGeom>
            <a:solidFill>
              <a:srgbClr val="F0F5FF"/>
            </a:solidFill>
            <a:ln w="14288" cap="sq">
              <a:solidFill>
                <a:srgbClr val="C9D9F2"/>
              </a:solidFill>
              <a:prstDash val="solid"/>
              <a:miter/>
            </a:ln>
          </p:spPr>
        </p:sp>
      </p:grpSp>
      <p:sp>
        <p:nvSpPr>
          <p:cNvPr name="TextBox 54" id="54"/>
          <p:cNvSpPr txBox="true"/>
          <p:nvPr/>
        </p:nvSpPr>
        <p:spPr>
          <a:xfrm rot="0">
            <a:off x="5897880" y="4721352"/>
            <a:ext cx="521208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2NF</a:t>
            </a:r>
          </a:p>
        </p:txBody>
      </p:sp>
      <p:sp>
        <p:nvSpPr>
          <p:cNvPr name="TextBox 55" id="55"/>
          <p:cNvSpPr txBox="true"/>
          <p:nvPr/>
        </p:nvSpPr>
        <p:spPr>
          <a:xfrm rot="0">
            <a:off x="5897880" y="5173980"/>
            <a:ext cx="5280660" cy="1958340"/>
          </a:xfrm>
          <a:prstGeom prst="rect">
            <a:avLst/>
          </a:prstGeom>
        </p:spPr>
        <p:txBody>
          <a:bodyPr anchor="t" rtlCol="false" tIns="0" lIns="0" bIns="0" rIns="0">
            <a:spAutoFit/>
          </a:bodyPr>
          <a:lstStyle/>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Remove partial dependencies from composite-key relationships</a:t>
            </a:r>
          </a:p>
        </p:txBody>
      </p:sp>
      <p:grpSp>
        <p:nvGrpSpPr>
          <p:cNvPr name="Group 56" id="56"/>
          <p:cNvGrpSpPr/>
          <p:nvPr/>
        </p:nvGrpSpPr>
        <p:grpSpPr>
          <a:xfrm rot="0">
            <a:off x="11651456" y="4587716"/>
            <a:ext cx="5733860" cy="2757488"/>
            <a:chOff x="0" y="0"/>
            <a:chExt cx="7645146" cy="3676650"/>
          </a:xfrm>
        </p:grpSpPr>
        <p:sp>
          <p:nvSpPr>
            <p:cNvPr name="Freeform 57" id="57"/>
            <p:cNvSpPr/>
            <p:nvPr/>
          </p:nvSpPr>
          <p:spPr>
            <a:xfrm flipH="false" flipV="false" rot="0">
              <a:off x="0" y="0"/>
              <a:ext cx="7645146" cy="3676650"/>
            </a:xfrm>
            <a:custGeom>
              <a:avLst/>
              <a:gdLst/>
              <a:ahLst/>
              <a:cxnLst/>
              <a:rect r="r" b="b" t="t" l="l"/>
              <a:pathLst>
                <a:path h="3676650" w="7645146">
                  <a:moveTo>
                    <a:pt x="0" y="0"/>
                  </a:moveTo>
                  <a:lnTo>
                    <a:pt x="7645146" y="0"/>
                  </a:lnTo>
                  <a:lnTo>
                    <a:pt x="7645146" y="3676650"/>
                  </a:lnTo>
                  <a:lnTo>
                    <a:pt x="0" y="3676650"/>
                  </a:lnTo>
                  <a:close/>
                </a:path>
              </a:pathLst>
            </a:custGeom>
            <a:solidFill>
              <a:srgbClr val="F0F5FF"/>
            </a:solidFill>
            <a:ln w="14288" cap="sq">
              <a:solidFill>
                <a:srgbClr val="C9D9F2"/>
              </a:solidFill>
              <a:prstDash val="solid"/>
              <a:miter/>
            </a:ln>
          </p:spPr>
        </p:sp>
      </p:grpSp>
      <p:sp>
        <p:nvSpPr>
          <p:cNvPr name="TextBox 58" id="58"/>
          <p:cNvSpPr txBox="true"/>
          <p:nvPr/>
        </p:nvSpPr>
        <p:spPr>
          <a:xfrm rot="0">
            <a:off x="11932920" y="4721352"/>
            <a:ext cx="5170932"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3NF</a:t>
            </a:r>
          </a:p>
        </p:txBody>
      </p:sp>
      <p:sp>
        <p:nvSpPr>
          <p:cNvPr name="TextBox 59" id="59"/>
          <p:cNvSpPr txBox="true"/>
          <p:nvPr/>
        </p:nvSpPr>
        <p:spPr>
          <a:xfrm rot="0">
            <a:off x="11932920" y="5146548"/>
            <a:ext cx="5212080" cy="861060"/>
          </a:xfrm>
          <a:prstGeom prst="rect">
            <a:avLst/>
          </a:prstGeom>
        </p:spPr>
        <p:txBody>
          <a:bodyPr anchor="t" rtlCol="false" tIns="0" lIns="0" bIns="0" rIns="0">
            <a:spAutoFit/>
          </a:bodyPr>
          <a:lstStyle/>
          <a:p>
            <a:pPr algn="l" marL="325755" indent="-162878" lvl="1">
              <a:lnSpc>
                <a:spcPts val="2160"/>
              </a:lnSpc>
              <a:buFont typeface="Arial"/>
              <a:buChar char="•"/>
            </a:pPr>
            <a:r>
              <a:rPr lang="en-US" sz="1800">
                <a:solidFill>
                  <a:srgbClr val="0F1F45"/>
                </a:solidFill>
                <a:latin typeface="Calibri (MS)"/>
                <a:ea typeface="Calibri (MS)"/>
                <a:cs typeface="Calibri (MS)"/>
                <a:sym typeface="Calibri (MS)"/>
              </a:rPr>
              <a:t>Remove transitive dependencies</a:t>
            </a:r>
          </a:p>
          <a:p>
            <a:pPr algn="l" marL="325755" indent="-162878" lvl="1">
              <a:lnSpc>
                <a:spcPts val="2160"/>
              </a:lnSpc>
              <a:buFont typeface="Arial"/>
              <a:buChar char="•"/>
            </a:pPr>
            <a:r>
              <a:rPr lang="en-US" sz="1800">
                <a:solidFill>
                  <a:srgbClr val="0F1F45"/>
                </a:solidFill>
                <a:latin typeface="Calibri (MS)"/>
                <a:ea typeface="Calibri (MS)"/>
                <a:cs typeface="Calibri (MS)"/>
                <a:sym typeface="Calibri (MS)"/>
              </a:rPr>
              <a:t>Station data separated:</a:t>
            </a:r>
          </a:p>
        </p:txBody>
      </p:sp>
      <p:grpSp>
        <p:nvGrpSpPr>
          <p:cNvPr name="Group 60" id="60"/>
          <p:cNvGrpSpPr/>
          <p:nvPr/>
        </p:nvGrpSpPr>
        <p:grpSpPr>
          <a:xfrm rot="0">
            <a:off x="11925776" y="6165056"/>
            <a:ext cx="5185220" cy="974407"/>
            <a:chOff x="0" y="0"/>
            <a:chExt cx="6913626" cy="1299210"/>
          </a:xfrm>
        </p:grpSpPr>
        <p:sp>
          <p:nvSpPr>
            <p:cNvPr name="Freeform 61" id="61"/>
            <p:cNvSpPr/>
            <p:nvPr/>
          </p:nvSpPr>
          <p:spPr>
            <a:xfrm flipH="false" flipV="false" rot="0">
              <a:off x="0" y="0"/>
              <a:ext cx="6913626" cy="1299210"/>
            </a:xfrm>
            <a:custGeom>
              <a:avLst/>
              <a:gdLst/>
              <a:ahLst/>
              <a:cxnLst/>
              <a:rect r="r" b="b" t="t" l="l"/>
              <a:pathLst>
                <a:path h="1299210" w="6913626">
                  <a:moveTo>
                    <a:pt x="0" y="0"/>
                  </a:moveTo>
                  <a:lnTo>
                    <a:pt x="6913626" y="0"/>
                  </a:lnTo>
                  <a:lnTo>
                    <a:pt x="6913626" y="1299210"/>
                  </a:lnTo>
                  <a:lnTo>
                    <a:pt x="0" y="1299210"/>
                  </a:lnTo>
                  <a:close/>
                </a:path>
              </a:pathLst>
            </a:custGeom>
            <a:solidFill>
              <a:srgbClr val="FFFFFF"/>
            </a:solidFill>
            <a:ln w="14288" cap="sq">
              <a:solidFill>
                <a:srgbClr val="2563EB"/>
              </a:solidFill>
              <a:prstDash val="solid"/>
              <a:miter/>
            </a:ln>
          </p:spPr>
        </p:sp>
      </p:grpSp>
      <p:grpSp>
        <p:nvGrpSpPr>
          <p:cNvPr name="Group 62" id="62"/>
          <p:cNvGrpSpPr/>
          <p:nvPr/>
        </p:nvGrpSpPr>
        <p:grpSpPr>
          <a:xfrm rot="0">
            <a:off x="12138660" y="6281928"/>
            <a:ext cx="4759452" cy="740664"/>
            <a:chOff x="0" y="0"/>
            <a:chExt cx="6345936" cy="987552"/>
          </a:xfrm>
        </p:grpSpPr>
        <p:sp>
          <p:nvSpPr>
            <p:cNvPr name="Freeform 63" id="63"/>
            <p:cNvSpPr/>
            <p:nvPr/>
          </p:nvSpPr>
          <p:spPr>
            <a:xfrm flipH="false" flipV="false" rot="0">
              <a:off x="0" y="0"/>
              <a:ext cx="6345936" cy="987552"/>
            </a:xfrm>
            <a:custGeom>
              <a:avLst/>
              <a:gdLst/>
              <a:ahLst/>
              <a:cxnLst/>
              <a:rect r="r" b="b" t="t" l="l"/>
              <a:pathLst>
                <a:path h="987552" w="6345936">
                  <a:moveTo>
                    <a:pt x="0" y="0"/>
                  </a:moveTo>
                  <a:lnTo>
                    <a:pt x="6345936" y="0"/>
                  </a:lnTo>
                  <a:lnTo>
                    <a:pt x="6345936" y="987552"/>
                  </a:lnTo>
                  <a:lnTo>
                    <a:pt x="0" y="987552"/>
                  </a:lnTo>
                  <a:close/>
                </a:path>
              </a:pathLst>
            </a:custGeom>
            <a:blipFill>
              <a:blip r:embed="rId3">
                <a:alphaModFix amt="0"/>
              </a:blip>
              <a:stretch>
                <a:fillRect l="0" t="-75209" r="0" b="-75209"/>
              </a:stretch>
            </a:blipFill>
          </p:spPr>
        </p:sp>
        <p:sp>
          <p:nvSpPr>
            <p:cNvPr name="TextBox 64" id="64"/>
            <p:cNvSpPr txBox="true"/>
            <p:nvPr/>
          </p:nvSpPr>
          <p:spPr>
            <a:xfrm>
              <a:off x="0" y="-38100"/>
              <a:ext cx="6345936" cy="1025652"/>
            </a:xfrm>
            <a:prstGeom prst="rect">
              <a:avLst/>
            </a:prstGeom>
          </p:spPr>
          <p:txBody>
            <a:bodyPr anchor="ctr" rtlCol="false" tIns="0" lIns="0" bIns="0" rIns="0"/>
            <a:lstStyle/>
            <a:p>
              <a:pPr algn="l">
                <a:lnSpc>
                  <a:spcPts val="1709"/>
                </a:lnSpc>
              </a:pPr>
              <a:r>
                <a:rPr lang="en-US" sz="1425">
                  <a:solidFill>
                    <a:srgbClr val="0F1F45"/>
                  </a:solidFill>
                  <a:latin typeface="Consolas"/>
                  <a:ea typeface="Consolas"/>
                  <a:cs typeface="Consolas"/>
                  <a:sym typeface="Consolas"/>
                </a:rPr>
                <a:t>DR_NO → AREA → AREA_NAME</a:t>
              </a:r>
            </a:p>
            <a:p>
              <a:pPr algn="l">
                <a:lnSpc>
                  <a:spcPts val="1709"/>
                </a:lnSpc>
              </a:pPr>
              <a:r>
                <a:rPr lang="en-US" sz="1425">
                  <a:solidFill>
                    <a:srgbClr val="0F1F45"/>
                  </a:solidFill>
                  <a:latin typeface="Consolas"/>
                  <a:ea typeface="Consolas"/>
                  <a:cs typeface="Consolas"/>
                  <a:sym typeface="Consolas"/>
                </a:rPr>
                <a:t>PoliceStation(AREA, AREA_NAME)</a:t>
              </a:r>
            </a:p>
          </p:txBody>
        </p:sp>
      </p:grpSp>
      <p:grpSp>
        <p:nvGrpSpPr>
          <p:cNvPr name="Group 65" id="65"/>
          <p:cNvGrpSpPr/>
          <p:nvPr/>
        </p:nvGrpSpPr>
        <p:grpSpPr>
          <a:xfrm rot="0">
            <a:off x="5616416" y="7605236"/>
            <a:ext cx="11768900" cy="1523048"/>
            <a:chOff x="0" y="0"/>
            <a:chExt cx="15691866" cy="2030730"/>
          </a:xfrm>
        </p:grpSpPr>
        <p:sp>
          <p:nvSpPr>
            <p:cNvPr name="Freeform 66" id="66"/>
            <p:cNvSpPr/>
            <p:nvPr/>
          </p:nvSpPr>
          <p:spPr>
            <a:xfrm flipH="false" flipV="false" rot="0">
              <a:off x="0" y="0"/>
              <a:ext cx="15691865" cy="2030730"/>
            </a:xfrm>
            <a:custGeom>
              <a:avLst/>
              <a:gdLst/>
              <a:ahLst/>
              <a:cxnLst/>
              <a:rect r="r" b="b" t="t" l="l"/>
              <a:pathLst>
                <a:path h="2030730" w="15691865">
                  <a:moveTo>
                    <a:pt x="0" y="0"/>
                  </a:moveTo>
                  <a:lnTo>
                    <a:pt x="15691865" y="0"/>
                  </a:lnTo>
                  <a:lnTo>
                    <a:pt x="15691865" y="2030730"/>
                  </a:lnTo>
                  <a:lnTo>
                    <a:pt x="0" y="2030730"/>
                  </a:lnTo>
                  <a:close/>
                </a:path>
              </a:pathLst>
            </a:custGeom>
            <a:solidFill>
              <a:srgbClr val="C7DAF8"/>
            </a:solidFill>
            <a:ln w="14288" cap="sq">
              <a:solidFill>
                <a:srgbClr val="C9D9F2"/>
              </a:solidFill>
              <a:prstDash val="solid"/>
              <a:miter/>
            </a:ln>
          </p:spPr>
        </p:sp>
      </p:grpSp>
      <p:sp>
        <p:nvSpPr>
          <p:cNvPr name="TextBox 67" id="67"/>
          <p:cNvSpPr txBox="true"/>
          <p:nvPr/>
        </p:nvSpPr>
        <p:spPr>
          <a:xfrm rot="0">
            <a:off x="5897880" y="7738872"/>
            <a:ext cx="11205972"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Outcome</a:t>
            </a:r>
          </a:p>
        </p:txBody>
      </p:sp>
      <p:sp>
        <p:nvSpPr>
          <p:cNvPr name="TextBox 68" id="68"/>
          <p:cNvSpPr txBox="true"/>
          <p:nvPr/>
        </p:nvSpPr>
        <p:spPr>
          <a:xfrm rot="0">
            <a:off x="5897880" y="8113395"/>
            <a:ext cx="11247120" cy="870585"/>
          </a:xfrm>
          <a:prstGeom prst="rect">
            <a:avLst/>
          </a:prstGeom>
        </p:spPr>
        <p:txBody>
          <a:bodyPr anchor="t" rtlCol="false" tIns="0" lIns="0" bIns="0" rIns="0">
            <a:spAutoFit/>
          </a:bodyPr>
          <a:lstStyle/>
          <a:p>
            <a:pPr algn="l">
              <a:lnSpc>
                <a:spcPts val="2340"/>
              </a:lnSpc>
            </a:pPr>
            <a:r>
              <a:rPr lang="en-US" sz="1950" b="true">
                <a:solidFill>
                  <a:srgbClr val="0F1F45"/>
                </a:solidFill>
                <a:latin typeface="Calibri (MS) Bold"/>
                <a:ea typeface="Calibri (MS) Bold"/>
                <a:cs typeface="Calibri (MS) Bold"/>
                <a:sym typeface="Calibri (MS) Bold"/>
              </a:rPr>
              <a:t>Reduced redundancy • Improved consistency • Better maintainability • Lossless decomposition</a:t>
            </a:r>
          </a:p>
        </p:txBody>
      </p:sp>
      <p:sp>
        <p:nvSpPr>
          <p:cNvPr name="Freeform 69" id="69"/>
          <p:cNvSpPr/>
          <p:nvPr/>
        </p:nvSpPr>
        <p:spPr>
          <a:xfrm flipH="false" flipV="false" rot="0">
            <a:off x="16247050" y="152298"/>
            <a:ext cx="1933060" cy="1006418"/>
          </a:xfrm>
          <a:custGeom>
            <a:avLst/>
            <a:gdLst/>
            <a:ahLst/>
            <a:cxnLst/>
            <a:rect r="r" b="b" t="t" l="l"/>
            <a:pathLst>
              <a:path h="1006418" w="1933060">
                <a:moveTo>
                  <a:pt x="0" y="0"/>
                </a:moveTo>
                <a:lnTo>
                  <a:pt x="1933060" y="0"/>
                </a:lnTo>
                <a:lnTo>
                  <a:pt x="1933060" y="1006418"/>
                </a:lnTo>
                <a:lnTo>
                  <a:pt x="0" y="1006418"/>
                </a:lnTo>
                <a:lnTo>
                  <a:pt x="0" y="0"/>
                </a:lnTo>
                <a:close/>
              </a:path>
            </a:pathLst>
          </a:custGeom>
          <a:blipFill>
            <a:blip r:embed="rId4"/>
            <a:stretch>
              <a:fillRect l="0" t="0" r="0" b="0"/>
            </a:stretch>
          </a:blipFill>
        </p:spPr>
      </p:sp>
      <p:sp>
        <p:nvSpPr>
          <p:cNvPr name="Freeform 70" id="70"/>
          <p:cNvSpPr/>
          <p:nvPr/>
        </p:nvSpPr>
        <p:spPr>
          <a:xfrm flipH="false" flipV="false" rot="0">
            <a:off x="0" y="9749790"/>
            <a:ext cx="13461945" cy="882491"/>
          </a:xfrm>
          <a:custGeom>
            <a:avLst/>
            <a:gdLst/>
            <a:ahLst/>
            <a:cxnLst/>
            <a:rect r="r" b="b" t="t" l="l"/>
            <a:pathLst>
              <a:path h="882491" w="13461945">
                <a:moveTo>
                  <a:pt x="0" y="0"/>
                </a:moveTo>
                <a:lnTo>
                  <a:pt x="13461945" y="0"/>
                </a:lnTo>
                <a:lnTo>
                  <a:pt x="13461945" y="882491"/>
                </a:lnTo>
                <a:lnTo>
                  <a:pt x="0" y="882491"/>
                </a:lnTo>
                <a:lnTo>
                  <a:pt x="0" y="0"/>
                </a:lnTo>
                <a:close/>
              </a:path>
            </a:pathLst>
          </a:custGeom>
          <a:blipFill>
            <a:blip r:embed="rId5"/>
            <a:stretch>
              <a:fillRect l="0" t="-21388" r="-4334" b="-16065"/>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8972" y="411480"/>
            <a:ext cx="16459200" cy="960120"/>
            <a:chOff x="0" y="0"/>
            <a:chExt cx="21945600" cy="1280160"/>
          </a:xfrm>
        </p:grpSpPr>
        <p:sp>
          <p:nvSpPr>
            <p:cNvPr name="Freeform 3" id="3"/>
            <p:cNvSpPr/>
            <p:nvPr/>
          </p:nvSpPr>
          <p:spPr>
            <a:xfrm flipH="false" flipV="false" rot="0">
              <a:off x="0" y="0"/>
              <a:ext cx="21945600" cy="1280160"/>
            </a:xfrm>
            <a:custGeom>
              <a:avLst/>
              <a:gdLst/>
              <a:ahLst/>
              <a:cxnLst/>
              <a:rect r="r" b="b" t="t" l="l"/>
              <a:pathLst>
                <a:path h="1280160" w="21945600">
                  <a:moveTo>
                    <a:pt x="0" y="0"/>
                  </a:moveTo>
                  <a:lnTo>
                    <a:pt x="21945600" y="0"/>
                  </a:lnTo>
                  <a:lnTo>
                    <a:pt x="21945600" y="1280160"/>
                  </a:lnTo>
                  <a:lnTo>
                    <a:pt x="0" y="1280160"/>
                  </a:lnTo>
                  <a:close/>
                </a:path>
              </a:pathLst>
            </a:custGeom>
            <a:blipFill>
              <a:blip r:embed="rId3">
                <a:alphaModFix amt="0"/>
              </a:blip>
              <a:stretch>
                <a:fillRect l="0" t="-284029" r="0" b="-284029"/>
              </a:stretch>
            </a:blipFill>
          </p:spPr>
        </p:sp>
        <p:sp>
          <p:nvSpPr>
            <p:cNvPr name="TextBox 4" id="4"/>
            <p:cNvSpPr txBox="true"/>
            <p:nvPr/>
          </p:nvSpPr>
          <p:spPr>
            <a:xfrm>
              <a:off x="0" y="-66675"/>
              <a:ext cx="21945600" cy="1346835"/>
            </a:xfrm>
            <a:prstGeom prst="rect">
              <a:avLst/>
            </a:prstGeom>
          </p:spPr>
          <p:txBody>
            <a:bodyPr anchor="ctr" rtlCol="false" tIns="0" lIns="0" bIns="0" rIns="0"/>
            <a:lstStyle/>
            <a:p>
              <a:pPr algn="l">
                <a:lnSpc>
                  <a:spcPts val="4320"/>
                </a:lnSpc>
              </a:pPr>
              <a:r>
                <a:rPr lang="en-US" sz="3600" b="true">
                  <a:solidFill>
                    <a:srgbClr val="2563EB"/>
                  </a:solidFill>
                  <a:latin typeface="Calibri (MS) Bold"/>
                  <a:ea typeface="Calibri (MS) Bold"/>
                  <a:cs typeface="Calibri (MS) Bold"/>
                  <a:sym typeface="Calibri (MS) Bold"/>
                </a:rPr>
                <a:t>04  </a:t>
              </a:r>
              <a:r>
                <a:rPr lang="en-US" sz="3600" b="true">
                  <a:solidFill>
                    <a:srgbClr val="0F1F45"/>
                  </a:solidFill>
                  <a:latin typeface="Calibri (MS) Bold"/>
                  <a:ea typeface="Calibri (MS) Bold"/>
                  <a:cs typeface="Calibri (MS) Bold"/>
                  <a:sym typeface="Calibri (MS) Bold"/>
                </a:rPr>
                <a:t>Database Entities, Modules &amp; Population</a:t>
              </a:r>
            </a:p>
          </p:txBody>
        </p:sp>
      </p:grpSp>
      <p:sp>
        <p:nvSpPr>
          <p:cNvPr name="TextBox 5" id="5"/>
          <p:cNvSpPr txBox="true"/>
          <p:nvPr/>
        </p:nvSpPr>
        <p:spPr>
          <a:xfrm rot="0">
            <a:off x="918972" y="9476613"/>
            <a:ext cx="10972800" cy="440055"/>
          </a:xfrm>
          <a:prstGeom prst="rect">
            <a:avLst/>
          </a:prstGeom>
        </p:spPr>
        <p:txBody>
          <a:bodyPr anchor="t" rtlCol="false" tIns="0" lIns="0" bIns="0" rIns="0">
            <a:spAutoFit/>
          </a:bodyPr>
          <a:lstStyle/>
          <a:p>
            <a:pPr algn="l">
              <a:lnSpc>
                <a:spcPts val="1620"/>
              </a:lnSpc>
            </a:pPr>
            <a:r>
              <a:rPr lang="en-US" sz="1350">
                <a:solidFill>
                  <a:srgbClr val="5B6B8C"/>
                </a:solidFill>
                <a:latin typeface="Calibri (MS)"/>
                <a:ea typeface="Calibri (MS)"/>
                <a:cs typeface="Calibri (MS)"/>
                <a:sym typeface="Calibri (MS)"/>
              </a:rPr>
              <a:t>Gaurav Singh | P15 | CRPSMS | MySQL 8.0</a:t>
            </a:r>
          </a:p>
        </p:txBody>
      </p:sp>
      <p:sp>
        <p:nvSpPr>
          <p:cNvPr name="TextBox 6" id="6"/>
          <p:cNvSpPr txBox="true"/>
          <p:nvPr/>
        </p:nvSpPr>
        <p:spPr>
          <a:xfrm rot="0">
            <a:off x="15553944" y="9476613"/>
            <a:ext cx="1824228" cy="440055"/>
          </a:xfrm>
          <a:prstGeom prst="rect">
            <a:avLst/>
          </a:prstGeom>
        </p:spPr>
        <p:txBody>
          <a:bodyPr anchor="t" rtlCol="false" tIns="0" lIns="0" bIns="0" rIns="0">
            <a:spAutoFit/>
          </a:bodyPr>
          <a:lstStyle/>
          <a:p>
            <a:pPr algn="r">
              <a:lnSpc>
                <a:spcPts val="1620"/>
              </a:lnSpc>
            </a:pPr>
            <a:r>
              <a:rPr lang="en-US" sz="1350">
                <a:solidFill>
                  <a:srgbClr val="5B6B8C"/>
                </a:solidFill>
                <a:latin typeface="Calibri (MS)"/>
                <a:ea typeface="Calibri (MS)"/>
                <a:cs typeface="Calibri (MS)"/>
                <a:sym typeface="Calibri (MS)"/>
              </a:rPr>
              <a:t>4 / 8</a:t>
            </a:r>
          </a:p>
        </p:txBody>
      </p:sp>
      <p:sp>
        <p:nvSpPr>
          <p:cNvPr name="TextBox 7" id="7"/>
          <p:cNvSpPr txBox="true"/>
          <p:nvPr/>
        </p:nvSpPr>
        <p:spPr>
          <a:xfrm rot="0">
            <a:off x="918972" y="1626870"/>
            <a:ext cx="16459200" cy="773430"/>
          </a:xfrm>
          <a:prstGeom prst="rect">
            <a:avLst/>
          </a:prstGeom>
        </p:spPr>
        <p:txBody>
          <a:bodyPr anchor="t" rtlCol="false" tIns="0" lIns="0" bIns="0" rIns="0">
            <a:spAutoFit/>
          </a:bodyPr>
          <a:lstStyle/>
          <a:p>
            <a:pPr algn="l">
              <a:lnSpc>
                <a:spcPts val="1889"/>
              </a:lnSpc>
            </a:pPr>
            <a:r>
              <a:rPr lang="en-US" sz="1575" b="true">
                <a:solidFill>
                  <a:srgbClr val="2563EB"/>
                </a:solidFill>
                <a:latin typeface="Calibri (MS) Bold"/>
                <a:ea typeface="Calibri (MS) Bold"/>
                <a:cs typeface="Calibri (MS) Bold"/>
                <a:sym typeface="Calibri (MS) Bold"/>
              </a:rPr>
              <a:t>Incident Mgmt: </a:t>
            </a:r>
            <a:r>
              <a:rPr lang="en-US" sz="1575">
                <a:solidFill>
                  <a:srgbClr val="0F1F45"/>
                </a:solidFill>
                <a:latin typeface="Calibri (MS)"/>
                <a:ea typeface="Calibri (MS)"/>
                <a:cs typeface="Calibri (MS)"/>
                <a:sym typeface="Calibri (MS)"/>
              </a:rPr>
              <a:t>FIR, CrimeType, FIR_CrimeType, Premises, Weapon      </a:t>
            </a:r>
            <a:r>
              <a:rPr lang="en-US" sz="1575" b="true">
                <a:solidFill>
                  <a:srgbClr val="2563EB"/>
                </a:solidFill>
                <a:latin typeface="Calibri (MS) Bold"/>
                <a:ea typeface="Calibri (MS) Bold"/>
                <a:cs typeface="Calibri (MS) Bold"/>
                <a:sym typeface="Calibri (MS) Bold"/>
              </a:rPr>
              <a:t>Personnel: </a:t>
            </a:r>
            <a:r>
              <a:rPr lang="en-US" sz="1575">
                <a:solidFill>
                  <a:srgbClr val="0F1F45"/>
                </a:solidFill>
                <a:latin typeface="Calibri (MS)"/>
                <a:ea typeface="Calibri (MS)"/>
                <a:cs typeface="Calibri (MS)"/>
                <a:sym typeface="Calibri (MS)"/>
              </a:rPr>
              <a:t>PoliceStation, Officer</a:t>
            </a:r>
          </a:p>
          <a:p>
            <a:pPr algn="l">
              <a:lnSpc>
                <a:spcPts val="1889"/>
              </a:lnSpc>
            </a:pPr>
            <a:r>
              <a:rPr lang="en-US" sz="1575" b="true">
                <a:solidFill>
                  <a:srgbClr val="2563EB"/>
                </a:solidFill>
                <a:latin typeface="Calibri (MS) Bold"/>
                <a:ea typeface="Calibri (MS) Bold"/>
                <a:cs typeface="Calibri (MS) Bold"/>
                <a:sym typeface="Calibri (MS) Bold"/>
              </a:rPr>
              <a:t>People &amp; Investigation: </a:t>
            </a:r>
            <a:r>
              <a:rPr lang="en-US" sz="1575">
                <a:solidFill>
                  <a:srgbClr val="0F1F45"/>
                </a:solidFill>
                <a:latin typeface="Calibri (MS)"/>
                <a:ea typeface="Calibri (MS)"/>
                <a:cs typeface="Calibri (MS)"/>
                <a:sym typeface="Calibri (MS)"/>
              </a:rPr>
              <a:t>Victim, Accused      </a:t>
            </a:r>
            <a:r>
              <a:rPr lang="en-US" sz="1575" b="true">
                <a:solidFill>
                  <a:srgbClr val="2563EB"/>
                </a:solidFill>
                <a:latin typeface="Calibri (MS) Bold"/>
                <a:ea typeface="Calibri (MS) Bold"/>
                <a:cs typeface="Calibri (MS) Bold"/>
                <a:sym typeface="Calibri (MS) Bold"/>
              </a:rPr>
              <a:t>Judicial: </a:t>
            </a:r>
            <a:r>
              <a:rPr lang="en-US" sz="1575">
                <a:solidFill>
                  <a:srgbClr val="0F1F45"/>
                </a:solidFill>
                <a:latin typeface="Calibri (MS)"/>
                <a:ea typeface="Calibri (MS)"/>
                <a:cs typeface="Calibri (MS)"/>
                <a:sym typeface="Calibri (MS)"/>
              </a:rPr>
              <a:t>CourtCase, Court, CaseStatus      </a:t>
            </a:r>
            <a:r>
              <a:rPr lang="en-US" sz="1575" b="true">
                <a:solidFill>
                  <a:srgbClr val="2563EB"/>
                </a:solidFill>
                <a:latin typeface="Calibri (MS) Bold"/>
                <a:ea typeface="Calibri (MS) Bold"/>
                <a:cs typeface="Calibri (MS) Bold"/>
                <a:sym typeface="Calibri (MS) Bold"/>
              </a:rPr>
              <a:t>Governance: </a:t>
            </a:r>
            <a:r>
              <a:rPr lang="en-US" sz="1575">
                <a:solidFill>
                  <a:srgbClr val="0F1F45"/>
                </a:solidFill>
                <a:latin typeface="Calibri (MS)"/>
                <a:ea typeface="Calibri (MS)"/>
                <a:cs typeface="Calibri (MS)"/>
                <a:sym typeface="Calibri (MS)"/>
              </a:rPr>
              <a:t>CrimeAuditLog</a:t>
            </a:r>
          </a:p>
        </p:txBody>
      </p:sp>
      <p:sp>
        <p:nvSpPr>
          <p:cNvPr name="AutoShape 8" id="8"/>
          <p:cNvSpPr/>
          <p:nvPr/>
        </p:nvSpPr>
        <p:spPr>
          <a:xfrm rot="129960">
            <a:off x="3277286" y="5476875"/>
            <a:ext cx="756066" cy="0"/>
          </a:xfrm>
          <a:prstGeom prst="line">
            <a:avLst/>
          </a:prstGeom>
          <a:ln cap="rnd" w="19050">
            <a:solidFill>
              <a:srgbClr val="2563EB"/>
            </a:solidFill>
            <a:prstDash val="solid"/>
            <a:headEnd type="none" len="sm" w="sm"/>
            <a:tailEnd type="none" len="sm" w="sm"/>
          </a:ln>
        </p:spPr>
      </p:sp>
      <p:sp>
        <p:nvSpPr>
          <p:cNvPr name="AutoShape 9" id="9"/>
          <p:cNvSpPr/>
          <p:nvPr/>
        </p:nvSpPr>
        <p:spPr>
          <a:xfrm rot="5329860">
            <a:off x="1398318" y="6615303"/>
            <a:ext cx="1400470" cy="0"/>
          </a:xfrm>
          <a:prstGeom prst="line">
            <a:avLst/>
          </a:prstGeom>
          <a:ln cap="rnd" w="19050">
            <a:solidFill>
              <a:srgbClr val="2563EB"/>
            </a:solidFill>
            <a:prstDash val="solid"/>
            <a:headEnd type="none" len="sm" w="sm"/>
            <a:tailEnd type="none" len="sm" w="sm"/>
          </a:ln>
        </p:spPr>
      </p:sp>
      <p:sp>
        <p:nvSpPr>
          <p:cNvPr name="AutoShape 10" id="10"/>
          <p:cNvSpPr/>
          <p:nvPr/>
        </p:nvSpPr>
        <p:spPr>
          <a:xfrm rot="5329860">
            <a:off x="4511850" y="4338447"/>
            <a:ext cx="1400470" cy="0"/>
          </a:xfrm>
          <a:prstGeom prst="line">
            <a:avLst/>
          </a:prstGeom>
          <a:ln cap="rnd" w="19050">
            <a:solidFill>
              <a:srgbClr val="2563EB"/>
            </a:solidFill>
            <a:prstDash val="solid"/>
            <a:headEnd type="none" len="sm" w="sm"/>
            <a:tailEnd type="none" len="sm" w="sm"/>
          </a:ln>
        </p:spPr>
      </p:sp>
      <p:sp>
        <p:nvSpPr>
          <p:cNvPr name="AutoShape 11" id="11"/>
          <p:cNvSpPr/>
          <p:nvPr/>
        </p:nvSpPr>
        <p:spPr>
          <a:xfrm rot="5329860">
            <a:off x="4511850" y="6615303"/>
            <a:ext cx="1400470" cy="0"/>
          </a:xfrm>
          <a:prstGeom prst="line">
            <a:avLst/>
          </a:prstGeom>
          <a:ln cap="rnd" w="19050">
            <a:solidFill>
              <a:srgbClr val="2563EB"/>
            </a:solidFill>
            <a:prstDash val="solid"/>
            <a:headEnd type="none" len="sm" w="sm"/>
            <a:tailEnd type="none" len="sm" w="sm"/>
          </a:ln>
        </p:spPr>
      </p:sp>
      <p:sp>
        <p:nvSpPr>
          <p:cNvPr name="AutoShape 12" id="12"/>
          <p:cNvSpPr/>
          <p:nvPr/>
        </p:nvSpPr>
        <p:spPr>
          <a:xfrm rot="-4317360">
            <a:off x="5549294" y="4249293"/>
            <a:ext cx="2439114" cy="0"/>
          </a:xfrm>
          <a:prstGeom prst="line">
            <a:avLst/>
          </a:prstGeom>
          <a:ln cap="rnd" w="19050">
            <a:solidFill>
              <a:srgbClr val="2563EB"/>
            </a:solidFill>
            <a:prstDash val="solid"/>
            <a:headEnd type="none" len="sm" w="sm"/>
            <a:tailEnd type="none" len="sm" w="sm"/>
          </a:ln>
        </p:spPr>
      </p:sp>
      <p:sp>
        <p:nvSpPr>
          <p:cNvPr name="AutoShape 13" id="13"/>
          <p:cNvSpPr/>
          <p:nvPr/>
        </p:nvSpPr>
        <p:spPr>
          <a:xfrm rot="-3496200">
            <a:off x="6050556" y="4797933"/>
            <a:ext cx="1436580" cy="0"/>
          </a:xfrm>
          <a:prstGeom prst="line">
            <a:avLst/>
          </a:prstGeom>
          <a:ln cap="rnd" w="19050">
            <a:solidFill>
              <a:srgbClr val="2563EB"/>
            </a:solidFill>
            <a:prstDash val="solid"/>
            <a:headEnd type="none" len="sm" w="sm"/>
            <a:tailEnd type="none" len="sm" w="sm"/>
          </a:ln>
        </p:spPr>
      </p:sp>
      <p:sp>
        <p:nvSpPr>
          <p:cNvPr name="AutoShape 14" id="14"/>
          <p:cNvSpPr/>
          <p:nvPr/>
        </p:nvSpPr>
        <p:spPr>
          <a:xfrm rot="129960">
            <a:off x="6390818" y="5476875"/>
            <a:ext cx="756066" cy="0"/>
          </a:xfrm>
          <a:prstGeom prst="line">
            <a:avLst/>
          </a:prstGeom>
          <a:ln cap="rnd" w="19050">
            <a:solidFill>
              <a:srgbClr val="2563EB"/>
            </a:solidFill>
            <a:prstDash val="solid"/>
            <a:headEnd type="none" len="sm" w="sm"/>
            <a:tailEnd type="none" len="sm" w="sm"/>
          </a:ln>
        </p:spPr>
      </p:sp>
      <p:sp>
        <p:nvSpPr>
          <p:cNvPr name="AutoShape 15" id="15"/>
          <p:cNvSpPr/>
          <p:nvPr/>
        </p:nvSpPr>
        <p:spPr>
          <a:xfrm rot="129960">
            <a:off x="9490634" y="5476875"/>
            <a:ext cx="756066" cy="0"/>
          </a:xfrm>
          <a:prstGeom prst="line">
            <a:avLst/>
          </a:prstGeom>
          <a:ln cap="rnd" w="19050">
            <a:solidFill>
              <a:srgbClr val="2563EB"/>
            </a:solidFill>
            <a:prstDash val="solid"/>
            <a:headEnd type="none" len="sm" w="sm"/>
            <a:tailEnd type="none" len="sm" w="sm"/>
          </a:ln>
        </p:spPr>
      </p:sp>
      <p:sp>
        <p:nvSpPr>
          <p:cNvPr name="AutoShape 16" id="16"/>
          <p:cNvSpPr/>
          <p:nvPr/>
        </p:nvSpPr>
        <p:spPr>
          <a:xfrm rot="129960">
            <a:off x="6390818" y="7767447"/>
            <a:ext cx="756066" cy="0"/>
          </a:xfrm>
          <a:prstGeom prst="line">
            <a:avLst/>
          </a:prstGeom>
          <a:ln cap="rnd" w="19050">
            <a:solidFill>
              <a:srgbClr val="2563EB"/>
            </a:solidFill>
            <a:prstDash val="solid"/>
            <a:headEnd type="none" len="sm" w="sm"/>
            <a:tailEnd type="none" len="sm" w="sm"/>
          </a:ln>
        </p:spPr>
      </p:sp>
      <p:grpSp>
        <p:nvGrpSpPr>
          <p:cNvPr name="Group 17" id="17"/>
          <p:cNvGrpSpPr/>
          <p:nvPr/>
        </p:nvGrpSpPr>
        <p:grpSpPr>
          <a:xfrm rot="0">
            <a:off x="4009263" y="2733675"/>
            <a:ext cx="2391918" cy="938022"/>
            <a:chOff x="0" y="0"/>
            <a:chExt cx="3189224" cy="1250696"/>
          </a:xfrm>
        </p:grpSpPr>
        <p:sp>
          <p:nvSpPr>
            <p:cNvPr name="Freeform 18" id="18"/>
            <p:cNvSpPr/>
            <p:nvPr/>
          </p:nvSpPr>
          <p:spPr>
            <a:xfrm flipH="false" flipV="false" rot="0">
              <a:off x="0" y="0"/>
              <a:ext cx="3189224" cy="1250696"/>
            </a:xfrm>
            <a:custGeom>
              <a:avLst/>
              <a:gdLst/>
              <a:ahLst/>
              <a:cxnLst/>
              <a:rect r="r" b="b" t="t" l="l"/>
              <a:pathLst>
                <a:path h="1250696" w="3189224">
                  <a:moveTo>
                    <a:pt x="0" y="149352"/>
                  </a:moveTo>
                  <a:cubicBezTo>
                    <a:pt x="0" y="66802"/>
                    <a:pt x="66802" y="0"/>
                    <a:pt x="149352" y="0"/>
                  </a:cubicBezTo>
                  <a:lnTo>
                    <a:pt x="3039872" y="0"/>
                  </a:lnTo>
                  <a:cubicBezTo>
                    <a:pt x="3122295" y="0"/>
                    <a:pt x="3189224" y="66802"/>
                    <a:pt x="3189224" y="149352"/>
                  </a:cubicBezTo>
                  <a:lnTo>
                    <a:pt x="3189224" y="1101344"/>
                  </a:lnTo>
                  <a:cubicBezTo>
                    <a:pt x="3189224" y="1183767"/>
                    <a:pt x="3122422" y="1250696"/>
                    <a:pt x="3039872" y="1250696"/>
                  </a:cubicBezTo>
                  <a:lnTo>
                    <a:pt x="149352" y="1250696"/>
                  </a:lnTo>
                  <a:cubicBezTo>
                    <a:pt x="66802" y="1250696"/>
                    <a:pt x="0" y="1183894"/>
                    <a:pt x="0" y="1101344"/>
                  </a:cubicBezTo>
                  <a:close/>
                </a:path>
              </a:pathLst>
            </a:custGeom>
            <a:solidFill>
              <a:srgbClr val="4A6597"/>
            </a:solidFill>
            <a:ln w="19050" cap="sq">
              <a:solidFill>
                <a:srgbClr val="1D4ED8"/>
              </a:solidFill>
              <a:prstDash val="solid"/>
              <a:miter/>
            </a:ln>
          </p:spPr>
        </p:sp>
      </p:grpSp>
      <p:grpSp>
        <p:nvGrpSpPr>
          <p:cNvPr name="Group 19" id="19"/>
          <p:cNvGrpSpPr/>
          <p:nvPr/>
        </p:nvGrpSpPr>
        <p:grpSpPr>
          <a:xfrm rot="0">
            <a:off x="4087368" y="2743200"/>
            <a:ext cx="2235708" cy="918972"/>
            <a:chOff x="0" y="0"/>
            <a:chExt cx="2980944" cy="1225296"/>
          </a:xfrm>
        </p:grpSpPr>
        <p:sp>
          <p:nvSpPr>
            <p:cNvPr name="Freeform 20" id="20"/>
            <p:cNvSpPr/>
            <p:nvPr/>
          </p:nvSpPr>
          <p:spPr>
            <a:xfrm flipH="false" flipV="false" rot="0">
              <a:off x="0" y="0"/>
              <a:ext cx="2980944" cy="1225296"/>
            </a:xfrm>
            <a:custGeom>
              <a:avLst/>
              <a:gdLst/>
              <a:ahLst/>
              <a:cxnLst/>
              <a:rect r="r" b="b" t="t" l="l"/>
              <a:pathLst>
                <a:path h="1225296" w="2980944">
                  <a:moveTo>
                    <a:pt x="0" y="0"/>
                  </a:moveTo>
                  <a:lnTo>
                    <a:pt x="2980944" y="0"/>
                  </a:lnTo>
                  <a:lnTo>
                    <a:pt x="2980944" y="1225296"/>
                  </a:lnTo>
                  <a:lnTo>
                    <a:pt x="0" y="1225296"/>
                  </a:lnTo>
                  <a:close/>
                </a:path>
              </a:pathLst>
            </a:custGeom>
            <a:blipFill>
              <a:blip r:embed="rId3">
                <a:alphaModFix amt="0"/>
              </a:blip>
              <a:stretch>
                <a:fillRect l="-2738" t="0" r="-2738" b="0"/>
              </a:stretch>
            </a:blipFill>
          </p:spPr>
        </p:sp>
        <p:sp>
          <p:nvSpPr>
            <p:cNvPr name="TextBox 21" id="21"/>
            <p:cNvSpPr txBox="true"/>
            <p:nvPr/>
          </p:nvSpPr>
          <p:spPr>
            <a:xfrm>
              <a:off x="0" y="-28575"/>
              <a:ext cx="2980944" cy="1253871"/>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CrimeAuditLog</a:t>
              </a:r>
            </a:p>
            <a:p>
              <a:pPr algn="ctr">
                <a:lnSpc>
                  <a:spcPts val="1530"/>
                </a:lnSpc>
              </a:pPr>
              <a:r>
                <a:rPr lang="en-US" sz="1275">
                  <a:solidFill>
                    <a:srgbClr val="FFFFFF"/>
                  </a:solidFill>
                  <a:latin typeface="Calibri (MS)"/>
                  <a:ea typeface="Calibri (MS)"/>
                  <a:cs typeface="Calibri (MS)"/>
                  <a:sym typeface="Calibri (MS)"/>
                </a:rPr>
                <a:t>audit table</a:t>
              </a:r>
            </a:p>
          </p:txBody>
        </p:sp>
      </p:grpSp>
      <p:grpSp>
        <p:nvGrpSpPr>
          <p:cNvPr name="Group 22" id="22"/>
          <p:cNvGrpSpPr/>
          <p:nvPr/>
        </p:nvGrpSpPr>
        <p:grpSpPr>
          <a:xfrm rot="0">
            <a:off x="4009263" y="5024247"/>
            <a:ext cx="2391918" cy="938022"/>
            <a:chOff x="0" y="0"/>
            <a:chExt cx="3189224" cy="1250696"/>
          </a:xfrm>
        </p:grpSpPr>
        <p:sp>
          <p:nvSpPr>
            <p:cNvPr name="Freeform 23" id="23"/>
            <p:cNvSpPr/>
            <p:nvPr/>
          </p:nvSpPr>
          <p:spPr>
            <a:xfrm flipH="false" flipV="false" rot="0">
              <a:off x="0" y="0"/>
              <a:ext cx="3189224" cy="1250696"/>
            </a:xfrm>
            <a:custGeom>
              <a:avLst/>
              <a:gdLst/>
              <a:ahLst/>
              <a:cxnLst/>
              <a:rect r="r" b="b" t="t" l="l"/>
              <a:pathLst>
                <a:path h="1250696" w="3189224">
                  <a:moveTo>
                    <a:pt x="0" y="149352"/>
                  </a:moveTo>
                  <a:cubicBezTo>
                    <a:pt x="0" y="66802"/>
                    <a:pt x="66802" y="0"/>
                    <a:pt x="149352" y="0"/>
                  </a:cubicBezTo>
                  <a:lnTo>
                    <a:pt x="3039872" y="0"/>
                  </a:lnTo>
                  <a:cubicBezTo>
                    <a:pt x="3122295" y="0"/>
                    <a:pt x="3189224" y="66802"/>
                    <a:pt x="3189224" y="149352"/>
                  </a:cubicBezTo>
                  <a:lnTo>
                    <a:pt x="3189224" y="1101344"/>
                  </a:lnTo>
                  <a:cubicBezTo>
                    <a:pt x="3189224" y="1183767"/>
                    <a:pt x="3122422" y="1250696"/>
                    <a:pt x="3039872" y="1250696"/>
                  </a:cubicBezTo>
                  <a:lnTo>
                    <a:pt x="149352" y="1250696"/>
                  </a:lnTo>
                  <a:cubicBezTo>
                    <a:pt x="66802" y="1250696"/>
                    <a:pt x="0" y="1183894"/>
                    <a:pt x="0" y="1101344"/>
                  </a:cubicBezTo>
                  <a:close/>
                </a:path>
              </a:pathLst>
            </a:custGeom>
            <a:solidFill>
              <a:srgbClr val="2563EB"/>
            </a:solidFill>
            <a:ln w="19050" cap="sq">
              <a:solidFill>
                <a:srgbClr val="1D4ED8"/>
              </a:solidFill>
              <a:prstDash val="solid"/>
              <a:miter/>
            </a:ln>
          </p:spPr>
        </p:sp>
      </p:grpSp>
      <p:grpSp>
        <p:nvGrpSpPr>
          <p:cNvPr name="Group 24" id="24"/>
          <p:cNvGrpSpPr/>
          <p:nvPr/>
        </p:nvGrpSpPr>
        <p:grpSpPr>
          <a:xfrm rot="0">
            <a:off x="4087368" y="5033772"/>
            <a:ext cx="2235708" cy="918972"/>
            <a:chOff x="0" y="0"/>
            <a:chExt cx="2980944" cy="1225296"/>
          </a:xfrm>
        </p:grpSpPr>
        <p:sp>
          <p:nvSpPr>
            <p:cNvPr name="Freeform 25" id="25"/>
            <p:cNvSpPr/>
            <p:nvPr/>
          </p:nvSpPr>
          <p:spPr>
            <a:xfrm flipH="false" flipV="false" rot="0">
              <a:off x="0" y="0"/>
              <a:ext cx="2980944" cy="1225296"/>
            </a:xfrm>
            <a:custGeom>
              <a:avLst/>
              <a:gdLst/>
              <a:ahLst/>
              <a:cxnLst/>
              <a:rect r="r" b="b" t="t" l="l"/>
              <a:pathLst>
                <a:path h="1225296" w="2980944">
                  <a:moveTo>
                    <a:pt x="0" y="0"/>
                  </a:moveTo>
                  <a:lnTo>
                    <a:pt x="2980944" y="0"/>
                  </a:lnTo>
                  <a:lnTo>
                    <a:pt x="2980944" y="1225296"/>
                  </a:lnTo>
                  <a:lnTo>
                    <a:pt x="0" y="1225296"/>
                  </a:lnTo>
                  <a:close/>
                </a:path>
              </a:pathLst>
            </a:custGeom>
            <a:blipFill>
              <a:blip r:embed="rId3">
                <a:alphaModFix amt="0"/>
              </a:blip>
              <a:stretch>
                <a:fillRect l="-2738" t="0" r="-2738" b="0"/>
              </a:stretch>
            </a:blipFill>
          </p:spPr>
        </p:sp>
        <p:sp>
          <p:nvSpPr>
            <p:cNvPr name="TextBox 26" id="26"/>
            <p:cNvSpPr txBox="true"/>
            <p:nvPr/>
          </p:nvSpPr>
          <p:spPr>
            <a:xfrm>
              <a:off x="0" y="-28575"/>
              <a:ext cx="2980944" cy="1253871"/>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FIR</a:t>
              </a:r>
            </a:p>
            <a:p>
              <a:pPr algn="ctr">
                <a:lnSpc>
                  <a:spcPts val="1530"/>
                </a:lnSpc>
              </a:pPr>
              <a:r>
                <a:rPr lang="en-US" sz="1275">
                  <a:solidFill>
                    <a:srgbClr val="FFFFFF"/>
                  </a:solidFill>
                  <a:latin typeface="Calibri (MS)"/>
                  <a:ea typeface="Calibri (MS)"/>
                  <a:cs typeface="Calibri (MS)"/>
                  <a:sym typeface="Calibri (MS)"/>
                </a:rPr>
                <a:t>1,092 records</a:t>
              </a:r>
            </a:p>
          </p:txBody>
        </p:sp>
      </p:grpSp>
      <p:grpSp>
        <p:nvGrpSpPr>
          <p:cNvPr name="Group 27" id="27"/>
          <p:cNvGrpSpPr/>
          <p:nvPr/>
        </p:nvGrpSpPr>
        <p:grpSpPr>
          <a:xfrm rot="0">
            <a:off x="4009263" y="7301103"/>
            <a:ext cx="2391918" cy="938022"/>
            <a:chOff x="0" y="0"/>
            <a:chExt cx="3189224" cy="1250696"/>
          </a:xfrm>
        </p:grpSpPr>
        <p:sp>
          <p:nvSpPr>
            <p:cNvPr name="Freeform 28" id="28"/>
            <p:cNvSpPr/>
            <p:nvPr/>
          </p:nvSpPr>
          <p:spPr>
            <a:xfrm flipH="false" flipV="false" rot="0">
              <a:off x="0" y="0"/>
              <a:ext cx="3189224" cy="1250696"/>
            </a:xfrm>
            <a:custGeom>
              <a:avLst/>
              <a:gdLst/>
              <a:ahLst/>
              <a:cxnLst/>
              <a:rect r="r" b="b" t="t" l="l"/>
              <a:pathLst>
                <a:path h="1250696" w="3189224">
                  <a:moveTo>
                    <a:pt x="0" y="149352"/>
                  </a:moveTo>
                  <a:cubicBezTo>
                    <a:pt x="0" y="66802"/>
                    <a:pt x="66802" y="0"/>
                    <a:pt x="149352" y="0"/>
                  </a:cubicBezTo>
                  <a:lnTo>
                    <a:pt x="3039872" y="0"/>
                  </a:lnTo>
                  <a:cubicBezTo>
                    <a:pt x="3122295" y="0"/>
                    <a:pt x="3189224" y="66802"/>
                    <a:pt x="3189224" y="149352"/>
                  </a:cubicBezTo>
                  <a:lnTo>
                    <a:pt x="3189224" y="1101344"/>
                  </a:lnTo>
                  <a:cubicBezTo>
                    <a:pt x="3189224" y="1183767"/>
                    <a:pt x="3122422" y="1250696"/>
                    <a:pt x="3039872" y="1250696"/>
                  </a:cubicBezTo>
                  <a:lnTo>
                    <a:pt x="149352" y="1250696"/>
                  </a:lnTo>
                  <a:cubicBezTo>
                    <a:pt x="66802" y="1250696"/>
                    <a:pt x="0" y="1183894"/>
                    <a:pt x="0" y="1101344"/>
                  </a:cubicBezTo>
                  <a:close/>
                </a:path>
              </a:pathLst>
            </a:custGeom>
            <a:solidFill>
              <a:srgbClr val="2563EB"/>
            </a:solidFill>
            <a:ln w="19050" cap="sq">
              <a:solidFill>
                <a:srgbClr val="1D4ED8"/>
              </a:solidFill>
              <a:prstDash val="solid"/>
              <a:miter/>
            </a:ln>
          </p:spPr>
        </p:sp>
      </p:grpSp>
      <p:grpSp>
        <p:nvGrpSpPr>
          <p:cNvPr name="Group 29" id="29"/>
          <p:cNvGrpSpPr/>
          <p:nvPr/>
        </p:nvGrpSpPr>
        <p:grpSpPr>
          <a:xfrm rot="0">
            <a:off x="4087368" y="7310628"/>
            <a:ext cx="2235708" cy="918972"/>
            <a:chOff x="0" y="0"/>
            <a:chExt cx="2980944" cy="1225296"/>
          </a:xfrm>
        </p:grpSpPr>
        <p:sp>
          <p:nvSpPr>
            <p:cNvPr name="Freeform 30" id="30"/>
            <p:cNvSpPr/>
            <p:nvPr/>
          </p:nvSpPr>
          <p:spPr>
            <a:xfrm flipH="false" flipV="false" rot="0">
              <a:off x="0" y="0"/>
              <a:ext cx="2980944" cy="1225296"/>
            </a:xfrm>
            <a:custGeom>
              <a:avLst/>
              <a:gdLst/>
              <a:ahLst/>
              <a:cxnLst/>
              <a:rect r="r" b="b" t="t" l="l"/>
              <a:pathLst>
                <a:path h="1225296" w="2980944">
                  <a:moveTo>
                    <a:pt x="0" y="0"/>
                  </a:moveTo>
                  <a:lnTo>
                    <a:pt x="2980944" y="0"/>
                  </a:lnTo>
                  <a:lnTo>
                    <a:pt x="2980944" y="1225296"/>
                  </a:lnTo>
                  <a:lnTo>
                    <a:pt x="0" y="1225296"/>
                  </a:lnTo>
                  <a:close/>
                </a:path>
              </a:pathLst>
            </a:custGeom>
            <a:blipFill>
              <a:blip r:embed="rId3">
                <a:alphaModFix amt="0"/>
              </a:blip>
              <a:stretch>
                <a:fillRect l="-2738" t="0" r="-2738" b="0"/>
              </a:stretch>
            </a:blipFill>
          </p:spPr>
        </p:sp>
        <p:sp>
          <p:nvSpPr>
            <p:cNvPr name="TextBox 31" id="31"/>
            <p:cNvSpPr txBox="true"/>
            <p:nvPr/>
          </p:nvSpPr>
          <p:spPr>
            <a:xfrm>
              <a:off x="0" y="-28575"/>
              <a:ext cx="2980944" cy="1253871"/>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FIR_CrimeType</a:t>
              </a:r>
            </a:p>
            <a:p>
              <a:pPr algn="ctr">
                <a:lnSpc>
                  <a:spcPts val="1530"/>
                </a:lnSpc>
              </a:pPr>
              <a:r>
                <a:rPr lang="en-US" sz="1275">
                  <a:solidFill>
                    <a:srgbClr val="FFFFFF"/>
                  </a:solidFill>
                  <a:latin typeface="Calibri (MS)"/>
                  <a:ea typeface="Calibri (MS)"/>
                  <a:cs typeface="Calibri (MS)"/>
                  <a:sym typeface="Calibri (MS)"/>
                </a:rPr>
                <a:t>1,166 records</a:t>
              </a:r>
            </a:p>
          </p:txBody>
        </p:sp>
      </p:grpSp>
      <p:grpSp>
        <p:nvGrpSpPr>
          <p:cNvPr name="Group 32" id="32"/>
          <p:cNvGrpSpPr/>
          <p:nvPr/>
        </p:nvGrpSpPr>
        <p:grpSpPr>
          <a:xfrm rot="0">
            <a:off x="909447" y="5024247"/>
            <a:ext cx="2391918" cy="938022"/>
            <a:chOff x="0" y="0"/>
            <a:chExt cx="3189224" cy="1250696"/>
          </a:xfrm>
        </p:grpSpPr>
        <p:sp>
          <p:nvSpPr>
            <p:cNvPr name="Freeform 33" id="33"/>
            <p:cNvSpPr/>
            <p:nvPr/>
          </p:nvSpPr>
          <p:spPr>
            <a:xfrm flipH="false" flipV="false" rot="0">
              <a:off x="0" y="0"/>
              <a:ext cx="3189224" cy="1250696"/>
            </a:xfrm>
            <a:custGeom>
              <a:avLst/>
              <a:gdLst/>
              <a:ahLst/>
              <a:cxnLst/>
              <a:rect r="r" b="b" t="t" l="l"/>
              <a:pathLst>
                <a:path h="1250696" w="3189224">
                  <a:moveTo>
                    <a:pt x="0" y="149352"/>
                  </a:moveTo>
                  <a:cubicBezTo>
                    <a:pt x="0" y="66802"/>
                    <a:pt x="66802" y="0"/>
                    <a:pt x="149352" y="0"/>
                  </a:cubicBezTo>
                  <a:lnTo>
                    <a:pt x="3039872" y="0"/>
                  </a:lnTo>
                  <a:cubicBezTo>
                    <a:pt x="3122295" y="0"/>
                    <a:pt x="3189224" y="66802"/>
                    <a:pt x="3189224" y="149352"/>
                  </a:cubicBezTo>
                  <a:lnTo>
                    <a:pt x="3189224" y="1101344"/>
                  </a:lnTo>
                  <a:cubicBezTo>
                    <a:pt x="3189224" y="1183767"/>
                    <a:pt x="3122422" y="1250696"/>
                    <a:pt x="3039872" y="1250696"/>
                  </a:cubicBezTo>
                  <a:lnTo>
                    <a:pt x="149352" y="1250696"/>
                  </a:lnTo>
                  <a:cubicBezTo>
                    <a:pt x="66802" y="1250696"/>
                    <a:pt x="0" y="1183894"/>
                    <a:pt x="0" y="1101344"/>
                  </a:cubicBezTo>
                  <a:close/>
                </a:path>
              </a:pathLst>
            </a:custGeom>
            <a:solidFill>
              <a:srgbClr val="0C6FB5"/>
            </a:solidFill>
            <a:ln w="19050" cap="sq">
              <a:solidFill>
                <a:srgbClr val="1D4ED8"/>
              </a:solidFill>
              <a:prstDash val="solid"/>
              <a:miter/>
            </a:ln>
          </p:spPr>
        </p:sp>
      </p:grpSp>
      <p:grpSp>
        <p:nvGrpSpPr>
          <p:cNvPr name="Group 34" id="34"/>
          <p:cNvGrpSpPr/>
          <p:nvPr/>
        </p:nvGrpSpPr>
        <p:grpSpPr>
          <a:xfrm rot="0">
            <a:off x="987552" y="5033772"/>
            <a:ext cx="2235708" cy="918972"/>
            <a:chOff x="0" y="0"/>
            <a:chExt cx="2980944" cy="1225296"/>
          </a:xfrm>
        </p:grpSpPr>
        <p:sp>
          <p:nvSpPr>
            <p:cNvPr name="Freeform 35" id="35"/>
            <p:cNvSpPr/>
            <p:nvPr/>
          </p:nvSpPr>
          <p:spPr>
            <a:xfrm flipH="false" flipV="false" rot="0">
              <a:off x="0" y="0"/>
              <a:ext cx="2980944" cy="1225296"/>
            </a:xfrm>
            <a:custGeom>
              <a:avLst/>
              <a:gdLst/>
              <a:ahLst/>
              <a:cxnLst/>
              <a:rect r="r" b="b" t="t" l="l"/>
              <a:pathLst>
                <a:path h="1225296" w="2980944">
                  <a:moveTo>
                    <a:pt x="0" y="0"/>
                  </a:moveTo>
                  <a:lnTo>
                    <a:pt x="2980944" y="0"/>
                  </a:lnTo>
                  <a:lnTo>
                    <a:pt x="2980944" y="1225296"/>
                  </a:lnTo>
                  <a:lnTo>
                    <a:pt x="0" y="1225296"/>
                  </a:lnTo>
                  <a:close/>
                </a:path>
              </a:pathLst>
            </a:custGeom>
            <a:blipFill>
              <a:blip r:embed="rId3">
                <a:alphaModFix amt="0"/>
              </a:blip>
              <a:stretch>
                <a:fillRect l="-2738" t="0" r="-2738" b="0"/>
              </a:stretch>
            </a:blipFill>
          </p:spPr>
        </p:sp>
        <p:sp>
          <p:nvSpPr>
            <p:cNvPr name="TextBox 36" id="36"/>
            <p:cNvSpPr txBox="true"/>
            <p:nvPr/>
          </p:nvSpPr>
          <p:spPr>
            <a:xfrm>
              <a:off x="0" y="-28575"/>
              <a:ext cx="2980944" cy="1253871"/>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PoliceStation</a:t>
              </a:r>
            </a:p>
            <a:p>
              <a:pPr algn="ctr">
                <a:lnSpc>
                  <a:spcPts val="1530"/>
                </a:lnSpc>
              </a:pPr>
              <a:r>
                <a:rPr lang="en-US" sz="1275">
                  <a:solidFill>
                    <a:srgbClr val="FFFFFF"/>
                  </a:solidFill>
                  <a:latin typeface="Calibri (MS)"/>
                  <a:ea typeface="Calibri (MS)"/>
                  <a:cs typeface="Calibri (MS)"/>
                  <a:sym typeface="Calibri (MS)"/>
                </a:rPr>
                <a:t>21 records</a:t>
              </a:r>
            </a:p>
          </p:txBody>
        </p:sp>
      </p:grpSp>
      <p:grpSp>
        <p:nvGrpSpPr>
          <p:cNvPr name="Group 37" id="37"/>
          <p:cNvGrpSpPr/>
          <p:nvPr/>
        </p:nvGrpSpPr>
        <p:grpSpPr>
          <a:xfrm rot="0">
            <a:off x="909447" y="7301103"/>
            <a:ext cx="2391918" cy="938022"/>
            <a:chOff x="0" y="0"/>
            <a:chExt cx="3189224" cy="1250696"/>
          </a:xfrm>
        </p:grpSpPr>
        <p:sp>
          <p:nvSpPr>
            <p:cNvPr name="Freeform 38" id="38"/>
            <p:cNvSpPr/>
            <p:nvPr/>
          </p:nvSpPr>
          <p:spPr>
            <a:xfrm flipH="false" flipV="false" rot="0">
              <a:off x="0" y="0"/>
              <a:ext cx="3189224" cy="1250696"/>
            </a:xfrm>
            <a:custGeom>
              <a:avLst/>
              <a:gdLst/>
              <a:ahLst/>
              <a:cxnLst/>
              <a:rect r="r" b="b" t="t" l="l"/>
              <a:pathLst>
                <a:path h="1250696" w="3189224">
                  <a:moveTo>
                    <a:pt x="0" y="149352"/>
                  </a:moveTo>
                  <a:cubicBezTo>
                    <a:pt x="0" y="66802"/>
                    <a:pt x="66802" y="0"/>
                    <a:pt x="149352" y="0"/>
                  </a:cubicBezTo>
                  <a:lnTo>
                    <a:pt x="3039872" y="0"/>
                  </a:lnTo>
                  <a:cubicBezTo>
                    <a:pt x="3122295" y="0"/>
                    <a:pt x="3189224" y="66802"/>
                    <a:pt x="3189224" y="149352"/>
                  </a:cubicBezTo>
                  <a:lnTo>
                    <a:pt x="3189224" y="1101344"/>
                  </a:lnTo>
                  <a:cubicBezTo>
                    <a:pt x="3189224" y="1183767"/>
                    <a:pt x="3122422" y="1250696"/>
                    <a:pt x="3039872" y="1250696"/>
                  </a:cubicBezTo>
                  <a:lnTo>
                    <a:pt x="149352" y="1250696"/>
                  </a:lnTo>
                  <a:cubicBezTo>
                    <a:pt x="66802" y="1250696"/>
                    <a:pt x="0" y="1183894"/>
                    <a:pt x="0" y="1101344"/>
                  </a:cubicBezTo>
                  <a:close/>
                </a:path>
              </a:pathLst>
            </a:custGeom>
            <a:solidFill>
              <a:srgbClr val="0C6FB5"/>
            </a:solidFill>
            <a:ln w="19050" cap="sq">
              <a:solidFill>
                <a:srgbClr val="1D4ED8"/>
              </a:solidFill>
              <a:prstDash val="solid"/>
              <a:miter/>
            </a:ln>
          </p:spPr>
        </p:sp>
      </p:grpSp>
      <p:grpSp>
        <p:nvGrpSpPr>
          <p:cNvPr name="Group 39" id="39"/>
          <p:cNvGrpSpPr/>
          <p:nvPr/>
        </p:nvGrpSpPr>
        <p:grpSpPr>
          <a:xfrm rot="0">
            <a:off x="987552" y="7310628"/>
            <a:ext cx="2235708" cy="918972"/>
            <a:chOff x="0" y="0"/>
            <a:chExt cx="2980944" cy="1225296"/>
          </a:xfrm>
        </p:grpSpPr>
        <p:sp>
          <p:nvSpPr>
            <p:cNvPr name="Freeform 40" id="40"/>
            <p:cNvSpPr/>
            <p:nvPr/>
          </p:nvSpPr>
          <p:spPr>
            <a:xfrm flipH="false" flipV="false" rot="0">
              <a:off x="0" y="0"/>
              <a:ext cx="2980944" cy="1225296"/>
            </a:xfrm>
            <a:custGeom>
              <a:avLst/>
              <a:gdLst/>
              <a:ahLst/>
              <a:cxnLst/>
              <a:rect r="r" b="b" t="t" l="l"/>
              <a:pathLst>
                <a:path h="1225296" w="2980944">
                  <a:moveTo>
                    <a:pt x="0" y="0"/>
                  </a:moveTo>
                  <a:lnTo>
                    <a:pt x="2980944" y="0"/>
                  </a:lnTo>
                  <a:lnTo>
                    <a:pt x="2980944" y="1225296"/>
                  </a:lnTo>
                  <a:lnTo>
                    <a:pt x="0" y="1225296"/>
                  </a:lnTo>
                  <a:close/>
                </a:path>
              </a:pathLst>
            </a:custGeom>
            <a:blipFill>
              <a:blip r:embed="rId3">
                <a:alphaModFix amt="0"/>
              </a:blip>
              <a:stretch>
                <a:fillRect l="-2738" t="0" r="-2738" b="0"/>
              </a:stretch>
            </a:blipFill>
          </p:spPr>
        </p:sp>
        <p:sp>
          <p:nvSpPr>
            <p:cNvPr name="TextBox 41" id="41"/>
            <p:cNvSpPr txBox="true"/>
            <p:nvPr/>
          </p:nvSpPr>
          <p:spPr>
            <a:xfrm>
              <a:off x="0" y="-28575"/>
              <a:ext cx="2980944" cy="1253871"/>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Officer</a:t>
              </a:r>
            </a:p>
            <a:p>
              <a:pPr algn="ctr">
                <a:lnSpc>
                  <a:spcPts val="1530"/>
                </a:lnSpc>
              </a:pPr>
              <a:r>
                <a:rPr lang="en-US" sz="1275">
                  <a:solidFill>
                    <a:srgbClr val="FFFFFF"/>
                  </a:solidFill>
                  <a:latin typeface="Calibri (MS)"/>
                  <a:ea typeface="Calibri (MS)"/>
                  <a:cs typeface="Calibri (MS)"/>
                  <a:sym typeface="Calibri (MS)"/>
                </a:rPr>
                <a:t>50 records</a:t>
              </a:r>
            </a:p>
          </p:txBody>
        </p:sp>
      </p:grpSp>
      <p:grpSp>
        <p:nvGrpSpPr>
          <p:cNvPr name="Group 42" id="42"/>
          <p:cNvGrpSpPr/>
          <p:nvPr/>
        </p:nvGrpSpPr>
        <p:grpSpPr>
          <a:xfrm rot="0">
            <a:off x="7122795" y="2637663"/>
            <a:ext cx="2391918" cy="938022"/>
            <a:chOff x="0" y="0"/>
            <a:chExt cx="3189224" cy="1250696"/>
          </a:xfrm>
        </p:grpSpPr>
        <p:sp>
          <p:nvSpPr>
            <p:cNvPr name="Freeform 43" id="43"/>
            <p:cNvSpPr/>
            <p:nvPr/>
          </p:nvSpPr>
          <p:spPr>
            <a:xfrm flipH="false" flipV="false" rot="0">
              <a:off x="0" y="0"/>
              <a:ext cx="3189224" cy="1250696"/>
            </a:xfrm>
            <a:custGeom>
              <a:avLst/>
              <a:gdLst/>
              <a:ahLst/>
              <a:cxnLst/>
              <a:rect r="r" b="b" t="t" l="l"/>
              <a:pathLst>
                <a:path h="1250696" w="3189224">
                  <a:moveTo>
                    <a:pt x="0" y="149352"/>
                  </a:moveTo>
                  <a:cubicBezTo>
                    <a:pt x="0" y="66802"/>
                    <a:pt x="66802" y="0"/>
                    <a:pt x="149352" y="0"/>
                  </a:cubicBezTo>
                  <a:lnTo>
                    <a:pt x="3039872" y="0"/>
                  </a:lnTo>
                  <a:cubicBezTo>
                    <a:pt x="3122295" y="0"/>
                    <a:pt x="3189224" y="66802"/>
                    <a:pt x="3189224" y="149352"/>
                  </a:cubicBezTo>
                  <a:lnTo>
                    <a:pt x="3189224" y="1101344"/>
                  </a:lnTo>
                  <a:cubicBezTo>
                    <a:pt x="3189224" y="1183767"/>
                    <a:pt x="3122422" y="1250696"/>
                    <a:pt x="3039872" y="1250696"/>
                  </a:cubicBezTo>
                  <a:lnTo>
                    <a:pt x="149352" y="1250696"/>
                  </a:lnTo>
                  <a:cubicBezTo>
                    <a:pt x="66802" y="1250696"/>
                    <a:pt x="0" y="1183894"/>
                    <a:pt x="0" y="1101344"/>
                  </a:cubicBezTo>
                  <a:close/>
                </a:path>
              </a:pathLst>
            </a:custGeom>
            <a:solidFill>
              <a:srgbClr val="3F5BD6"/>
            </a:solidFill>
            <a:ln w="19050" cap="sq">
              <a:solidFill>
                <a:srgbClr val="1D4ED8"/>
              </a:solidFill>
              <a:prstDash val="solid"/>
              <a:miter/>
            </a:ln>
          </p:spPr>
        </p:sp>
      </p:grpSp>
      <p:grpSp>
        <p:nvGrpSpPr>
          <p:cNvPr name="Group 44" id="44"/>
          <p:cNvGrpSpPr/>
          <p:nvPr/>
        </p:nvGrpSpPr>
        <p:grpSpPr>
          <a:xfrm rot="0">
            <a:off x="7200900" y="2647188"/>
            <a:ext cx="2235708" cy="918972"/>
            <a:chOff x="0" y="0"/>
            <a:chExt cx="2980944" cy="1225296"/>
          </a:xfrm>
        </p:grpSpPr>
        <p:sp>
          <p:nvSpPr>
            <p:cNvPr name="Freeform 45" id="45"/>
            <p:cNvSpPr/>
            <p:nvPr/>
          </p:nvSpPr>
          <p:spPr>
            <a:xfrm flipH="false" flipV="false" rot="0">
              <a:off x="0" y="0"/>
              <a:ext cx="2980944" cy="1225296"/>
            </a:xfrm>
            <a:custGeom>
              <a:avLst/>
              <a:gdLst/>
              <a:ahLst/>
              <a:cxnLst/>
              <a:rect r="r" b="b" t="t" l="l"/>
              <a:pathLst>
                <a:path h="1225296" w="2980944">
                  <a:moveTo>
                    <a:pt x="0" y="0"/>
                  </a:moveTo>
                  <a:lnTo>
                    <a:pt x="2980944" y="0"/>
                  </a:lnTo>
                  <a:lnTo>
                    <a:pt x="2980944" y="1225296"/>
                  </a:lnTo>
                  <a:lnTo>
                    <a:pt x="0" y="1225296"/>
                  </a:lnTo>
                  <a:close/>
                </a:path>
              </a:pathLst>
            </a:custGeom>
            <a:blipFill>
              <a:blip r:embed="rId3">
                <a:alphaModFix amt="0"/>
              </a:blip>
              <a:stretch>
                <a:fillRect l="-2738" t="0" r="-2738" b="0"/>
              </a:stretch>
            </a:blipFill>
          </p:spPr>
        </p:sp>
        <p:sp>
          <p:nvSpPr>
            <p:cNvPr name="TextBox 46" id="46"/>
            <p:cNvSpPr txBox="true"/>
            <p:nvPr/>
          </p:nvSpPr>
          <p:spPr>
            <a:xfrm>
              <a:off x="0" y="-28575"/>
              <a:ext cx="2980944" cy="1253871"/>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Victim</a:t>
              </a:r>
            </a:p>
            <a:p>
              <a:pPr algn="ctr">
                <a:lnSpc>
                  <a:spcPts val="1530"/>
                </a:lnSpc>
              </a:pPr>
              <a:r>
                <a:rPr lang="en-US" sz="1275">
                  <a:solidFill>
                    <a:srgbClr val="FFFFFF"/>
                  </a:solidFill>
                  <a:latin typeface="Calibri (MS)"/>
                  <a:ea typeface="Calibri (MS)"/>
                  <a:cs typeface="Calibri (MS)"/>
                  <a:sym typeface="Calibri (MS)"/>
                </a:rPr>
                <a:t>994 records</a:t>
              </a:r>
            </a:p>
          </p:txBody>
        </p:sp>
      </p:grpSp>
      <p:grpSp>
        <p:nvGrpSpPr>
          <p:cNvPr name="Group 47" id="47"/>
          <p:cNvGrpSpPr/>
          <p:nvPr/>
        </p:nvGrpSpPr>
        <p:grpSpPr>
          <a:xfrm rot="0">
            <a:off x="7122795" y="3734943"/>
            <a:ext cx="2391918" cy="938022"/>
            <a:chOff x="0" y="0"/>
            <a:chExt cx="3189224" cy="1250696"/>
          </a:xfrm>
        </p:grpSpPr>
        <p:sp>
          <p:nvSpPr>
            <p:cNvPr name="Freeform 48" id="48"/>
            <p:cNvSpPr/>
            <p:nvPr/>
          </p:nvSpPr>
          <p:spPr>
            <a:xfrm flipH="false" flipV="false" rot="0">
              <a:off x="0" y="0"/>
              <a:ext cx="3189224" cy="1250696"/>
            </a:xfrm>
            <a:custGeom>
              <a:avLst/>
              <a:gdLst/>
              <a:ahLst/>
              <a:cxnLst/>
              <a:rect r="r" b="b" t="t" l="l"/>
              <a:pathLst>
                <a:path h="1250696" w="3189224">
                  <a:moveTo>
                    <a:pt x="0" y="149352"/>
                  </a:moveTo>
                  <a:cubicBezTo>
                    <a:pt x="0" y="66802"/>
                    <a:pt x="66802" y="0"/>
                    <a:pt x="149352" y="0"/>
                  </a:cubicBezTo>
                  <a:lnTo>
                    <a:pt x="3039872" y="0"/>
                  </a:lnTo>
                  <a:cubicBezTo>
                    <a:pt x="3122295" y="0"/>
                    <a:pt x="3189224" y="66802"/>
                    <a:pt x="3189224" y="149352"/>
                  </a:cubicBezTo>
                  <a:lnTo>
                    <a:pt x="3189224" y="1101344"/>
                  </a:lnTo>
                  <a:cubicBezTo>
                    <a:pt x="3189224" y="1183767"/>
                    <a:pt x="3122422" y="1250696"/>
                    <a:pt x="3039872" y="1250696"/>
                  </a:cubicBezTo>
                  <a:lnTo>
                    <a:pt x="149352" y="1250696"/>
                  </a:lnTo>
                  <a:cubicBezTo>
                    <a:pt x="66802" y="1250696"/>
                    <a:pt x="0" y="1183894"/>
                    <a:pt x="0" y="1101344"/>
                  </a:cubicBezTo>
                  <a:close/>
                </a:path>
              </a:pathLst>
            </a:custGeom>
            <a:solidFill>
              <a:srgbClr val="3F5BD6"/>
            </a:solidFill>
            <a:ln w="19050" cap="sq">
              <a:solidFill>
                <a:srgbClr val="1D4ED8"/>
              </a:solidFill>
              <a:prstDash val="solid"/>
              <a:miter/>
            </a:ln>
          </p:spPr>
        </p:sp>
      </p:grpSp>
      <p:grpSp>
        <p:nvGrpSpPr>
          <p:cNvPr name="Group 49" id="49"/>
          <p:cNvGrpSpPr/>
          <p:nvPr/>
        </p:nvGrpSpPr>
        <p:grpSpPr>
          <a:xfrm rot="0">
            <a:off x="7200900" y="3744468"/>
            <a:ext cx="2235708" cy="918972"/>
            <a:chOff x="0" y="0"/>
            <a:chExt cx="2980944" cy="1225296"/>
          </a:xfrm>
        </p:grpSpPr>
        <p:sp>
          <p:nvSpPr>
            <p:cNvPr name="Freeform 50" id="50"/>
            <p:cNvSpPr/>
            <p:nvPr/>
          </p:nvSpPr>
          <p:spPr>
            <a:xfrm flipH="false" flipV="false" rot="0">
              <a:off x="0" y="0"/>
              <a:ext cx="2980944" cy="1225296"/>
            </a:xfrm>
            <a:custGeom>
              <a:avLst/>
              <a:gdLst/>
              <a:ahLst/>
              <a:cxnLst/>
              <a:rect r="r" b="b" t="t" l="l"/>
              <a:pathLst>
                <a:path h="1225296" w="2980944">
                  <a:moveTo>
                    <a:pt x="0" y="0"/>
                  </a:moveTo>
                  <a:lnTo>
                    <a:pt x="2980944" y="0"/>
                  </a:lnTo>
                  <a:lnTo>
                    <a:pt x="2980944" y="1225296"/>
                  </a:lnTo>
                  <a:lnTo>
                    <a:pt x="0" y="1225296"/>
                  </a:lnTo>
                  <a:close/>
                </a:path>
              </a:pathLst>
            </a:custGeom>
            <a:blipFill>
              <a:blip r:embed="rId3">
                <a:alphaModFix amt="0"/>
              </a:blip>
              <a:stretch>
                <a:fillRect l="-2738" t="0" r="-2738" b="0"/>
              </a:stretch>
            </a:blipFill>
          </p:spPr>
        </p:sp>
        <p:sp>
          <p:nvSpPr>
            <p:cNvPr name="TextBox 51" id="51"/>
            <p:cNvSpPr txBox="true"/>
            <p:nvPr/>
          </p:nvSpPr>
          <p:spPr>
            <a:xfrm>
              <a:off x="0" y="-28575"/>
              <a:ext cx="2980944" cy="1253871"/>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Accused</a:t>
              </a:r>
            </a:p>
            <a:p>
              <a:pPr algn="ctr">
                <a:lnSpc>
                  <a:spcPts val="1530"/>
                </a:lnSpc>
              </a:pPr>
              <a:r>
                <a:rPr lang="en-US" sz="1275">
                  <a:solidFill>
                    <a:srgbClr val="FFFFFF"/>
                  </a:solidFill>
                  <a:latin typeface="Calibri (MS)"/>
                  <a:ea typeface="Calibri (MS)"/>
                  <a:cs typeface="Calibri (MS)"/>
                  <a:sym typeface="Calibri (MS)"/>
                </a:rPr>
                <a:t>142 records</a:t>
              </a:r>
            </a:p>
          </p:txBody>
        </p:sp>
      </p:grpSp>
      <p:grpSp>
        <p:nvGrpSpPr>
          <p:cNvPr name="Group 52" id="52"/>
          <p:cNvGrpSpPr/>
          <p:nvPr/>
        </p:nvGrpSpPr>
        <p:grpSpPr>
          <a:xfrm rot="0">
            <a:off x="7122795" y="5024247"/>
            <a:ext cx="2391918" cy="938022"/>
            <a:chOff x="0" y="0"/>
            <a:chExt cx="3189224" cy="1250696"/>
          </a:xfrm>
        </p:grpSpPr>
        <p:sp>
          <p:nvSpPr>
            <p:cNvPr name="Freeform 53" id="53"/>
            <p:cNvSpPr/>
            <p:nvPr/>
          </p:nvSpPr>
          <p:spPr>
            <a:xfrm flipH="false" flipV="false" rot="0">
              <a:off x="0" y="0"/>
              <a:ext cx="3189224" cy="1250696"/>
            </a:xfrm>
            <a:custGeom>
              <a:avLst/>
              <a:gdLst/>
              <a:ahLst/>
              <a:cxnLst/>
              <a:rect r="r" b="b" t="t" l="l"/>
              <a:pathLst>
                <a:path h="1250696" w="3189224">
                  <a:moveTo>
                    <a:pt x="0" y="149352"/>
                  </a:moveTo>
                  <a:cubicBezTo>
                    <a:pt x="0" y="66802"/>
                    <a:pt x="66802" y="0"/>
                    <a:pt x="149352" y="0"/>
                  </a:cubicBezTo>
                  <a:lnTo>
                    <a:pt x="3039872" y="0"/>
                  </a:lnTo>
                  <a:cubicBezTo>
                    <a:pt x="3122295" y="0"/>
                    <a:pt x="3189224" y="66802"/>
                    <a:pt x="3189224" y="149352"/>
                  </a:cubicBezTo>
                  <a:lnTo>
                    <a:pt x="3189224" y="1101344"/>
                  </a:lnTo>
                  <a:cubicBezTo>
                    <a:pt x="3189224" y="1183767"/>
                    <a:pt x="3122422" y="1250696"/>
                    <a:pt x="3039872" y="1250696"/>
                  </a:cubicBezTo>
                  <a:lnTo>
                    <a:pt x="149352" y="1250696"/>
                  </a:lnTo>
                  <a:cubicBezTo>
                    <a:pt x="66802" y="1250696"/>
                    <a:pt x="0" y="1183894"/>
                    <a:pt x="0" y="1101344"/>
                  </a:cubicBezTo>
                  <a:close/>
                </a:path>
              </a:pathLst>
            </a:custGeom>
            <a:solidFill>
              <a:srgbClr val="1F6FB8"/>
            </a:solidFill>
            <a:ln w="19050" cap="sq">
              <a:solidFill>
                <a:srgbClr val="1D4ED8"/>
              </a:solidFill>
              <a:prstDash val="solid"/>
              <a:miter/>
            </a:ln>
          </p:spPr>
        </p:sp>
      </p:grpSp>
      <p:grpSp>
        <p:nvGrpSpPr>
          <p:cNvPr name="Group 54" id="54"/>
          <p:cNvGrpSpPr/>
          <p:nvPr/>
        </p:nvGrpSpPr>
        <p:grpSpPr>
          <a:xfrm rot="0">
            <a:off x="7200900" y="5033772"/>
            <a:ext cx="2235708" cy="918972"/>
            <a:chOff x="0" y="0"/>
            <a:chExt cx="2980944" cy="1225296"/>
          </a:xfrm>
        </p:grpSpPr>
        <p:sp>
          <p:nvSpPr>
            <p:cNvPr name="Freeform 55" id="55"/>
            <p:cNvSpPr/>
            <p:nvPr/>
          </p:nvSpPr>
          <p:spPr>
            <a:xfrm flipH="false" flipV="false" rot="0">
              <a:off x="0" y="0"/>
              <a:ext cx="2980944" cy="1225296"/>
            </a:xfrm>
            <a:custGeom>
              <a:avLst/>
              <a:gdLst/>
              <a:ahLst/>
              <a:cxnLst/>
              <a:rect r="r" b="b" t="t" l="l"/>
              <a:pathLst>
                <a:path h="1225296" w="2980944">
                  <a:moveTo>
                    <a:pt x="0" y="0"/>
                  </a:moveTo>
                  <a:lnTo>
                    <a:pt x="2980944" y="0"/>
                  </a:lnTo>
                  <a:lnTo>
                    <a:pt x="2980944" y="1225296"/>
                  </a:lnTo>
                  <a:lnTo>
                    <a:pt x="0" y="1225296"/>
                  </a:lnTo>
                  <a:close/>
                </a:path>
              </a:pathLst>
            </a:custGeom>
            <a:blipFill>
              <a:blip r:embed="rId3">
                <a:alphaModFix amt="0"/>
              </a:blip>
              <a:stretch>
                <a:fillRect l="-2738" t="0" r="-2738" b="0"/>
              </a:stretch>
            </a:blipFill>
          </p:spPr>
        </p:sp>
        <p:sp>
          <p:nvSpPr>
            <p:cNvPr name="TextBox 56" id="56"/>
            <p:cNvSpPr txBox="true"/>
            <p:nvPr/>
          </p:nvSpPr>
          <p:spPr>
            <a:xfrm>
              <a:off x="0" y="-28575"/>
              <a:ext cx="2980944" cy="1253871"/>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CourtCase</a:t>
              </a:r>
            </a:p>
            <a:p>
              <a:pPr algn="ctr">
                <a:lnSpc>
                  <a:spcPts val="1530"/>
                </a:lnSpc>
              </a:pPr>
              <a:r>
                <a:rPr lang="en-US" sz="1275">
                  <a:solidFill>
                    <a:srgbClr val="FFFFFF"/>
                  </a:solidFill>
                  <a:latin typeface="Calibri (MS)"/>
                  <a:ea typeface="Calibri (MS)"/>
                  <a:cs typeface="Calibri (MS)"/>
                  <a:sym typeface="Calibri (MS)"/>
                </a:rPr>
                <a:t>115 records</a:t>
              </a:r>
            </a:p>
          </p:txBody>
        </p:sp>
      </p:grpSp>
      <p:grpSp>
        <p:nvGrpSpPr>
          <p:cNvPr name="Group 57" id="57"/>
          <p:cNvGrpSpPr/>
          <p:nvPr/>
        </p:nvGrpSpPr>
        <p:grpSpPr>
          <a:xfrm rot="0">
            <a:off x="7122795" y="7301103"/>
            <a:ext cx="2391918" cy="938022"/>
            <a:chOff x="0" y="0"/>
            <a:chExt cx="3189224" cy="1250696"/>
          </a:xfrm>
        </p:grpSpPr>
        <p:sp>
          <p:nvSpPr>
            <p:cNvPr name="Freeform 58" id="58"/>
            <p:cNvSpPr/>
            <p:nvPr/>
          </p:nvSpPr>
          <p:spPr>
            <a:xfrm flipH="false" flipV="false" rot="0">
              <a:off x="0" y="0"/>
              <a:ext cx="3189224" cy="1250696"/>
            </a:xfrm>
            <a:custGeom>
              <a:avLst/>
              <a:gdLst/>
              <a:ahLst/>
              <a:cxnLst/>
              <a:rect r="r" b="b" t="t" l="l"/>
              <a:pathLst>
                <a:path h="1250696" w="3189224">
                  <a:moveTo>
                    <a:pt x="0" y="149352"/>
                  </a:moveTo>
                  <a:cubicBezTo>
                    <a:pt x="0" y="66802"/>
                    <a:pt x="66802" y="0"/>
                    <a:pt x="149352" y="0"/>
                  </a:cubicBezTo>
                  <a:lnTo>
                    <a:pt x="3039872" y="0"/>
                  </a:lnTo>
                  <a:cubicBezTo>
                    <a:pt x="3122295" y="0"/>
                    <a:pt x="3189224" y="66802"/>
                    <a:pt x="3189224" y="149352"/>
                  </a:cubicBezTo>
                  <a:lnTo>
                    <a:pt x="3189224" y="1101344"/>
                  </a:lnTo>
                  <a:cubicBezTo>
                    <a:pt x="3189224" y="1183767"/>
                    <a:pt x="3122422" y="1250696"/>
                    <a:pt x="3039872" y="1250696"/>
                  </a:cubicBezTo>
                  <a:lnTo>
                    <a:pt x="149352" y="1250696"/>
                  </a:lnTo>
                  <a:cubicBezTo>
                    <a:pt x="66802" y="1250696"/>
                    <a:pt x="0" y="1183894"/>
                    <a:pt x="0" y="1101344"/>
                  </a:cubicBezTo>
                  <a:close/>
                </a:path>
              </a:pathLst>
            </a:custGeom>
            <a:solidFill>
              <a:srgbClr val="2563EB"/>
            </a:solidFill>
            <a:ln w="19050" cap="sq">
              <a:solidFill>
                <a:srgbClr val="1D4ED8"/>
              </a:solidFill>
              <a:prstDash val="solid"/>
              <a:miter/>
            </a:ln>
          </p:spPr>
        </p:sp>
      </p:grpSp>
      <p:grpSp>
        <p:nvGrpSpPr>
          <p:cNvPr name="Group 59" id="59"/>
          <p:cNvGrpSpPr/>
          <p:nvPr/>
        </p:nvGrpSpPr>
        <p:grpSpPr>
          <a:xfrm rot="0">
            <a:off x="7200900" y="7310628"/>
            <a:ext cx="2235708" cy="918972"/>
            <a:chOff x="0" y="0"/>
            <a:chExt cx="2980944" cy="1225296"/>
          </a:xfrm>
        </p:grpSpPr>
        <p:sp>
          <p:nvSpPr>
            <p:cNvPr name="Freeform 60" id="60"/>
            <p:cNvSpPr/>
            <p:nvPr/>
          </p:nvSpPr>
          <p:spPr>
            <a:xfrm flipH="false" flipV="false" rot="0">
              <a:off x="0" y="0"/>
              <a:ext cx="2980944" cy="1225296"/>
            </a:xfrm>
            <a:custGeom>
              <a:avLst/>
              <a:gdLst/>
              <a:ahLst/>
              <a:cxnLst/>
              <a:rect r="r" b="b" t="t" l="l"/>
              <a:pathLst>
                <a:path h="1225296" w="2980944">
                  <a:moveTo>
                    <a:pt x="0" y="0"/>
                  </a:moveTo>
                  <a:lnTo>
                    <a:pt x="2980944" y="0"/>
                  </a:lnTo>
                  <a:lnTo>
                    <a:pt x="2980944" y="1225296"/>
                  </a:lnTo>
                  <a:lnTo>
                    <a:pt x="0" y="1225296"/>
                  </a:lnTo>
                  <a:close/>
                </a:path>
              </a:pathLst>
            </a:custGeom>
            <a:blipFill>
              <a:blip r:embed="rId3">
                <a:alphaModFix amt="0"/>
              </a:blip>
              <a:stretch>
                <a:fillRect l="-2738" t="0" r="-2738" b="0"/>
              </a:stretch>
            </a:blipFill>
          </p:spPr>
        </p:sp>
        <p:sp>
          <p:nvSpPr>
            <p:cNvPr name="TextBox 61" id="61"/>
            <p:cNvSpPr txBox="true"/>
            <p:nvPr/>
          </p:nvSpPr>
          <p:spPr>
            <a:xfrm>
              <a:off x="0" y="-28575"/>
              <a:ext cx="2980944" cy="1253871"/>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CrimeType</a:t>
              </a:r>
            </a:p>
            <a:p>
              <a:pPr algn="ctr">
                <a:lnSpc>
                  <a:spcPts val="1530"/>
                </a:lnSpc>
              </a:pPr>
              <a:r>
                <a:rPr lang="en-US" sz="1275">
                  <a:solidFill>
                    <a:srgbClr val="FFFFFF"/>
                  </a:solidFill>
                  <a:latin typeface="Calibri (MS)"/>
                  <a:ea typeface="Calibri (MS)"/>
                  <a:cs typeface="Calibri (MS)"/>
                  <a:sym typeface="Calibri (MS)"/>
                </a:rPr>
                <a:t>134 records</a:t>
              </a:r>
            </a:p>
          </p:txBody>
        </p:sp>
      </p:grpSp>
      <p:grpSp>
        <p:nvGrpSpPr>
          <p:cNvPr name="Group 62" id="62"/>
          <p:cNvGrpSpPr/>
          <p:nvPr/>
        </p:nvGrpSpPr>
        <p:grpSpPr>
          <a:xfrm rot="0">
            <a:off x="10236327" y="5024247"/>
            <a:ext cx="2391918" cy="938022"/>
            <a:chOff x="0" y="0"/>
            <a:chExt cx="3189224" cy="1250696"/>
          </a:xfrm>
        </p:grpSpPr>
        <p:sp>
          <p:nvSpPr>
            <p:cNvPr name="Freeform 63" id="63"/>
            <p:cNvSpPr/>
            <p:nvPr/>
          </p:nvSpPr>
          <p:spPr>
            <a:xfrm flipH="false" flipV="false" rot="0">
              <a:off x="0" y="0"/>
              <a:ext cx="3189224" cy="1250696"/>
            </a:xfrm>
            <a:custGeom>
              <a:avLst/>
              <a:gdLst/>
              <a:ahLst/>
              <a:cxnLst/>
              <a:rect r="r" b="b" t="t" l="l"/>
              <a:pathLst>
                <a:path h="1250696" w="3189224">
                  <a:moveTo>
                    <a:pt x="0" y="149352"/>
                  </a:moveTo>
                  <a:cubicBezTo>
                    <a:pt x="0" y="66802"/>
                    <a:pt x="66802" y="0"/>
                    <a:pt x="149352" y="0"/>
                  </a:cubicBezTo>
                  <a:lnTo>
                    <a:pt x="3039872" y="0"/>
                  </a:lnTo>
                  <a:cubicBezTo>
                    <a:pt x="3122295" y="0"/>
                    <a:pt x="3189224" y="66802"/>
                    <a:pt x="3189224" y="149352"/>
                  </a:cubicBezTo>
                  <a:lnTo>
                    <a:pt x="3189224" y="1101344"/>
                  </a:lnTo>
                  <a:cubicBezTo>
                    <a:pt x="3189224" y="1183767"/>
                    <a:pt x="3122422" y="1250696"/>
                    <a:pt x="3039872" y="1250696"/>
                  </a:cubicBezTo>
                  <a:lnTo>
                    <a:pt x="149352" y="1250696"/>
                  </a:lnTo>
                  <a:cubicBezTo>
                    <a:pt x="66802" y="1250696"/>
                    <a:pt x="0" y="1183894"/>
                    <a:pt x="0" y="1101344"/>
                  </a:cubicBezTo>
                  <a:close/>
                </a:path>
              </a:pathLst>
            </a:custGeom>
            <a:solidFill>
              <a:srgbClr val="1F6FB8"/>
            </a:solidFill>
            <a:ln w="19050" cap="sq">
              <a:solidFill>
                <a:srgbClr val="1D4ED8"/>
              </a:solidFill>
              <a:prstDash val="solid"/>
              <a:miter/>
            </a:ln>
          </p:spPr>
        </p:sp>
      </p:grpSp>
      <p:grpSp>
        <p:nvGrpSpPr>
          <p:cNvPr name="Group 64" id="64"/>
          <p:cNvGrpSpPr/>
          <p:nvPr/>
        </p:nvGrpSpPr>
        <p:grpSpPr>
          <a:xfrm rot="0">
            <a:off x="10314432" y="5033772"/>
            <a:ext cx="2235708" cy="918972"/>
            <a:chOff x="0" y="0"/>
            <a:chExt cx="2980944" cy="1225296"/>
          </a:xfrm>
        </p:grpSpPr>
        <p:sp>
          <p:nvSpPr>
            <p:cNvPr name="Freeform 65" id="65"/>
            <p:cNvSpPr/>
            <p:nvPr/>
          </p:nvSpPr>
          <p:spPr>
            <a:xfrm flipH="false" flipV="false" rot="0">
              <a:off x="0" y="0"/>
              <a:ext cx="2980944" cy="1225296"/>
            </a:xfrm>
            <a:custGeom>
              <a:avLst/>
              <a:gdLst/>
              <a:ahLst/>
              <a:cxnLst/>
              <a:rect r="r" b="b" t="t" l="l"/>
              <a:pathLst>
                <a:path h="1225296" w="2980944">
                  <a:moveTo>
                    <a:pt x="0" y="0"/>
                  </a:moveTo>
                  <a:lnTo>
                    <a:pt x="2980944" y="0"/>
                  </a:lnTo>
                  <a:lnTo>
                    <a:pt x="2980944" y="1225296"/>
                  </a:lnTo>
                  <a:lnTo>
                    <a:pt x="0" y="1225296"/>
                  </a:lnTo>
                  <a:close/>
                </a:path>
              </a:pathLst>
            </a:custGeom>
            <a:blipFill>
              <a:blip r:embed="rId3">
                <a:alphaModFix amt="0"/>
              </a:blip>
              <a:stretch>
                <a:fillRect l="-2738" t="0" r="-2738" b="0"/>
              </a:stretch>
            </a:blipFill>
          </p:spPr>
        </p:sp>
        <p:sp>
          <p:nvSpPr>
            <p:cNvPr name="TextBox 66" id="66"/>
            <p:cNvSpPr txBox="true"/>
            <p:nvPr/>
          </p:nvSpPr>
          <p:spPr>
            <a:xfrm>
              <a:off x="0" y="-28575"/>
              <a:ext cx="2980944" cy="1253871"/>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Court</a:t>
              </a:r>
            </a:p>
            <a:p>
              <a:pPr algn="ctr">
                <a:lnSpc>
                  <a:spcPts val="1530"/>
                </a:lnSpc>
              </a:pPr>
              <a:r>
                <a:rPr lang="en-US" sz="1275">
                  <a:solidFill>
                    <a:srgbClr val="FFFFFF"/>
                  </a:solidFill>
                  <a:latin typeface="Calibri (MS)"/>
                  <a:ea typeface="Calibri (MS)"/>
                  <a:cs typeface="Calibri (MS)"/>
                  <a:sym typeface="Calibri (MS)"/>
                </a:rPr>
                <a:t>10 records</a:t>
              </a:r>
            </a:p>
          </p:txBody>
        </p:sp>
      </p:grpSp>
      <p:sp>
        <p:nvSpPr>
          <p:cNvPr name="TextBox 67" id="67"/>
          <p:cNvSpPr txBox="true"/>
          <p:nvPr/>
        </p:nvSpPr>
        <p:spPr>
          <a:xfrm rot="0">
            <a:off x="4018788" y="8347710"/>
            <a:ext cx="8641080" cy="403098"/>
          </a:xfrm>
          <a:prstGeom prst="rect">
            <a:avLst/>
          </a:prstGeom>
        </p:spPr>
        <p:txBody>
          <a:bodyPr anchor="t" rtlCol="false" tIns="0" lIns="0" bIns="0" rIns="0">
            <a:spAutoFit/>
          </a:bodyPr>
          <a:lstStyle/>
          <a:p>
            <a:pPr algn="l">
              <a:lnSpc>
                <a:spcPts val="1889"/>
              </a:lnSpc>
            </a:pPr>
            <a:r>
              <a:rPr lang="en-US" sz="1575" i="true">
                <a:solidFill>
                  <a:srgbClr val="5B6B8C"/>
                </a:solidFill>
                <a:latin typeface="Calibri (MS) Italics"/>
                <a:ea typeface="Calibri (MS) Italics"/>
                <a:cs typeface="Calibri (MS) Italics"/>
                <a:sym typeface="Calibri (MS) Italics"/>
              </a:rPr>
              <a:t>FIR ↔ CrimeType via FIR_CrimeType</a:t>
            </a:r>
          </a:p>
        </p:txBody>
      </p:sp>
      <p:sp>
        <p:nvSpPr>
          <p:cNvPr name="TextBox 68" id="68"/>
          <p:cNvSpPr txBox="true"/>
          <p:nvPr/>
        </p:nvSpPr>
        <p:spPr>
          <a:xfrm rot="0">
            <a:off x="918972" y="8808720"/>
            <a:ext cx="16459200" cy="586740"/>
          </a:xfrm>
          <a:prstGeom prst="rect">
            <a:avLst/>
          </a:prstGeom>
        </p:spPr>
        <p:txBody>
          <a:bodyPr anchor="t" rtlCol="false" tIns="0" lIns="0" bIns="0" rIns="0">
            <a:spAutoFit/>
          </a:bodyPr>
          <a:lstStyle/>
          <a:p>
            <a:pPr algn="l">
              <a:lnSpc>
                <a:spcPts val="1709"/>
              </a:lnSpc>
            </a:pPr>
            <a:r>
              <a:rPr lang="en-US" sz="1425" i="true">
                <a:solidFill>
                  <a:srgbClr val="5B6B8C"/>
                </a:solidFill>
                <a:latin typeface="Calibri (MS) Italics"/>
                <a:ea typeface="Calibri (MS) Italics"/>
                <a:cs typeface="Calibri (MS) Italics"/>
                <a:sym typeface="Calibri (MS) Italics"/>
              </a:rPr>
              <a:t>Conceptual ER-style diagram. Not shown (relationships omitted): Premises 228 • Weapon 72 • CaseStatus 5. Master tables (e.g., Court, CaseStatus) are intentionally small.</a:t>
            </a:r>
          </a:p>
        </p:txBody>
      </p:sp>
      <p:grpSp>
        <p:nvGrpSpPr>
          <p:cNvPr name="Group 69" id="69"/>
          <p:cNvGrpSpPr/>
          <p:nvPr/>
        </p:nvGrpSpPr>
        <p:grpSpPr>
          <a:xfrm rot="0">
            <a:off x="13061823" y="2637663"/>
            <a:ext cx="4325874" cy="2117598"/>
            <a:chOff x="0" y="0"/>
            <a:chExt cx="5767832" cy="2823464"/>
          </a:xfrm>
        </p:grpSpPr>
        <p:sp>
          <p:nvSpPr>
            <p:cNvPr name="Freeform 70" id="70"/>
            <p:cNvSpPr/>
            <p:nvPr/>
          </p:nvSpPr>
          <p:spPr>
            <a:xfrm flipH="false" flipV="false" rot="0">
              <a:off x="0" y="0"/>
              <a:ext cx="5767832" cy="2823464"/>
            </a:xfrm>
            <a:custGeom>
              <a:avLst/>
              <a:gdLst/>
              <a:ahLst/>
              <a:cxnLst/>
              <a:rect r="r" b="b" t="t" l="l"/>
              <a:pathLst>
                <a:path h="2823464" w="5767832">
                  <a:moveTo>
                    <a:pt x="0" y="184531"/>
                  </a:moveTo>
                  <a:cubicBezTo>
                    <a:pt x="0" y="82677"/>
                    <a:pt x="82677" y="0"/>
                    <a:pt x="184531" y="0"/>
                  </a:cubicBezTo>
                  <a:lnTo>
                    <a:pt x="5583301" y="0"/>
                  </a:lnTo>
                  <a:cubicBezTo>
                    <a:pt x="5685282" y="0"/>
                    <a:pt x="5767832" y="82677"/>
                    <a:pt x="5767832" y="184531"/>
                  </a:cubicBezTo>
                  <a:lnTo>
                    <a:pt x="5767832" y="2638933"/>
                  </a:lnTo>
                  <a:cubicBezTo>
                    <a:pt x="5767832" y="2740914"/>
                    <a:pt x="5685155" y="2823464"/>
                    <a:pt x="5583301" y="2823464"/>
                  </a:cubicBezTo>
                  <a:lnTo>
                    <a:pt x="184531" y="2823464"/>
                  </a:lnTo>
                  <a:cubicBezTo>
                    <a:pt x="82677" y="2823464"/>
                    <a:pt x="0" y="2740787"/>
                    <a:pt x="0" y="2638933"/>
                  </a:cubicBezTo>
                  <a:close/>
                </a:path>
              </a:pathLst>
            </a:custGeom>
            <a:solidFill>
              <a:srgbClr val="2563EB"/>
            </a:solidFill>
            <a:ln w="19050" cap="sq">
              <a:solidFill>
                <a:srgbClr val="1D4ED8"/>
              </a:solidFill>
              <a:prstDash val="solid"/>
              <a:miter/>
            </a:ln>
          </p:spPr>
        </p:sp>
      </p:grpSp>
      <p:grpSp>
        <p:nvGrpSpPr>
          <p:cNvPr name="Group 71" id="71"/>
          <p:cNvGrpSpPr/>
          <p:nvPr/>
        </p:nvGrpSpPr>
        <p:grpSpPr>
          <a:xfrm rot="0">
            <a:off x="13071348" y="2715768"/>
            <a:ext cx="4306824" cy="1165860"/>
            <a:chOff x="0" y="0"/>
            <a:chExt cx="5742432" cy="1554480"/>
          </a:xfrm>
        </p:grpSpPr>
        <p:sp>
          <p:nvSpPr>
            <p:cNvPr name="Freeform 72" id="72"/>
            <p:cNvSpPr/>
            <p:nvPr/>
          </p:nvSpPr>
          <p:spPr>
            <a:xfrm flipH="false" flipV="false" rot="0">
              <a:off x="0" y="0"/>
              <a:ext cx="5742432" cy="1554480"/>
            </a:xfrm>
            <a:custGeom>
              <a:avLst/>
              <a:gdLst/>
              <a:ahLst/>
              <a:cxnLst/>
              <a:rect r="r" b="b" t="t" l="l"/>
              <a:pathLst>
                <a:path h="1554480" w="5742432">
                  <a:moveTo>
                    <a:pt x="0" y="0"/>
                  </a:moveTo>
                  <a:lnTo>
                    <a:pt x="5742432" y="0"/>
                  </a:lnTo>
                  <a:lnTo>
                    <a:pt x="5742432" y="1554480"/>
                  </a:lnTo>
                  <a:lnTo>
                    <a:pt x="0" y="1554480"/>
                  </a:lnTo>
                  <a:close/>
                </a:path>
              </a:pathLst>
            </a:custGeom>
            <a:blipFill>
              <a:blip r:embed="rId3">
                <a:alphaModFix amt="0"/>
              </a:blip>
              <a:stretch>
                <a:fillRect l="0" t="-21980" r="0" b="-21980"/>
              </a:stretch>
            </a:blipFill>
          </p:spPr>
        </p:sp>
        <p:sp>
          <p:nvSpPr>
            <p:cNvPr name="TextBox 73" id="73"/>
            <p:cNvSpPr txBox="true"/>
            <p:nvPr/>
          </p:nvSpPr>
          <p:spPr>
            <a:xfrm>
              <a:off x="0" y="-123825"/>
              <a:ext cx="5742432" cy="1678305"/>
            </a:xfrm>
            <a:prstGeom prst="rect">
              <a:avLst/>
            </a:prstGeom>
          </p:spPr>
          <p:txBody>
            <a:bodyPr anchor="ctr" rtlCol="false" tIns="0" lIns="0" bIns="0" rIns="0"/>
            <a:lstStyle/>
            <a:p>
              <a:pPr algn="ctr">
                <a:lnSpc>
                  <a:spcPts val="7200"/>
                </a:lnSpc>
              </a:pPr>
              <a:r>
                <a:rPr lang="en-US" sz="6000" b="true">
                  <a:solidFill>
                    <a:srgbClr val="FFFFFF"/>
                  </a:solidFill>
                  <a:latin typeface="Calibri (MS) Bold"/>
                  <a:ea typeface="Calibri (MS) Bold"/>
                  <a:cs typeface="Calibri (MS) Bold"/>
                  <a:sym typeface="Calibri (MS) Bold"/>
                </a:rPr>
                <a:t>4,029</a:t>
              </a:r>
            </a:p>
          </p:txBody>
        </p:sp>
      </p:grpSp>
      <p:sp>
        <p:nvSpPr>
          <p:cNvPr name="TextBox 74" id="74"/>
          <p:cNvSpPr txBox="true"/>
          <p:nvPr/>
        </p:nvSpPr>
        <p:spPr>
          <a:xfrm rot="0">
            <a:off x="13071348" y="3870960"/>
            <a:ext cx="4306824" cy="792480"/>
          </a:xfrm>
          <a:prstGeom prst="rect">
            <a:avLst/>
          </a:prstGeom>
        </p:spPr>
        <p:txBody>
          <a:bodyPr anchor="t" rtlCol="false" tIns="0" lIns="0" bIns="0" rIns="0">
            <a:spAutoFit/>
          </a:bodyPr>
          <a:lstStyle/>
          <a:p>
            <a:pPr algn="ctr">
              <a:lnSpc>
                <a:spcPts val="1800"/>
              </a:lnSpc>
            </a:pPr>
            <a:r>
              <a:rPr lang="en-US" sz="1500" b="true">
                <a:solidFill>
                  <a:srgbClr val="FFFFFF"/>
                </a:solidFill>
                <a:latin typeface="Calibri (MS) Bold"/>
                <a:ea typeface="Calibri (MS) Bold"/>
                <a:cs typeface="Calibri (MS) Bold"/>
                <a:sym typeface="Calibri (MS) Bold"/>
              </a:rPr>
              <a:t>TOTAL RECORDS</a:t>
            </a:r>
          </a:p>
          <a:p>
            <a:pPr algn="ctr">
              <a:lnSpc>
                <a:spcPts val="1800"/>
              </a:lnSpc>
            </a:pPr>
            <a:r>
              <a:rPr lang="en-US" sz="1500">
                <a:solidFill>
                  <a:srgbClr val="FFFFFF"/>
                </a:solidFill>
                <a:latin typeface="Calibri (MS)"/>
                <a:ea typeface="Calibri (MS)"/>
                <a:cs typeface="Calibri (MS)"/>
                <a:sym typeface="Calibri (MS)"/>
              </a:rPr>
              <a:t>12 CORE RELATIONAL TABLES</a:t>
            </a:r>
          </a:p>
        </p:txBody>
      </p:sp>
      <p:grpSp>
        <p:nvGrpSpPr>
          <p:cNvPr name="Group 75" id="75"/>
          <p:cNvGrpSpPr/>
          <p:nvPr/>
        </p:nvGrpSpPr>
        <p:grpSpPr>
          <a:xfrm rot="0">
            <a:off x="13064204" y="4971764"/>
            <a:ext cx="4321112" cy="2757488"/>
            <a:chOff x="0" y="0"/>
            <a:chExt cx="5761482" cy="3676650"/>
          </a:xfrm>
        </p:grpSpPr>
        <p:sp>
          <p:nvSpPr>
            <p:cNvPr name="Freeform 76" id="76"/>
            <p:cNvSpPr/>
            <p:nvPr/>
          </p:nvSpPr>
          <p:spPr>
            <a:xfrm flipH="false" flipV="false" rot="0">
              <a:off x="0" y="0"/>
              <a:ext cx="5761482" cy="3676650"/>
            </a:xfrm>
            <a:custGeom>
              <a:avLst/>
              <a:gdLst/>
              <a:ahLst/>
              <a:cxnLst/>
              <a:rect r="r" b="b" t="t" l="l"/>
              <a:pathLst>
                <a:path h="3676650" w="5761482">
                  <a:moveTo>
                    <a:pt x="0" y="0"/>
                  </a:moveTo>
                  <a:lnTo>
                    <a:pt x="5761482" y="0"/>
                  </a:lnTo>
                  <a:lnTo>
                    <a:pt x="5761482" y="3676650"/>
                  </a:lnTo>
                  <a:lnTo>
                    <a:pt x="0" y="3676650"/>
                  </a:lnTo>
                  <a:close/>
                </a:path>
              </a:pathLst>
            </a:custGeom>
            <a:solidFill>
              <a:srgbClr val="F0F5FF"/>
            </a:solidFill>
            <a:ln w="14288" cap="sq">
              <a:solidFill>
                <a:srgbClr val="C9D9F2"/>
              </a:solidFill>
              <a:prstDash val="solid"/>
              <a:miter/>
            </a:ln>
          </p:spPr>
        </p:sp>
      </p:grpSp>
      <p:sp>
        <p:nvSpPr>
          <p:cNvPr name="TextBox 77" id="77"/>
          <p:cNvSpPr txBox="true"/>
          <p:nvPr/>
        </p:nvSpPr>
        <p:spPr>
          <a:xfrm rot="0">
            <a:off x="13345668" y="5105400"/>
            <a:ext cx="3758184"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Data-Integrity Mechanisms</a:t>
            </a:r>
          </a:p>
        </p:txBody>
      </p:sp>
      <p:sp>
        <p:nvSpPr>
          <p:cNvPr name="TextBox 78" id="78"/>
          <p:cNvSpPr txBox="true"/>
          <p:nvPr/>
        </p:nvSpPr>
        <p:spPr>
          <a:xfrm rot="0">
            <a:off x="13304520" y="5526405"/>
            <a:ext cx="3909060" cy="2085975"/>
          </a:xfrm>
          <a:prstGeom prst="rect">
            <a:avLst/>
          </a:prstGeom>
        </p:spPr>
        <p:txBody>
          <a:bodyPr anchor="t" rtlCol="false" tIns="0" lIns="0" bIns="0" rIns="0">
            <a:spAutoFit/>
          </a:bodyPr>
          <a:lstStyle/>
          <a:p>
            <a:pPr algn="l" marL="298609" indent="-149304" lvl="1">
              <a:lnSpc>
                <a:spcPts val="1980"/>
              </a:lnSpc>
              <a:buFont typeface="Arial"/>
              <a:buChar char="•"/>
            </a:pPr>
            <a:r>
              <a:rPr lang="en-US" sz="1650">
                <a:solidFill>
                  <a:srgbClr val="0F1F45"/>
                </a:solidFill>
                <a:latin typeface="Calibri (MS)"/>
                <a:ea typeface="Calibri (MS)"/>
                <a:cs typeface="Calibri (MS)"/>
                <a:sym typeface="Calibri (MS)"/>
              </a:rPr>
              <a:t>Primary Keys • Foreign Keys</a:t>
            </a:r>
          </a:p>
          <a:p>
            <a:pPr algn="l" marL="298609" indent="-149304" lvl="1">
              <a:lnSpc>
                <a:spcPts val="1980"/>
              </a:lnSpc>
              <a:buFont typeface="Arial"/>
              <a:buChar char="•"/>
            </a:pPr>
            <a:r>
              <a:rPr lang="en-US" sz="1650">
                <a:solidFill>
                  <a:srgbClr val="0F1F45"/>
                </a:solidFill>
                <a:latin typeface="Calibri (MS)"/>
                <a:ea typeface="Calibri (MS)"/>
                <a:cs typeface="Calibri (MS)"/>
                <a:sym typeface="Calibri (MS)"/>
              </a:rPr>
              <a:t>CHECK constraints</a:t>
            </a:r>
          </a:p>
          <a:p>
            <a:pPr algn="l" marL="298609" indent="-149304" lvl="1">
              <a:lnSpc>
                <a:spcPts val="1980"/>
              </a:lnSpc>
              <a:buFont typeface="Arial"/>
              <a:buChar char="•"/>
            </a:pPr>
            <a:r>
              <a:rPr lang="en-US" sz="1650">
                <a:solidFill>
                  <a:srgbClr val="0F1F45"/>
                </a:solidFill>
                <a:latin typeface="Calibri (MS)"/>
                <a:ea typeface="Calibri (MS)"/>
                <a:cs typeface="Calibri (MS)"/>
                <a:sym typeface="Calibri (MS)"/>
              </a:rPr>
              <a:t>Referential integrity</a:t>
            </a:r>
          </a:p>
          <a:p>
            <a:pPr algn="l" marL="298609" indent="-149304" lvl="1">
              <a:lnSpc>
                <a:spcPts val="1980"/>
              </a:lnSpc>
              <a:buFont typeface="Arial"/>
              <a:buChar char="•"/>
            </a:pPr>
            <a:r>
              <a:rPr lang="en-US" sz="1650">
                <a:solidFill>
                  <a:srgbClr val="0F1F45"/>
                </a:solidFill>
                <a:latin typeface="Calibri (MS)"/>
                <a:ea typeface="Calibri (MS)"/>
                <a:cs typeface="Calibri (MS)"/>
                <a:sym typeface="Calibri (MS)"/>
              </a:rPr>
              <a:t>Date validation</a:t>
            </a:r>
          </a:p>
          <a:p>
            <a:pPr algn="l" marL="298609" indent="-149304" lvl="1">
              <a:lnSpc>
                <a:spcPts val="1980"/>
              </a:lnSpc>
              <a:buFont typeface="Arial"/>
              <a:buChar char="•"/>
            </a:pPr>
            <a:r>
              <a:rPr lang="en-US" sz="1650">
                <a:solidFill>
                  <a:srgbClr val="0F1F45"/>
                </a:solidFill>
                <a:latin typeface="Calibri (MS)"/>
                <a:ea typeface="Calibri (MS)"/>
                <a:cs typeface="Calibri (MS)"/>
                <a:sym typeface="Calibri (MS)"/>
              </a:rPr>
              <a:t>Controlled status values</a:t>
            </a:r>
          </a:p>
        </p:txBody>
      </p:sp>
      <p:grpSp>
        <p:nvGrpSpPr>
          <p:cNvPr name="Group 79" id="79"/>
          <p:cNvGrpSpPr/>
          <p:nvPr/>
        </p:nvGrpSpPr>
        <p:grpSpPr>
          <a:xfrm rot="0">
            <a:off x="13064204" y="7920704"/>
            <a:ext cx="4321112" cy="631507"/>
            <a:chOff x="0" y="0"/>
            <a:chExt cx="5761482" cy="842010"/>
          </a:xfrm>
        </p:grpSpPr>
        <p:sp>
          <p:nvSpPr>
            <p:cNvPr name="Freeform 80" id="80"/>
            <p:cNvSpPr/>
            <p:nvPr/>
          </p:nvSpPr>
          <p:spPr>
            <a:xfrm flipH="false" flipV="false" rot="0">
              <a:off x="0" y="0"/>
              <a:ext cx="5761482" cy="842010"/>
            </a:xfrm>
            <a:custGeom>
              <a:avLst/>
              <a:gdLst/>
              <a:ahLst/>
              <a:cxnLst/>
              <a:rect r="r" b="b" t="t" l="l"/>
              <a:pathLst>
                <a:path h="842010" w="5761482">
                  <a:moveTo>
                    <a:pt x="0" y="0"/>
                  </a:moveTo>
                  <a:lnTo>
                    <a:pt x="5761482" y="0"/>
                  </a:lnTo>
                  <a:lnTo>
                    <a:pt x="5761482" y="842010"/>
                  </a:lnTo>
                  <a:lnTo>
                    <a:pt x="0" y="842010"/>
                  </a:lnTo>
                  <a:close/>
                </a:path>
              </a:pathLst>
            </a:custGeom>
            <a:solidFill>
              <a:srgbClr val="FFFFFF"/>
            </a:solidFill>
            <a:ln w="14288" cap="sq">
              <a:solidFill>
                <a:srgbClr val="2563EB"/>
              </a:solidFill>
              <a:prstDash val="solid"/>
              <a:miter/>
            </a:ln>
          </p:spPr>
        </p:sp>
      </p:grpSp>
      <p:grpSp>
        <p:nvGrpSpPr>
          <p:cNvPr name="Group 81" id="81"/>
          <p:cNvGrpSpPr/>
          <p:nvPr/>
        </p:nvGrpSpPr>
        <p:grpSpPr>
          <a:xfrm rot="0">
            <a:off x="13277088" y="8037576"/>
            <a:ext cx="3895344" cy="397764"/>
            <a:chOff x="0" y="0"/>
            <a:chExt cx="5193792" cy="530352"/>
          </a:xfrm>
        </p:grpSpPr>
        <p:sp>
          <p:nvSpPr>
            <p:cNvPr name="Freeform 82" id="82"/>
            <p:cNvSpPr/>
            <p:nvPr/>
          </p:nvSpPr>
          <p:spPr>
            <a:xfrm flipH="false" flipV="false" rot="0">
              <a:off x="0" y="0"/>
              <a:ext cx="5193792" cy="530352"/>
            </a:xfrm>
            <a:custGeom>
              <a:avLst/>
              <a:gdLst/>
              <a:ahLst/>
              <a:cxnLst/>
              <a:rect r="r" b="b" t="t" l="l"/>
              <a:pathLst>
                <a:path h="530352" w="5193792">
                  <a:moveTo>
                    <a:pt x="0" y="0"/>
                  </a:moveTo>
                  <a:lnTo>
                    <a:pt x="5193792" y="0"/>
                  </a:lnTo>
                  <a:lnTo>
                    <a:pt x="5193792" y="530352"/>
                  </a:lnTo>
                  <a:lnTo>
                    <a:pt x="0" y="530352"/>
                  </a:lnTo>
                  <a:close/>
                </a:path>
              </a:pathLst>
            </a:custGeom>
            <a:blipFill>
              <a:blip r:embed="rId3">
                <a:alphaModFix amt="0"/>
              </a:blip>
              <a:stretch>
                <a:fillRect l="0" t="-140819" r="0" b="-140819"/>
              </a:stretch>
            </a:blipFill>
          </p:spPr>
        </p:sp>
        <p:sp>
          <p:nvSpPr>
            <p:cNvPr name="TextBox 83" id="83"/>
            <p:cNvSpPr txBox="true"/>
            <p:nvPr/>
          </p:nvSpPr>
          <p:spPr>
            <a:xfrm>
              <a:off x="0" y="-38100"/>
              <a:ext cx="5193792" cy="568452"/>
            </a:xfrm>
            <a:prstGeom prst="rect">
              <a:avLst/>
            </a:prstGeom>
          </p:spPr>
          <p:txBody>
            <a:bodyPr anchor="ctr" rtlCol="false" tIns="0" lIns="0" bIns="0" rIns="0"/>
            <a:lstStyle/>
            <a:p>
              <a:pPr algn="l">
                <a:lnSpc>
                  <a:spcPts val="1709"/>
                </a:lnSpc>
              </a:pPr>
              <a:r>
                <a:rPr lang="en-US" sz="1425">
                  <a:solidFill>
                    <a:srgbClr val="0F1F45"/>
                  </a:solidFill>
                  <a:latin typeface="Consolas"/>
                  <a:ea typeface="Consolas"/>
                  <a:cs typeface="Consolas"/>
                  <a:sym typeface="Consolas"/>
                </a:rPr>
                <a:t>CHECK (Date_Rptd &gt;= Date_Occ)</a:t>
              </a:r>
            </a:p>
          </p:txBody>
        </p:sp>
      </p:grpSp>
      <p:sp>
        <p:nvSpPr>
          <p:cNvPr name="Freeform 84" id="84"/>
          <p:cNvSpPr/>
          <p:nvPr/>
        </p:nvSpPr>
        <p:spPr>
          <a:xfrm flipH="false" flipV="false" rot="0">
            <a:off x="16247050" y="152298"/>
            <a:ext cx="1933060" cy="1006418"/>
          </a:xfrm>
          <a:custGeom>
            <a:avLst/>
            <a:gdLst/>
            <a:ahLst/>
            <a:cxnLst/>
            <a:rect r="r" b="b" t="t" l="l"/>
            <a:pathLst>
              <a:path h="1006418" w="1933060">
                <a:moveTo>
                  <a:pt x="0" y="0"/>
                </a:moveTo>
                <a:lnTo>
                  <a:pt x="1933060" y="0"/>
                </a:lnTo>
                <a:lnTo>
                  <a:pt x="1933060" y="1006418"/>
                </a:lnTo>
                <a:lnTo>
                  <a:pt x="0" y="1006418"/>
                </a:lnTo>
                <a:lnTo>
                  <a:pt x="0" y="0"/>
                </a:lnTo>
                <a:close/>
              </a:path>
            </a:pathLst>
          </a:custGeom>
          <a:blipFill>
            <a:blip r:embed="rId4"/>
            <a:stretch>
              <a:fillRect l="0" t="0" r="0" b="0"/>
            </a:stretch>
          </a:blipFill>
        </p:spPr>
      </p:sp>
      <p:sp>
        <p:nvSpPr>
          <p:cNvPr name="Freeform 85" id="85"/>
          <p:cNvSpPr/>
          <p:nvPr/>
        </p:nvSpPr>
        <p:spPr>
          <a:xfrm flipH="false" flipV="false" rot="0">
            <a:off x="0" y="9407477"/>
            <a:ext cx="13461945" cy="846145"/>
          </a:xfrm>
          <a:custGeom>
            <a:avLst/>
            <a:gdLst/>
            <a:ahLst/>
            <a:cxnLst/>
            <a:rect r="r" b="b" t="t" l="l"/>
            <a:pathLst>
              <a:path h="846145" w="13461945">
                <a:moveTo>
                  <a:pt x="0" y="0"/>
                </a:moveTo>
                <a:lnTo>
                  <a:pt x="13461945" y="0"/>
                </a:lnTo>
                <a:lnTo>
                  <a:pt x="13461945" y="846145"/>
                </a:lnTo>
                <a:lnTo>
                  <a:pt x="0" y="846145"/>
                </a:lnTo>
                <a:lnTo>
                  <a:pt x="0" y="0"/>
                </a:lnTo>
                <a:close/>
              </a:path>
            </a:pathLst>
          </a:custGeom>
          <a:blipFill>
            <a:blip r:embed="rId5"/>
            <a:stretch>
              <a:fillRect l="0" t="-22657" r="-4334" b="-20699"/>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8972" y="411480"/>
            <a:ext cx="16459200" cy="960120"/>
            <a:chOff x="0" y="0"/>
            <a:chExt cx="21945600" cy="1280160"/>
          </a:xfrm>
        </p:grpSpPr>
        <p:sp>
          <p:nvSpPr>
            <p:cNvPr name="Freeform 3" id="3"/>
            <p:cNvSpPr/>
            <p:nvPr/>
          </p:nvSpPr>
          <p:spPr>
            <a:xfrm flipH="false" flipV="false" rot="0">
              <a:off x="0" y="0"/>
              <a:ext cx="21945600" cy="1280160"/>
            </a:xfrm>
            <a:custGeom>
              <a:avLst/>
              <a:gdLst/>
              <a:ahLst/>
              <a:cxnLst/>
              <a:rect r="r" b="b" t="t" l="l"/>
              <a:pathLst>
                <a:path h="1280160" w="21945600">
                  <a:moveTo>
                    <a:pt x="0" y="0"/>
                  </a:moveTo>
                  <a:lnTo>
                    <a:pt x="21945600" y="0"/>
                  </a:lnTo>
                  <a:lnTo>
                    <a:pt x="21945600" y="1280160"/>
                  </a:lnTo>
                  <a:lnTo>
                    <a:pt x="0" y="1280160"/>
                  </a:lnTo>
                  <a:close/>
                </a:path>
              </a:pathLst>
            </a:custGeom>
            <a:blipFill>
              <a:blip r:embed="rId3">
                <a:alphaModFix amt="0"/>
              </a:blip>
              <a:stretch>
                <a:fillRect l="0" t="-284029" r="0" b="-284029"/>
              </a:stretch>
            </a:blipFill>
          </p:spPr>
        </p:sp>
        <p:sp>
          <p:nvSpPr>
            <p:cNvPr name="TextBox 4" id="4"/>
            <p:cNvSpPr txBox="true"/>
            <p:nvPr/>
          </p:nvSpPr>
          <p:spPr>
            <a:xfrm>
              <a:off x="0" y="-66675"/>
              <a:ext cx="21945600" cy="1346835"/>
            </a:xfrm>
            <a:prstGeom prst="rect">
              <a:avLst/>
            </a:prstGeom>
          </p:spPr>
          <p:txBody>
            <a:bodyPr anchor="ctr" rtlCol="false" tIns="0" lIns="0" bIns="0" rIns="0"/>
            <a:lstStyle/>
            <a:p>
              <a:pPr algn="l">
                <a:lnSpc>
                  <a:spcPts val="4320"/>
                </a:lnSpc>
              </a:pPr>
              <a:r>
                <a:rPr lang="en-US" sz="3600" b="true">
                  <a:solidFill>
                    <a:srgbClr val="2563EB"/>
                  </a:solidFill>
                  <a:latin typeface="Calibri (MS) Bold"/>
                  <a:ea typeface="Calibri (MS) Bold"/>
                  <a:cs typeface="Calibri (MS) Bold"/>
                  <a:sym typeface="Calibri (MS) Bold"/>
                </a:rPr>
                <a:t>05  </a:t>
              </a:r>
              <a:r>
                <a:rPr lang="en-US" sz="3600" b="true">
                  <a:solidFill>
                    <a:srgbClr val="0F1F45"/>
                  </a:solidFill>
                  <a:latin typeface="Calibri (MS) Bold"/>
                  <a:ea typeface="Calibri (MS) Bold"/>
                  <a:cs typeface="Calibri (MS) Bold"/>
                  <a:sym typeface="Calibri (MS) Bold"/>
                </a:rPr>
                <a:t>SQL Analytics &amp; Judicial Case Aging</a:t>
              </a:r>
            </a:p>
          </p:txBody>
        </p:sp>
      </p:grpSp>
      <p:sp>
        <p:nvSpPr>
          <p:cNvPr name="TextBox 5" id="5"/>
          <p:cNvSpPr txBox="true"/>
          <p:nvPr/>
        </p:nvSpPr>
        <p:spPr>
          <a:xfrm rot="0">
            <a:off x="918972" y="9476613"/>
            <a:ext cx="10972800" cy="440055"/>
          </a:xfrm>
          <a:prstGeom prst="rect">
            <a:avLst/>
          </a:prstGeom>
        </p:spPr>
        <p:txBody>
          <a:bodyPr anchor="t" rtlCol="false" tIns="0" lIns="0" bIns="0" rIns="0">
            <a:spAutoFit/>
          </a:bodyPr>
          <a:lstStyle/>
          <a:p>
            <a:pPr algn="l">
              <a:lnSpc>
                <a:spcPts val="1620"/>
              </a:lnSpc>
            </a:pPr>
            <a:r>
              <a:rPr lang="en-US" sz="1350">
                <a:solidFill>
                  <a:srgbClr val="5B6B8C"/>
                </a:solidFill>
                <a:latin typeface="Calibri (MS)"/>
                <a:ea typeface="Calibri (MS)"/>
                <a:cs typeface="Calibri (MS)"/>
                <a:sym typeface="Calibri (MS)"/>
              </a:rPr>
              <a:t>Gaurav Singh | P15 | CRPSMS | MySQL 8.0</a:t>
            </a:r>
          </a:p>
        </p:txBody>
      </p:sp>
      <p:sp>
        <p:nvSpPr>
          <p:cNvPr name="TextBox 6" id="6"/>
          <p:cNvSpPr txBox="true"/>
          <p:nvPr/>
        </p:nvSpPr>
        <p:spPr>
          <a:xfrm rot="0">
            <a:off x="15553944" y="9476613"/>
            <a:ext cx="1824228" cy="440055"/>
          </a:xfrm>
          <a:prstGeom prst="rect">
            <a:avLst/>
          </a:prstGeom>
        </p:spPr>
        <p:txBody>
          <a:bodyPr anchor="t" rtlCol="false" tIns="0" lIns="0" bIns="0" rIns="0">
            <a:spAutoFit/>
          </a:bodyPr>
          <a:lstStyle/>
          <a:p>
            <a:pPr algn="r">
              <a:lnSpc>
                <a:spcPts val="1620"/>
              </a:lnSpc>
            </a:pPr>
            <a:r>
              <a:rPr lang="en-US" sz="1350">
                <a:solidFill>
                  <a:srgbClr val="5B6B8C"/>
                </a:solidFill>
                <a:latin typeface="Calibri (MS)"/>
                <a:ea typeface="Calibri (MS)"/>
                <a:cs typeface="Calibri (MS)"/>
                <a:sym typeface="Calibri (MS)"/>
              </a:rPr>
              <a:t>5 / 8</a:t>
            </a:r>
          </a:p>
        </p:txBody>
      </p:sp>
      <p:grpSp>
        <p:nvGrpSpPr>
          <p:cNvPr name="Group 7" id="7"/>
          <p:cNvGrpSpPr/>
          <p:nvPr/>
        </p:nvGrpSpPr>
        <p:grpSpPr>
          <a:xfrm rot="0">
            <a:off x="909447" y="1636395"/>
            <a:ext cx="2396490" cy="773430"/>
            <a:chOff x="0" y="0"/>
            <a:chExt cx="3195320" cy="1031240"/>
          </a:xfrm>
        </p:grpSpPr>
        <p:sp>
          <p:nvSpPr>
            <p:cNvPr name="Freeform 8" id="8"/>
            <p:cNvSpPr/>
            <p:nvPr/>
          </p:nvSpPr>
          <p:spPr>
            <a:xfrm flipH="false" flipV="false" rot="0">
              <a:off x="0" y="0"/>
              <a:ext cx="3195320" cy="1031240"/>
            </a:xfrm>
            <a:custGeom>
              <a:avLst/>
              <a:gdLst/>
              <a:ahLst/>
              <a:cxnLst/>
              <a:rect r="r" b="b" t="t" l="l"/>
              <a:pathLst>
                <a:path h="1031240" w="3195320">
                  <a:moveTo>
                    <a:pt x="0" y="187452"/>
                  </a:moveTo>
                  <a:cubicBezTo>
                    <a:pt x="0" y="83947"/>
                    <a:pt x="83947" y="0"/>
                    <a:pt x="187452" y="0"/>
                  </a:cubicBezTo>
                  <a:lnTo>
                    <a:pt x="3007868" y="0"/>
                  </a:lnTo>
                  <a:cubicBezTo>
                    <a:pt x="3111373" y="0"/>
                    <a:pt x="3195320" y="83947"/>
                    <a:pt x="3195320" y="187452"/>
                  </a:cubicBezTo>
                  <a:lnTo>
                    <a:pt x="3195320" y="843788"/>
                  </a:lnTo>
                  <a:cubicBezTo>
                    <a:pt x="3195320" y="947293"/>
                    <a:pt x="3111373" y="1031240"/>
                    <a:pt x="3007868" y="1031240"/>
                  </a:cubicBezTo>
                  <a:lnTo>
                    <a:pt x="187452" y="1031240"/>
                  </a:lnTo>
                  <a:cubicBezTo>
                    <a:pt x="83947" y="1031240"/>
                    <a:pt x="0" y="947293"/>
                    <a:pt x="0" y="843788"/>
                  </a:cubicBezTo>
                  <a:close/>
                </a:path>
              </a:pathLst>
            </a:custGeom>
            <a:solidFill>
              <a:srgbClr val="E3ECFB"/>
            </a:solidFill>
            <a:ln w="19050" cap="sq">
              <a:solidFill>
                <a:srgbClr val="2563EB"/>
              </a:solidFill>
              <a:prstDash val="solid"/>
              <a:miter/>
            </a:ln>
          </p:spPr>
        </p:sp>
      </p:grpSp>
      <p:grpSp>
        <p:nvGrpSpPr>
          <p:cNvPr name="Group 9" id="9"/>
          <p:cNvGrpSpPr/>
          <p:nvPr/>
        </p:nvGrpSpPr>
        <p:grpSpPr>
          <a:xfrm rot="0">
            <a:off x="987552" y="1645920"/>
            <a:ext cx="2240280" cy="754380"/>
            <a:chOff x="0" y="0"/>
            <a:chExt cx="2987040" cy="1005840"/>
          </a:xfrm>
        </p:grpSpPr>
        <p:sp>
          <p:nvSpPr>
            <p:cNvPr name="Freeform 10" id="10"/>
            <p:cNvSpPr/>
            <p:nvPr/>
          </p:nvSpPr>
          <p:spPr>
            <a:xfrm flipH="false" flipV="false" rot="0">
              <a:off x="0" y="0"/>
              <a:ext cx="2987040" cy="1005840"/>
            </a:xfrm>
            <a:custGeom>
              <a:avLst/>
              <a:gdLst/>
              <a:ahLst/>
              <a:cxnLst/>
              <a:rect r="r" b="b" t="t" l="l"/>
              <a:pathLst>
                <a:path h="1005840" w="2987040">
                  <a:moveTo>
                    <a:pt x="0" y="0"/>
                  </a:moveTo>
                  <a:lnTo>
                    <a:pt x="2987040" y="0"/>
                  </a:lnTo>
                  <a:lnTo>
                    <a:pt x="2987040" y="1005840"/>
                  </a:lnTo>
                  <a:lnTo>
                    <a:pt x="0" y="1005840"/>
                  </a:lnTo>
                  <a:close/>
                </a:path>
              </a:pathLst>
            </a:custGeom>
            <a:blipFill>
              <a:blip r:embed="rId3">
                <a:alphaModFix amt="0"/>
              </a:blip>
              <a:stretch>
                <a:fillRect l="0" t="-7864" r="0" b="-7864"/>
              </a:stretch>
            </a:blipFill>
          </p:spPr>
        </p:sp>
        <p:sp>
          <p:nvSpPr>
            <p:cNvPr name="TextBox 11" id="11"/>
            <p:cNvSpPr txBox="true"/>
            <p:nvPr/>
          </p:nvSpPr>
          <p:spPr>
            <a:xfrm>
              <a:off x="0" y="-28575"/>
              <a:ext cx="2987040" cy="1034415"/>
            </a:xfrm>
            <a:prstGeom prst="rect">
              <a:avLst/>
            </a:prstGeom>
          </p:spPr>
          <p:txBody>
            <a:bodyPr anchor="ctr" rtlCol="false" tIns="0" lIns="0" bIns="0" rIns="0"/>
            <a:lstStyle/>
            <a:p>
              <a:pPr algn="ctr">
                <a:lnSpc>
                  <a:spcPts val="1980"/>
                </a:lnSpc>
              </a:pPr>
              <a:r>
                <a:rPr lang="en-US" sz="1650" b="true">
                  <a:solidFill>
                    <a:srgbClr val="0F1F45"/>
                  </a:solidFill>
                  <a:latin typeface="Calibri (MS) Bold"/>
                  <a:ea typeface="Calibri (MS) Bold"/>
                  <a:cs typeface="Calibri (MS) Bold"/>
                  <a:sym typeface="Calibri (MS) Bold"/>
                </a:rPr>
                <a:t>FIR</a:t>
              </a:r>
            </a:p>
          </p:txBody>
        </p:sp>
      </p:grpSp>
      <p:grpSp>
        <p:nvGrpSpPr>
          <p:cNvPr name="Group 12" id="12"/>
          <p:cNvGrpSpPr/>
          <p:nvPr/>
        </p:nvGrpSpPr>
        <p:grpSpPr>
          <a:xfrm rot="0">
            <a:off x="3341751" y="1876425"/>
            <a:ext cx="348234" cy="293370"/>
            <a:chOff x="0" y="0"/>
            <a:chExt cx="464312" cy="391160"/>
          </a:xfrm>
        </p:grpSpPr>
        <p:sp>
          <p:nvSpPr>
            <p:cNvPr name="Freeform 13" id="13"/>
            <p:cNvSpPr/>
            <p:nvPr/>
          </p:nvSpPr>
          <p:spPr>
            <a:xfrm flipH="false" flipV="false" rot="0">
              <a:off x="0" y="0"/>
              <a:ext cx="464312" cy="391160"/>
            </a:xfrm>
            <a:custGeom>
              <a:avLst/>
              <a:gdLst/>
              <a:ahLst/>
              <a:cxnLst/>
              <a:rect r="r" b="b" t="t" l="l"/>
              <a:pathLst>
                <a:path h="391160" w="464312">
                  <a:moveTo>
                    <a:pt x="0" y="97790"/>
                  </a:moveTo>
                  <a:lnTo>
                    <a:pt x="268732" y="97790"/>
                  </a:lnTo>
                  <a:lnTo>
                    <a:pt x="268732" y="0"/>
                  </a:lnTo>
                  <a:lnTo>
                    <a:pt x="464312" y="195580"/>
                  </a:lnTo>
                  <a:lnTo>
                    <a:pt x="268732" y="391160"/>
                  </a:lnTo>
                  <a:lnTo>
                    <a:pt x="268732" y="293370"/>
                  </a:lnTo>
                  <a:lnTo>
                    <a:pt x="0" y="293370"/>
                  </a:lnTo>
                  <a:close/>
                </a:path>
              </a:pathLst>
            </a:custGeom>
            <a:solidFill>
              <a:srgbClr val="2563EB"/>
            </a:solidFill>
            <a:ln w="19050" cap="sq">
              <a:solidFill>
                <a:srgbClr val="2563EB"/>
              </a:solidFill>
              <a:prstDash val="solid"/>
              <a:miter/>
            </a:ln>
          </p:spPr>
        </p:sp>
      </p:grpSp>
      <p:grpSp>
        <p:nvGrpSpPr>
          <p:cNvPr name="Group 14" id="14"/>
          <p:cNvGrpSpPr/>
          <p:nvPr/>
        </p:nvGrpSpPr>
        <p:grpSpPr>
          <a:xfrm rot="0">
            <a:off x="3725799" y="1636395"/>
            <a:ext cx="2396490" cy="773430"/>
            <a:chOff x="0" y="0"/>
            <a:chExt cx="3195320" cy="1031240"/>
          </a:xfrm>
        </p:grpSpPr>
        <p:sp>
          <p:nvSpPr>
            <p:cNvPr name="Freeform 15" id="15"/>
            <p:cNvSpPr/>
            <p:nvPr/>
          </p:nvSpPr>
          <p:spPr>
            <a:xfrm flipH="false" flipV="false" rot="0">
              <a:off x="0" y="0"/>
              <a:ext cx="3195320" cy="1031240"/>
            </a:xfrm>
            <a:custGeom>
              <a:avLst/>
              <a:gdLst/>
              <a:ahLst/>
              <a:cxnLst/>
              <a:rect r="r" b="b" t="t" l="l"/>
              <a:pathLst>
                <a:path h="1031240" w="3195320">
                  <a:moveTo>
                    <a:pt x="0" y="187452"/>
                  </a:moveTo>
                  <a:cubicBezTo>
                    <a:pt x="0" y="83947"/>
                    <a:pt x="83947" y="0"/>
                    <a:pt x="187452" y="0"/>
                  </a:cubicBezTo>
                  <a:lnTo>
                    <a:pt x="3007868" y="0"/>
                  </a:lnTo>
                  <a:cubicBezTo>
                    <a:pt x="3111373" y="0"/>
                    <a:pt x="3195320" y="83947"/>
                    <a:pt x="3195320" y="187452"/>
                  </a:cubicBezTo>
                  <a:lnTo>
                    <a:pt x="3195320" y="843788"/>
                  </a:lnTo>
                  <a:cubicBezTo>
                    <a:pt x="3195320" y="947293"/>
                    <a:pt x="3111373" y="1031240"/>
                    <a:pt x="3007868" y="1031240"/>
                  </a:cubicBezTo>
                  <a:lnTo>
                    <a:pt x="187452" y="1031240"/>
                  </a:lnTo>
                  <a:cubicBezTo>
                    <a:pt x="83947" y="1031240"/>
                    <a:pt x="0" y="947293"/>
                    <a:pt x="0" y="843788"/>
                  </a:cubicBezTo>
                  <a:close/>
                </a:path>
              </a:pathLst>
            </a:custGeom>
            <a:solidFill>
              <a:srgbClr val="C7DAF8"/>
            </a:solidFill>
            <a:ln w="19050" cap="sq">
              <a:solidFill>
                <a:srgbClr val="2563EB"/>
              </a:solidFill>
              <a:prstDash val="solid"/>
              <a:miter/>
            </a:ln>
          </p:spPr>
        </p:sp>
      </p:grpSp>
      <p:grpSp>
        <p:nvGrpSpPr>
          <p:cNvPr name="Group 16" id="16"/>
          <p:cNvGrpSpPr/>
          <p:nvPr/>
        </p:nvGrpSpPr>
        <p:grpSpPr>
          <a:xfrm rot="0">
            <a:off x="3803904" y="1645920"/>
            <a:ext cx="2240280" cy="754380"/>
            <a:chOff x="0" y="0"/>
            <a:chExt cx="2987040" cy="1005840"/>
          </a:xfrm>
        </p:grpSpPr>
        <p:sp>
          <p:nvSpPr>
            <p:cNvPr name="Freeform 17" id="17"/>
            <p:cNvSpPr/>
            <p:nvPr/>
          </p:nvSpPr>
          <p:spPr>
            <a:xfrm flipH="false" flipV="false" rot="0">
              <a:off x="0" y="0"/>
              <a:ext cx="2987040" cy="1005840"/>
            </a:xfrm>
            <a:custGeom>
              <a:avLst/>
              <a:gdLst/>
              <a:ahLst/>
              <a:cxnLst/>
              <a:rect r="r" b="b" t="t" l="l"/>
              <a:pathLst>
                <a:path h="1005840" w="2987040">
                  <a:moveTo>
                    <a:pt x="0" y="0"/>
                  </a:moveTo>
                  <a:lnTo>
                    <a:pt x="2987040" y="0"/>
                  </a:lnTo>
                  <a:lnTo>
                    <a:pt x="2987040" y="1005840"/>
                  </a:lnTo>
                  <a:lnTo>
                    <a:pt x="0" y="1005840"/>
                  </a:lnTo>
                  <a:close/>
                </a:path>
              </a:pathLst>
            </a:custGeom>
            <a:blipFill>
              <a:blip r:embed="rId3">
                <a:alphaModFix amt="0"/>
              </a:blip>
              <a:stretch>
                <a:fillRect l="0" t="-7864" r="0" b="-7864"/>
              </a:stretch>
            </a:blipFill>
          </p:spPr>
        </p:sp>
        <p:sp>
          <p:nvSpPr>
            <p:cNvPr name="TextBox 18" id="18"/>
            <p:cNvSpPr txBox="true"/>
            <p:nvPr/>
          </p:nvSpPr>
          <p:spPr>
            <a:xfrm>
              <a:off x="0" y="-28575"/>
              <a:ext cx="2987040" cy="1034415"/>
            </a:xfrm>
            <a:prstGeom prst="rect">
              <a:avLst/>
            </a:prstGeom>
          </p:spPr>
          <p:txBody>
            <a:bodyPr anchor="ctr" rtlCol="false" tIns="0" lIns="0" bIns="0" rIns="0"/>
            <a:lstStyle/>
            <a:p>
              <a:pPr algn="ctr">
                <a:lnSpc>
                  <a:spcPts val="1980"/>
                </a:lnSpc>
              </a:pPr>
              <a:r>
                <a:rPr lang="en-US" sz="1650" b="true">
                  <a:solidFill>
                    <a:srgbClr val="0F1F45"/>
                  </a:solidFill>
                  <a:latin typeface="Calibri (MS) Bold"/>
                  <a:ea typeface="Calibri (MS) Bold"/>
                  <a:cs typeface="Calibri (MS) Bold"/>
                  <a:sym typeface="Calibri (MS) Bold"/>
                </a:rPr>
                <a:t>Investigation</a:t>
              </a:r>
            </a:p>
          </p:txBody>
        </p:sp>
      </p:grpSp>
      <p:grpSp>
        <p:nvGrpSpPr>
          <p:cNvPr name="Group 19" id="19"/>
          <p:cNvGrpSpPr/>
          <p:nvPr/>
        </p:nvGrpSpPr>
        <p:grpSpPr>
          <a:xfrm rot="0">
            <a:off x="6158103" y="1876425"/>
            <a:ext cx="348234" cy="293370"/>
            <a:chOff x="0" y="0"/>
            <a:chExt cx="464312" cy="391160"/>
          </a:xfrm>
        </p:grpSpPr>
        <p:sp>
          <p:nvSpPr>
            <p:cNvPr name="Freeform 20" id="20"/>
            <p:cNvSpPr/>
            <p:nvPr/>
          </p:nvSpPr>
          <p:spPr>
            <a:xfrm flipH="false" flipV="false" rot="0">
              <a:off x="0" y="0"/>
              <a:ext cx="464312" cy="391160"/>
            </a:xfrm>
            <a:custGeom>
              <a:avLst/>
              <a:gdLst/>
              <a:ahLst/>
              <a:cxnLst/>
              <a:rect r="r" b="b" t="t" l="l"/>
              <a:pathLst>
                <a:path h="391160" w="464312">
                  <a:moveTo>
                    <a:pt x="0" y="97790"/>
                  </a:moveTo>
                  <a:lnTo>
                    <a:pt x="268732" y="97790"/>
                  </a:lnTo>
                  <a:lnTo>
                    <a:pt x="268732" y="0"/>
                  </a:lnTo>
                  <a:lnTo>
                    <a:pt x="464312" y="195580"/>
                  </a:lnTo>
                  <a:lnTo>
                    <a:pt x="268732" y="391160"/>
                  </a:lnTo>
                  <a:lnTo>
                    <a:pt x="268732" y="293370"/>
                  </a:lnTo>
                  <a:lnTo>
                    <a:pt x="0" y="293370"/>
                  </a:lnTo>
                  <a:close/>
                </a:path>
              </a:pathLst>
            </a:custGeom>
            <a:solidFill>
              <a:srgbClr val="2563EB"/>
            </a:solidFill>
            <a:ln w="19050" cap="sq">
              <a:solidFill>
                <a:srgbClr val="2563EB"/>
              </a:solidFill>
              <a:prstDash val="solid"/>
              <a:miter/>
            </a:ln>
          </p:spPr>
        </p:sp>
      </p:grpSp>
      <p:grpSp>
        <p:nvGrpSpPr>
          <p:cNvPr name="Group 21" id="21"/>
          <p:cNvGrpSpPr/>
          <p:nvPr/>
        </p:nvGrpSpPr>
        <p:grpSpPr>
          <a:xfrm rot="0">
            <a:off x="6542151" y="1636395"/>
            <a:ext cx="2396490" cy="773430"/>
            <a:chOff x="0" y="0"/>
            <a:chExt cx="3195320" cy="1031240"/>
          </a:xfrm>
        </p:grpSpPr>
        <p:sp>
          <p:nvSpPr>
            <p:cNvPr name="Freeform 22" id="22"/>
            <p:cNvSpPr/>
            <p:nvPr/>
          </p:nvSpPr>
          <p:spPr>
            <a:xfrm flipH="false" flipV="false" rot="0">
              <a:off x="0" y="0"/>
              <a:ext cx="3195320" cy="1031240"/>
            </a:xfrm>
            <a:custGeom>
              <a:avLst/>
              <a:gdLst/>
              <a:ahLst/>
              <a:cxnLst/>
              <a:rect r="r" b="b" t="t" l="l"/>
              <a:pathLst>
                <a:path h="1031240" w="3195320">
                  <a:moveTo>
                    <a:pt x="0" y="187452"/>
                  </a:moveTo>
                  <a:cubicBezTo>
                    <a:pt x="0" y="83947"/>
                    <a:pt x="83947" y="0"/>
                    <a:pt x="187452" y="0"/>
                  </a:cubicBezTo>
                  <a:lnTo>
                    <a:pt x="3007868" y="0"/>
                  </a:lnTo>
                  <a:cubicBezTo>
                    <a:pt x="3111373" y="0"/>
                    <a:pt x="3195320" y="83947"/>
                    <a:pt x="3195320" y="187452"/>
                  </a:cubicBezTo>
                  <a:lnTo>
                    <a:pt x="3195320" y="843788"/>
                  </a:lnTo>
                  <a:cubicBezTo>
                    <a:pt x="3195320" y="947293"/>
                    <a:pt x="3111373" y="1031240"/>
                    <a:pt x="3007868" y="1031240"/>
                  </a:cubicBezTo>
                  <a:lnTo>
                    <a:pt x="187452" y="1031240"/>
                  </a:lnTo>
                  <a:cubicBezTo>
                    <a:pt x="83947" y="1031240"/>
                    <a:pt x="0" y="947293"/>
                    <a:pt x="0" y="843788"/>
                  </a:cubicBezTo>
                  <a:close/>
                </a:path>
              </a:pathLst>
            </a:custGeom>
            <a:solidFill>
              <a:srgbClr val="E3ECFB"/>
            </a:solidFill>
            <a:ln w="19050" cap="sq">
              <a:solidFill>
                <a:srgbClr val="2563EB"/>
              </a:solidFill>
              <a:prstDash val="solid"/>
              <a:miter/>
            </a:ln>
          </p:spPr>
        </p:sp>
      </p:grpSp>
      <p:grpSp>
        <p:nvGrpSpPr>
          <p:cNvPr name="Group 23" id="23"/>
          <p:cNvGrpSpPr/>
          <p:nvPr/>
        </p:nvGrpSpPr>
        <p:grpSpPr>
          <a:xfrm rot="0">
            <a:off x="6620256" y="1645920"/>
            <a:ext cx="2240280" cy="754380"/>
            <a:chOff x="0" y="0"/>
            <a:chExt cx="2987040" cy="1005840"/>
          </a:xfrm>
        </p:grpSpPr>
        <p:sp>
          <p:nvSpPr>
            <p:cNvPr name="Freeform 24" id="24"/>
            <p:cNvSpPr/>
            <p:nvPr/>
          </p:nvSpPr>
          <p:spPr>
            <a:xfrm flipH="false" flipV="false" rot="0">
              <a:off x="0" y="0"/>
              <a:ext cx="2987040" cy="1005840"/>
            </a:xfrm>
            <a:custGeom>
              <a:avLst/>
              <a:gdLst/>
              <a:ahLst/>
              <a:cxnLst/>
              <a:rect r="r" b="b" t="t" l="l"/>
              <a:pathLst>
                <a:path h="1005840" w="2987040">
                  <a:moveTo>
                    <a:pt x="0" y="0"/>
                  </a:moveTo>
                  <a:lnTo>
                    <a:pt x="2987040" y="0"/>
                  </a:lnTo>
                  <a:lnTo>
                    <a:pt x="2987040" y="1005840"/>
                  </a:lnTo>
                  <a:lnTo>
                    <a:pt x="0" y="1005840"/>
                  </a:lnTo>
                  <a:close/>
                </a:path>
              </a:pathLst>
            </a:custGeom>
            <a:blipFill>
              <a:blip r:embed="rId3">
                <a:alphaModFix amt="0"/>
              </a:blip>
              <a:stretch>
                <a:fillRect l="0" t="-7864" r="0" b="-7864"/>
              </a:stretch>
            </a:blipFill>
          </p:spPr>
        </p:sp>
        <p:sp>
          <p:nvSpPr>
            <p:cNvPr name="TextBox 25" id="25"/>
            <p:cNvSpPr txBox="true"/>
            <p:nvPr/>
          </p:nvSpPr>
          <p:spPr>
            <a:xfrm>
              <a:off x="0" y="-28575"/>
              <a:ext cx="2987040" cy="1034415"/>
            </a:xfrm>
            <a:prstGeom prst="rect">
              <a:avLst/>
            </a:prstGeom>
          </p:spPr>
          <p:txBody>
            <a:bodyPr anchor="ctr" rtlCol="false" tIns="0" lIns="0" bIns="0" rIns="0"/>
            <a:lstStyle/>
            <a:p>
              <a:pPr algn="ctr">
                <a:lnSpc>
                  <a:spcPts val="1980"/>
                </a:lnSpc>
              </a:pPr>
              <a:r>
                <a:rPr lang="en-US" sz="1650" b="true">
                  <a:solidFill>
                    <a:srgbClr val="0F1F45"/>
                  </a:solidFill>
                  <a:latin typeface="Calibri (MS) Bold"/>
                  <a:ea typeface="Calibri (MS) Bold"/>
                  <a:cs typeface="Calibri (MS) Bold"/>
                  <a:sym typeface="Calibri (MS) Bold"/>
                </a:rPr>
                <a:t>Arrest</a:t>
              </a:r>
            </a:p>
          </p:txBody>
        </p:sp>
      </p:grpSp>
      <p:grpSp>
        <p:nvGrpSpPr>
          <p:cNvPr name="Group 26" id="26"/>
          <p:cNvGrpSpPr/>
          <p:nvPr/>
        </p:nvGrpSpPr>
        <p:grpSpPr>
          <a:xfrm rot="0">
            <a:off x="8974455" y="1876425"/>
            <a:ext cx="348234" cy="293370"/>
            <a:chOff x="0" y="0"/>
            <a:chExt cx="464312" cy="391160"/>
          </a:xfrm>
        </p:grpSpPr>
        <p:sp>
          <p:nvSpPr>
            <p:cNvPr name="Freeform 27" id="27"/>
            <p:cNvSpPr/>
            <p:nvPr/>
          </p:nvSpPr>
          <p:spPr>
            <a:xfrm flipH="false" flipV="false" rot="0">
              <a:off x="0" y="0"/>
              <a:ext cx="464312" cy="391160"/>
            </a:xfrm>
            <a:custGeom>
              <a:avLst/>
              <a:gdLst/>
              <a:ahLst/>
              <a:cxnLst/>
              <a:rect r="r" b="b" t="t" l="l"/>
              <a:pathLst>
                <a:path h="391160" w="464312">
                  <a:moveTo>
                    <a:pt x="0" y="97790"/>
                  </a:moveTo>
                  <a:lnTo>
                    <a:pt x="268732" y="97790"/>
                  </a:lnTo>
                  <a:lnTo>
                    <a:pt x="268732" y="0"/>
                  </a:lnTo>
                  <a:lnTo>
                    <a:pt x="464312" y="195580"/>
                  </a:lnTo>
                  <a:lnTo>
                    <a:pt x="268732" y="391160"/>
                  </a:lnTo>
                  <a:lnTo>
                    <a:pt x="268732" y="293370"/>
                  </a:lnTo>
                  <a:lnTo>
                    <a:pt x="0" y="293370"/>
                  </a:lnTo>
                  <a:close/>
                </a:path>
              </a:pathLst>
            </a:custGeom>
            <a:solidFill>
              <a:srgbClr val="2563EB"/>
            </a:solidFill>
            <a:ln w="19050" cap="sq">
              <a:solidFill>
                <a:srgbClr val="2563EB"/>
              </a:solidFill>
              <a:prstDash val="solid"/>
              <a:miter/>
            </a:ln>
          </p:spPr>
        </p:sp>
      </p:grpSp>
      <p:grpSp>
        <p:nvGrpSpPr>
          <p:cNvPr name="Group 28" id="28"/>
          <p:cNvGrpSpPr/>
          <p:nvPr/>
        </p:nvGrpSpPr>
        <p:grpSpPr>
          <a:xfrm rot="0">
            <a:off x="9358503" y="1636395"/>
            <a:ext cx="2396490" cy="773430"/>
            <a:chOff x="0" y="0"/>
            <a:chExt cx="3195320" cy="1031240"/>
          </a:xfrm>
        </p:grpSpPr>
        <p:sp>
          <p:nvSpPr>
            <p:cNvPr name="Freeform 29" id="29"/>
            <p:cNvSpPr/>
            <p:nvPr/>
          </p:nvSpPr>
          <p:spPr>
            <a:xfrm flipH="false" flipV="false" rot="0">
              <a:off x="0" y="0"/>
              <a:ext cx="3195320" cy="1031240"/>
            </a:xfrm>
            <a:custGeom>
              <a:avLst/>
              <a:gdLst/>
              <a:ahLst/>
              <a:cxnLst/>
              <a:rect r="r" b="b" t="t" l="l"/>
              <a:pathLst>
                <a:path h="1031240" w="3195320">
                  <a:moveTo>
                    <a:pt x="0" y="187452"/>
                  </a:moveTo>
                  <a:cubicBezTo>
                    <a:pt x="0" y="83947"/>
                    <a:pt x="83947" y="0"/>
                    <a:pt x="187452" y="0"/>
                  </a:cubicBezTo>
                  <a:lnTo>
                    <a:pt x="3007868" y="0"/>
                  </a:lnTo>
                  <a:cubicBezTo>
                    <a:pt x="3111373" y="0"/>
                    <a:pt x="3195320" y="83947"/>
                    <a:pt x="3195320" y="187452"/>
                  </a:cubicBezTo>
                  <a:lnTo>
                    <a:pt x="3195320" y="843788"/>
                  </a:lnTo>
                  <a:cubicBezTo>
                    <a:pt x="3195320" y="947293"/>
                    <a:pt x="3111373" y="1031240"/>
                    <a:pt x="3007868" y="1031240"/>
                  </a:cubicBezTo>
                  <a:lnTo>
                    <a:pt x="187452" y="1031240"/>
                  </a:lnTo>
                  <a:cubicBezTo>
                    <a:pt x="83947" y="1031240"/>
                    <a:pt x="0" y="947293"/>
                    <a:pt x="0" y="843788"/>
                  </a:cubicBezTo>
                  <a:close/>
                </a:path>
              </a:pathLst>
            </a:custGeom>
            <a:solidFill>
              <a:srgbClr val="C7DAF8"/>
            </a:solidFill>
            <a:ln w="19050" cap="sq">
              <a:solidFill>
                <a:srgbClr val="2563EB"/>
              </a:solidFill>
              <a:prstDash val="solid"/>
              <a:miter/>
            </a:ln>
          </p:spPr>
        </p:sp>
      </p:grpSp>
      <p:grpSp>
        <p:nvGrpSpPr>
          <p:cNvPr name="Group 30" id="30"/>
          <p:cNvGrpSpPr/>
          <p:nvPr/>
        </p:nvGrpSpPr>
        <p:grpSpPr>
          <a:xfrm rot="0">
            <a:off x="9436608" y="1645920"/>
            <a:ext cx="2240280" cy="754380"/>
            <a:chOff x="0" y="0"/>
            <a:chExt cx="2987040" cy="1005840"/>
          </a:xfrm>
        </p:grpSpPr>
        <p:sp>
          <p:nvSpPr>
            <p:cNvPr name="Freeform 31" id="31"/>
            <p:cNvSpPr/>
            <p:nvPr/>
          </p:nvSpPr>
          <p:spPr>
            <a:xfrm flipH="false" flipV="false" rot="0">
              <a:off x="0" y="0"/>
              <a:ext cx="2987040" cy="1005840"/>
            </a:xfrm>
            <a:custGeom>
              <a:avLst/>
              <a:gdLst/>
              <a:ahLst/>
              <a:cxnLst/>
              <a:rect r="r" b="b" t="t" l="l"/>
              <a:pathLst>
                <a:path h="1005840" w="2987040">
                  <a:moveTo>
                    <a:pt x="0" y="0"/>
                  </a:moveTo>
                  <a:lnTo>
                    <a:pt x="2987040" y="0"/>
                  </a:lnTo>
                  <a:lnTo>
                    <a:pt x="2987040" y="1005840"/>
                  </a:lnTo>
                  <a:lnTo>
                    <a:pt x="0" y="1005840"/>
                  </a:lnTo>
                  <a:close/>
                </a:path>
              </a:pathLst>
            </a:custGeom>
            <a:blipFill>
              <a:blip r:embed="rId3">
                <a:alphaModFix amt="0"/>
              </a:blip>
              <a:stretch>
                <a:fillRect l="0" t="-7864" r="0" b="-7864"/>
              </a:stretch>
            </a:blipFill>
          </p:spPr>
        </p:sp>
        <p:sp>
          <p:nvSpPr>
            <p:cNvPr name="TextBox 32" id="32"/>
            <p:cNvSpPr txBox="true"/>
            <p:nvPr/>
          </p:nvSpPr>
          <p:spPr>
            <a:xfrm>
              <a:off x="0" y="-28575"/>
              <a:ext cx="2987040" cy="1034415"/>
            </a:xfrm>
            <a:prstGeom prst="rect">
              <a:avLst/>
            </a:prstGeom>
          </p:spPr>
          <p:txBody>
            <a:bodyPr anchor="ctr" rtlCol="false" tIns="0" lIns="0" bIns="0" rIns="0"/>
            <a:lstStyle/>
            <a:p>
              <a:pPr algn="ctr">
                <a:lnSpc>
                  <a:spcPts val="1980"/>
                </a:lnSpc>
              </a:pPr>
              <a:r>
                <a:rPr lang="en-US" sz="1650" b="true">
                  <a:solidFill>
                    <a:srgbClr val="0F1F45"/>
                  </a:solidFill>
                  <a:latin typeface="Calibri (MS) Bold"/>
                  <a:ea typeface="Calibri (MS) Bold"/>
                  <a:cs typeface="Calibri (MS) Bold"/>
                  <a:sym typeface="Calibri (MS) Bold"/>
                </a:rPr>
                <a:t>Court Filing</a:t>
              </a:r>
            </a:p>
          </p:txBody>
        </p:sp>
      </p:grpSp>
      <p:grpSp>
        <p:nvGrpSpPr>
          <p:cNvPr name="Group 33" id="33"/>
          <p:cNvGrpSpPr/>
          <p:nvPr/>
        </p:nvGrpSpPr>
        <p:grpSpPr>
          <a:xfrm rot="0">
            <a:off x="11790807" y="1876425"/>
            <a:ext cx="348234" cy="293370"/>
            <a:chOff x="0" y="0"/>
            <a:chExt cx="464312" cy="391160"/>
          </a:xfrm>
        </p:grpSpPr>
        <p:sp>
          <p:nvSpPr>
            <p:cNvPr name="Freeform 34" id="34"/>
            <p:cNvSpPr/>
            <p:nvPr/>
          </p:nvSpPr>
          <p:spPr>
            <a:xfrm flipH="false" flipV="false" rot="0">
              <a:off x="0" y="0"/>
              <a:ext cx="464312" cy="391160"/>
            </a:xfrm>
            <a:custGeom>
              <a:avLst/>
              <a:gdLst/>
              <a:ahLst/>
              <a:cxnLst/>
              <a:rect r="r" b="b" t="t" l="l"/>
              <a:pathLst>
                <a:path h="391160" w="464312">
                  <a:moveTo>
                    <a:pt x="0" y="97790"/>
                  </a:moveTo>
                  <a:lnTo>
                    <a:pt x="268732" y="97790"/>
                  </a:lnTo>
                  <a:lnTo>
                    <a:pt x="268732" y="0"/>
                  </a:lnTo>
                  <a:lnTo>
                    <a:pt x="464312" y="195580"/>
                  </a:lnTo>
                  <a:lnTo>
                    <a:pt x="268732" y="391160"/>
                  </a:lnTo>
                  <a:lnTo>
                    <a:pt x="268732" y="293370"/>
                  </a:lnTo>
                  <a:lnTo>
                    <a:pt x="0" y="293370"/>
                  </a:lnTo>
                  <a:close/>
                </a:path>
              </a:pathLst>
            </a:custGeom>
            <a:solidFill>
              <a:srgbClr val="2563EB"/>
            </a:solidFill>
            <a:ln w="19050" cap="sq">
              <a:solidFill>
                <a:srgbClr val="2563EB"/>
              </a:solidFill>
              <a:prstDash val="solid"/>
              <a:miter/>
            </a:ln>
          </p:spPr>
        </p:sp>
      </p:grpSp>
      <p:grpSp>
        <p:nvGrpSpPr>
          <p:cNvPr name="Group 35" id="35"/>
          <p:cNvGrpSpPr/>
          <p:nvPr/>
        </p:nvGrpSpPr>
        <p:grpSpPr>
          <a:xfrm rot="0">
            <a:off x="12174855" y="1636395"/>
            <a:ext cx="2396490" cy="773430"/>
            <a:chOff x="0" y="0"/>
            <a:chExt cx="3195320" cy="1031240"/>
          </a:xfrm>
        </p:grpSpPr>
        <p:sp>
          <p:nvSpPr>
            <p:cNvPr name="Freeform 36" id="36"/>
            <p:cNvSpPr/>
            <p:nvPr/>
          </p:nvSpPr>
          <p:spPr>
            <a:xfrm flipH="false" flipV="false" rot="0">
              <a:off x="0" y="0"/>
              <a:ext cx="3195320" cy="1031240"/>
            </a:xfrm>
            <a:custGeom>
              <a:avLst/>
              <a:gdLst/>
              <a:ahLst/>
              <a:cxnLst/>
              <a:rect r="r" b="b" t="t" l="l"/>
              <a:pathLst>
                <a:path h="1031240" w="3195320">
                  <a:moveTo>
                    <a:pt x="0" y="187452"/>
                  </a:moveTo>
                  <a:cubicBezTo>
                    <a:pt x="0" y="83947"/>
                    <a:pt x="83947" y="0"/>
                    <a:pt x="187452" y="0"/>
                  </a:cubicBezTo>
                  <a:lnTo>
                    <a:pt x="3007868" y="0"/>
                  </a:lnTo>
                  <a:cubicBezTo>
                    <a:pt x="3111373" y="0"/>
                    <a:pt x="3195320" y="83947"/>
                    <a:pt x="3195320" y="187452"/>
                  </a:cubicBezTo>
                  <a:lnTo>
                    <a:pt x="3195320" y="843788"/>
                  </a:lnTo>
                  <a:cubicBezTo>
                    <a:pt x="3195320" y="947293"/>
                    <a:pt x="3111373" y="1031240"/>
                    <a:pt x="3007868" y="1031240"/>
                  </a:cubicBezTo>
                  <a:lnTo>
                    <a:pt x="187452" y="1031240"/>
                  </a:lnTo>
                  <a:cubicBezTo>
                    <a:pt x="83947" y="1031240"/>
                    <a:pt x="0" y="947293"/>
                    <a:pt x="0" y="843788"/>
                  </a:cubicBezTo>
                  <a:close/>
                </a:path>
              </a:pathLst>
            </a:custGeom>
            <a:solidFill>
              <a:srgbClr val="E3ECFB"/>
            </a:solidFill>
            <a:ln w="19050" cap="sq">
              <a:solidFill>
                <a:srgbClr val="2563EB"/>
              </a:solidFill>
              <a:prstDash val="solid"/>
              <a:miter/>
            </a:ln>
          </p:spPr>
        </p:sp>
      </p:grpSp>
      <p:grpSp>
        <p:nvGrpSpPr>
          <p:cNvPr name="Group 37" id="37"/>
          <p:cNvGrpSpPr/>
          <p:nvPr/>
        </p:nvGrpSpPr>
        <p:grpSpPr>
          <a:xfrm rot="0">
            <a:off x="12252960" y="1645920"/>
            <a:ext cx="2240280" cy="754380"/>
            <a:chOff x="0" y="0"/>
            <a:chExt cx="2987040" cy="1005840"/>
          </a:xfrm>
        </p:grpSpPr>
        <p:sp>
          <p:nvSpPr>
            <p:cNvPr name="Freeform 38" id="38"/>
            <p:cNvSpPr/>
            <p:nvPr/>
          </p:nvSpPr>
          <p:spPr>
            <a:xfrm flipH="false" flipV="false" rot="0">
              <a:off x="0" y="0"/>
              <a:ext cx="2987040" cy="1005840"/>
            </a:xfrm>
            <a:custGeom>
              <a:avLst/>
              <a:gdLst/>
              <a:ahLst/>
              <a:cxnLst/>
              <a:rect r="r" b="b" t="t" l="l"/>
              <a:pathLst>
                <a:path h="1005840" w="2987040">
                  <a:moveTo>
                    <a:pt x="0" y="0"/>
                  </a:moveTo>
                  <a:lnTo>
                    <a:pt x="2987040" y="0"/>
                  </a:lnTo>
                  <a:lnTo>
                    <a:pt x="2987040" y="1005840"/>
                  </a:lnTo>
                  <a:lnTo>
                    <a:pt x="0" y="1005840"/>
                  </a:lnTo>
                  <a:close/>
                </a:path>
              </a:pathLst>
            </a:custGeom>
            <a:blipFill>
              <a:blip r:embed="rId3">
                <a:alphaModFix amt="0"/>
              </a:blip>
              <a:stretch>
                <a:fillRect l="0" t="-7864" r="0" b="-7864"/>
              </a:stretch>
            </a:blipFill>
          </p:spPr>
        </p:sp>
        <p:sp>
          <p:nvSpPr>
            <p:cNvPr name="TextBox 39" id="39"/>
            <p:cNvSpPr txBox="true"/>
            <p:nvPr/>
          </p:nvSpPr>
          <p:spPr>
            <a:xfrm>
              <a:off x="0" y="-28575"/>
              <a:ext cx="2987040" cy="1034415"/>
            </a:xfrm>
            <a:prstGeom prst="rect">
              <a:avLst/>
            </a:prstGeom>
          </p:spPr>
          <p:txBody>
            <a:bodyPr anchor="ctr" rtlCol="false" tIns="0" lIns="0" bIns="0" rIns="0"/>
            <a:lstStyle/>
            <a:p>
              <a:pPr algn="ctr">
                <a:lnSpc>
                  <a:spcPts val="1980"/>
                </a:lnSpc>
              </a:pPr>
              <a:r>
                <a:rPr lang="en-US" sz="1650" b="true">
                  <a:solidFill>
                    <a:srgbClr val="0F1F45"/>
                  </a:solidFill>
                  <a:latin typeface="Calibri (MS) Bold"/>
                  <a:ea typeface="Calibri (MS) Bold"/>
                  <a:cs typeface="Calibri (MS) Bold"/>
                  <a:sym typeface="Calibri (MS) Bold"/>
                </a:rPr>
                <a:t>Trial</a:t>
              </a:r>
            </a:p>
          </p:txBody>
        </p:sp>
      </p:grpSp>
      <p:grpSp>
        <p:nvGrpSpPr>
          <p:cNvPr name="Group 40" id="40"/>
          <p:cNvGrpSpPr/>
          <p:nvPr/>
        </p:nvGrpSpPr>
        <p:grpSpPr>
          <a:xfrm rot="0">
            <a:off x="14607159" y="1876425"/>
            <a:ext cx="348234" cy="293370"/>
            <a:chOff x="0" y="0"/>
            <a:chExt cx="464312" cy="391160"/>
          </a:xfrm>
        </p:grpSpPr>
        <p:sp>
          <p:nvSpPr>
            <p:cNvPr name="Freeform 41" id="41"/>
            <p:cNvSpPr/>
            <p:nvPr/>
          </p:nvSpPr>
          <p:spPr>
            <a:xfrm flipH="false" flipV="false" rot="0">
              <a:off x="0" y="0"/>
              <a:ext cx="464312" cy="391160"/>
            </a:xfrm>
            <a:custGeom>
              <a:avLst/>
              <a:gdLst/>
              <a:ahLst/>
              <a:cxnLst/>
              <a:rect r="r" b="b" t="t" l="l"/>
              <a:pathLst>
                <a:path h="391160" w="464312">
                  <a:moveTo>
                    <a:pt x="0" y="97790"/>
                  </a:moveTo>
                  <a:lnTo>
                    <a:pt x="268732" y="97790"/>
                  </a:lnTo>
                  <a:lnTo>
                    <a:pt x="268732" y="0"/>
                  </a:lnTo>
                  <a:lnTo>
                    <a:pt x="464312" y="195580"/>
                  </a:lnTo>
                  <a:lnTo>
                    <a:pt x="268732" y="391160"/>
                  </a:lnTo>
                  <a:lnTo>
                    <a:pt x="268732" y="293370"/>
                  </a:lnTo>
                  <a:lnTo>
                    <a:pt x="0" y="293370"/>
                  </a:lnTo>
                  <a:close/>
                </a:path>
              </a:pathLst>
            </a:custGeom>
            <a:solidFill>
              <a:srgbClr val="2563EB"/>
            </a:solidFill>
            <a:ln w="19050" cap="sq">
              <a:solidFill>
                <a:srgbClr val="2563EB"/>
              </a:solidFill>
              <a:prstDash val="solid"/>
              <a:miter/>
            </a:ln>
          </p:spPr>
        </p:sp>
      </p:grpSp>
      <p:grpSp>
        <p:nvGrpSpPr>
          <p:cNvPr name="Group 42" id="42"/>
          <p:cNvGrpSpPr/>
          <p:nvPr/>
        </p:nvGrpSpPr>
        <p:grpSpPr>
          <a:xfrm rot="0">
            <a:off x="14991207" y="1636395"/>
            <a:ext cx="2396490" cy="773430"/>
            <a:chOff x="0" y="0"/>
            <a:chExt cx="3195320" cy="1031240"/>
          </a:xfrm>
        </p:grpSpPr>
        <p:sp>
          <p:nvSpPr>
            <p:cNvPr name="Freeform 43" id="43"/>
            <p:cNvSpPr/>
            <p:nvPr/>
          </p:nvSpPr>
          <p:spPr>
            <a:xfrm flipH="false" flipV="false" rot="0">
              <a:off x="0" y="0"/>
              <a:ext cx="3195320" cy="1031240"/>
            </a:xfrm>
            <a:custGeom>
              <a:avLst/>
              <a:gdLst/>
              <a:ahLst/>
              <a:cxnLst/>
              <a:rect r="r" b="b" t="t" l="l"/>
              <a:pathLst>
                <a:path h="1031240" w="3195320">
                  <a:moveTo>
                    <a:pt x="0" y="187452"/>
                  </a:moveTo>
                  <a:cubicBezTo>
                    <a:pt x="0" y="83947"/>
                    <a:pt x="83947" y="0"/>
                    <a:pt x="187452" y="0"/>
                  </a:cubicBezTo>
                  <a:lnTo>
                    <a:pt x="3007868" y="0"/>
                  </a:lnTo>
                  <a:cubicBezTo>
                    <a:pt x="3111373" y="0"/>
                    <a:pt x="3195320" y="83947"/>
                    <a:pt x="3195320" y="187452"/>
                  </a:cubicBezTo>
                  <a:lnTo>
                    <a:pt x="3195320" y="843788"/>
                  </a:lnTo>
                  <a:cubicBezTo>
                    <a:pt x="3195320" y="947293"/>
                    <a:pt x="3111373" y="1031240"/>
                    <a:pt x="3007868" y="1031240"/>
                  </a:cubicBezTo>
                  <a:lnTo>
                    <a:pt x="187452" y="1031240"/>
                  </a:lnTo>
                  <a:cubicBezTo>
                    <a:pt x="83947" y="1031240"/>
                    <a:pt x="0" y="947293"/>
                    <a:pt x="0" y="843788"/>
                  </a:cubicBezTo>
                  <a:close/>
                </a:path>
              </a:pathLst>
            </a:custGeom>
            <a:solidFill>
              <a:srgbClr val="2563EB"/>
            </a:solidFill>
            <a:ln w="19050" cap="sq">
              <a:solidFill>
                <a:srgbClr val="1D4ED8"/>
              </a:solidFill>
              <a:prstDash val="solid"/>
              <a:miter/>
            </a:ln>
          </p:spPr>
        </p:sp>
      </p:grpSp>
      <p:grpSp>
        <p:nvGrpSpPr>
          <p:cNvPr name="Group 44" id="44"/>
          <p:cNvGrpSpPr/>
          <p:nvPr/>
        </p:nvGrpSpPr>
        <p:grpSpPr>
          <a:xfrm rot="0">
            <a:off x="15069312" y="1645920"/>
            <a:ext cx="2240280" cy="754380"/>
            <a:chOff x="0" y="0"/>
            <a:chExt cx="2987040" cy="1005840"/>
          </a:xfrm>
        </p:grpSpPr>
        <p:sp>
          <p:nvSpPr>
            <p:cNvPr name="Freeform 45" id="45"/>
            <p:cNvSpPr/>
            <p:nvPr/>
          </p:nvSpPr>
          <p:spPr>
            <a:xfrm flipH="false" flipV="false" rot="0">
              <a:off x="0" y="0"/>
              <a:ext cx="2987040" cy="1005840"/>
            </a:xfrm>
            <a:custGeom>
              <a:avLst/>
              <a:gdLst/>
              <a:ahLst/>
              <a:cxnLst/>
              <a:rect r="r" b="b" t="t" l="l"/>
              <a:pathLst>
                <a:path h="1005840" w="2987040">
                  <a:moveTo>
                    <a:pt x="0" y="0"/>
                  </a:moveTo>
                  <a:lnTo>
                    <a:pt x="2987040" y="0"/>
                  </a:lnTo>
                  <a:lnTo>
                    <a:pt x="2987040" y="1005840"/>
                  </a:lnTo>
                  <a:lnTo>
                    <a:pt x="0" y="1005840"/>
                  </a:lnTo>
                  <a:close/>
                </a:path>
              </a:pathLst>
            </a:custGeom>
            <a:blipFill>
              <a:blip r:embed="rId3">
                <a:alphaModFix amt="0"/>
              </a:blip>
              <a:stretch>
                <a:fillRect l="0" t="-7864" r="0" b="-7864"/>
              </a:stretch>
            </a:blipFill>
          </p:spPr>
        </p:sp>
        <p:sp>
          <p:nvSpPr>
            <p:cNvPr name="TextBox 46" id="46"/>
            <p:cNvSpPr txBox="true"/>
            <p:nvPr/>
          </p:nvSpPr>
          <p:spPr>
            <a:xfrm>
              <a:off x="0" y="-28575"/>
              <a:ext cx="2987040" cy="103441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Verdict</a:t>
              </a:r>
            </a:p>
          </p:txBody>
        </p:sp>
      </p:grpSp>
      <p:grpSp>
        <p:nvGrpSpPr>
          <p:cNvPr name="Group 47" id="47"/>
          <p:cNvGrpSpPr/>
          <p:nvPr/>
        </p:nvGrpSpPr>
        <p:grpSpPr>
          <a:xfrm rot="0">
            <a:off x="911828" y="2736056"/>
            <a:ext cx="5089208" cy="6529388"/>
            <a:chOff x="0" y="0"/>
            <a:chExt cx="6785610" cy="8705850"/>
          </a:xfrm>
        </p:grpSpPr>
        <p:sp>
          <p:nvSpPr>
            <p:cNvPr name="Freeform 48" id="48"/>
            <p:cNvSpPr/>
            <p:nvPr/>
          </p:nvSpPr>
          <p:spPr>
            <a:xfrm flipH="false" flipV="false" rot="0">
              <a:off x="0" y="0"/>
              <a:ext cx="6785610" cy="8705850"/>
            </a:xfrm>
            <a:custGeom>
              <a:avLst/>
              <a:gdLst/>
              <a:ahLst/>
              <a:cxnLst/>
              <a:rect r="r" b="b" t="t" l="l"/>
              <a:pathLst>
                <a:path h="8705850" w="6785610">
                  <a:moveTo>
                    <a:pt x="0" y="0"/>
                  </a:moveTo>
                  <a:lnTo>
                    <a:pt x="6785610" y="0"/>
                  </a:lnTo>
                  <a:lnTo>
                    <a:pt x="6785610" y="8705850"/>
                  </a:lnTo>
                  <a:lnTo>
                    <a:pt x="0" y="8705850"/>
                  </a:lnTo>
                  <a:close/>
                </a:path>
              </a:pathLst>
            </a:custGeom>
            <a:solidFill>
              <a:srgbClr val="F0F5FF"/>
            </a:solidFill>
            <a:ln w="14288" cap="sq">
              <a:solidFill>
                <a:srgbClr val="C9D9F2"/>
              </a:solidFill>
              <a:prstDash val="solid"/>
              <a:miter/>
            </a:ln>
          </p:spPr>
        </p:sp>
      </p:grpSp>
      <p:sp>
        <p:nvSpPr>
          <p:cNvPr name="TextBox 49" id="49"/>
          <p:cNvSpPr txBox="true"/>
          <p:nvPr/>
        </p:nvSpPr>
        <p:spPr>
          <a:xfrm rot="0">
            <a:off x="1193292" y="2869692"/>
            <a:ext cx="452628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Analytics Areas</a:t>
            </a:r>
          </a:p>
        </p:txBody>
      </p:sp>
      <p:sp>
        <p:nvSpPr>
          <p:cNvPr name="TextBox 50" id="50"/>
          <p:cNvSpPr txBox="true"/>
          <p:nvPr/>
        </p:nvSpPr>
        <p:spPr>
          <a:xfrm rot="0">
            <a:off x="1234440" y="3390900"/>
            <a:ext cx="4526280" cy="5798820"/>
          </a:xfrm>
          <a:prstGeom prst="rect">
            <a:avLst/>
          </a:prstGeom>
        </p:spPr>
        <p:txBody>
          <a:bodyPr anchor="t" rtlCol="false" tIns="0" lIns="0" bIns="0" rIns="0">
            <a:spAutoFit/>
          </a:bodyPr>
          <a:lstStyle/>
          <a:p>
            <a:pPr algn="l">
              <a:lnSpc>
                <a:spcPts val="2070"/>
              </a:lnSpc>
            </a:pPr>
            <a:r>
              <a:rPr lang="en-US" sz="1725" b="true">
                <a:solidFill>
                  <a:srgbClr val="2563EB"/>
                </a:solidFill>
                <a:latin typeface="Calibri (MS) Bold"/>
                <a:ea typeface="Calibri (MS) Bold"/>
                <a:cs typeface="Calibri (MS) Bold"/>
                <a:sym typeface="Calibri (MS) Bold"/>
              </a:rPr>
              <a:t>Station Analytics</a:t>
            </a:r>
          </a:p>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FIR count by police station</a:t>
            </a:r>
          </a:p>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Active cases by division</a:t>
            </a:r>
          </a:p>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Officer workload</a:t>
            </a:r>
          </a:p>
          <a:p>
            <a:pPr algn="l" marL="312182" indent="-156091" lvl="1">
              <a:lnSpc>
                <a:spcPts val="2070"/>
              </a:lnSpc>
            </a:pPr>
            <a:r>
              <a:rPr lang="en-US" b="true" sz="1725">
                <a:solidFill>
                  <a:srgbClr val="2563EB"/>
                </a:solidFill>
                <a:latin typeface="Calibri (MS) Bold"/>
                <a:ea typeface="Calibri (MS) Bold"/>
                <a:cs typeface="Calibri (MS) Bold"/>
                <a:sym typeface="Calibri (MS) Bold"/>
              </a:rPr>
              <a:t>Crime Analytics</a:t>
            </a:r>
          </a:p>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Crime-type frequency</a:t>
            </a:r>
          </a:p>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Distribution by division</a:t>
            </a:r>
          </a:p>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Premises &amp; weapon analysis</a:t>
            </a:r>
          </a:p>
          <a:p>
            <a:pPr algn="l" marL="312182" indent="-156091" lvl="1">
              <a:lnSpc>
                <a:spcPts val="2070"/>
              </a:lnSpc>
            </a:pPr>
            <a:r>
              <a:rPr lang="en-US" b="true" sz="1725">
                <a:solidFill>
                  <a:srgbClr val="2563EB"/>
                </a:solidFill>
                <a:latin typeface="Calibri (MS) Bold"/>
                <a:ea typeface="Calibri (MS) Bold"/>
                <a:cs typeface="Calibri (MS) Bold"/>
                <a:sym typeface="Calibri (MS) Bold"/>
              </a:rPr>
              <a:t>Victim Analytics</a:t>
            </a:r>
          </a:p>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Demographic distributions</a:t>
            </a:r>
          </a:p>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Age-group analysis</a:t>
            </a:r>
          </a:p>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Division-level comparisons</a:t>
            </a:r>
          </a:p>
          <a:p>
            <a:pPr algn="l" marL="312182" indent="-156091" lvl="1">
              <a:lnSpc>
                <a:spcPts val="2070"/>
              </a:lnSpc>
            </a:pPr>
            <a:r>
              <a:rPr lang="en-US" b="true" sz="1725">
                <a:solidFill>
                  <a:srgbClr val="2563EB"/>
                </a:solidFill>
                <a:latin typeface="Calibri (MS) Bold"/>
                <a:ea typeface="Calibri (MS) Bold"/>
                <a:cs typeface="Calibri (MS) Bold"/>
                <a:sym typeface="Calibri (MS) Bold"/>
              </a:rPr>
              <a:t>Case Metrics</a:t>
            </a:r>
          </a:p>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Pending • completed court cases</a:t>
            </a:r>
          </a:p>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Litigation • arrest-to-filing duration</a:t>
            </a:r>
          </a:p>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Case aging</a:t>
            </a:r>
          </a:p>
        </p:txBody>
      </p:sp>
      <p:grpSp>
        <p:nvGrpSpPr>
          <p:cNvPr name="Group 51" id="51"/>
          <p:cNvGrpSpPr/>
          <p:nvPr/>
        </p:nvGrpSpPr>
        <p:grpSpPr>
          <a:xfrm rot="0">
            <a:off x="6233636" y="2736056"/>
            <a:ext cx="5637847" cy="3717608"/>
            <a:chOff x="0" y="0"/>
            <a:chExt cx="7517130" cy="4956810"/>
          </a:xfrm>
        </p:grpSpPr>
        <p:sp>
          <p:nvSpPr>
            <p:cNvPr name="Freeform 52" id="52"/>
            <p:cNvSpPr/>
            <p:nvPr/>
          </p:nvSpPr>
          <p:spPr>
            <a:xfrm flipH="false" flipV="false" rot="0">
              <a:off x="0" y="0"/>
              <a:ext cx="7517130" cy="4956810"/>
            </a:xfrm>
            <a:custGeom>
              <a:avLst/>
              <a:gdLst/>
              <a:ahLst/>
              <a:cxnLst/>
              <a:rect r="r" b="b" t="t" l="l"/>
              <a:pathLst>
                <a:path h="4956810" w="7517130">
                  <a:moveTo>
                    <a:pt x="0" y="0"/>
                  </a:moveTo>
                  <a:lnTo>
                    <a:pt x="7517130" y="0"/>
                  </a:lnTo>
                  <a:lnTo>
                    <a:pt x="7517130" y="4956810"/>
                  </a:lnTo>
                  <a:lnTo>
                    <a:pt x="0" y="4956810"/>
                  </a:lnTo>
                  <a:close/>
                </a:path>
              </a:pathLst>
            </a:custGeom>
            <a:solidFill>
              <a:srgbClr val="FFFFFF"/>
            </a:solidFill>
            <a:ln w="14288" cap="sq">
              <a:solidFill>
                <a:srgbClr val="2563EB"/>
              </a:solidFill>
              <a:prstDash val="solid"/>
              <a:miter/>
            </a:ln>
          </p:spPr>
        </p:sp>
      </p:grpSp>
      <p:grpSp>
        <p:nvGrpSpPr>
          <p:cNvPr name="Group 53" id="53"/>
          <p:cNvGrpSpPr/>
          <p:nvPr/>
        </p:nvGrpSpPr>
        <p:grpSpPr>
          <a:xfrm rot="0">
            <a:off x="6446520" y="2852928"/>
            <a:ext cx="5212080" cy="3483864"/>
            <a:chOff x="0" y="0"/>
            <a:chExt cx="6949440" cy="4645152"/>
          </a:xfrm>
        </p:grpSpPr>
        <p:sp>
          <p:nvSpPr>
            <p:cNvPr name="Freeform 54" id="54"/>
            <p:cNvSpPr/>
            <p:nvPr/>
          </p:nvSpPr>
          <p:spPr>
            <a:xfrm flipH="false" flipV="false" rot="0">
              <a:off x="0" y="0"/>
              <a:ext cx="6949440" cy="4645152"/>
            </a:xfrm>
            <a:custGeom>
              <a:avLst/>
              <a:gdLst/>
              <a:ahLst/>
              <a:cxnLst/>
              <a:rect r="r" b="b" t="t" l="l"/>
              <a:pathLst>
                <a:path h="4645152" w="6949440">
                  <a:moveTo>
                    <a:pt x="0" y="0"/>
                  </a:moveTo>
                  <a:lnTo>
                    <a:pt x="6949440" y="0"/>
                  </a:lnTo>
                  <a:lnTo>
                    <a:pt x="6949440" y="4645152"/>
                  </a:lnTo>
                  <a:lnTo>
                    <a:pt x="0" y="4645152"/>
                  </a:lnTo>
                  <a:close/>
                </a:path>
              </a:pathLst>
            </a:custGeom>
            <a:blipFill>
              <a:blip r:embed="rId3">
                <a:alphaModFix amt="0"/>
              </a:blip>
              <a:stretch>
                <a:fillRect l="-35760" t="0" r="-35760" b="0"/>
              </a:stretch>
            </a:blipFill>
          </p:spPr>
        </p:sp>
        <p:sp>
          <p:nvSpPr>
            <p:cNvPr name="TextBox 55" id="55"/>
            <p:cNvSpPr txBox="true"/>
            <p:nvPr/>
          </p:nvSpPr>
          <p:spPr>
            <a:xfrm>
              <a:off x="0" y="-38100"/>
              <a:ext cx="6949440" cy="4683252"/>
            </a:xfrm>
            <a:prstGeom prst="rect">
              <a:avLst/>
            </a:prstGeom>
          </p:spPr>
          <p:txBody>
            <a:bodyPr anchor="ctr" rtlCol="false" tIns="0" lIns="0" bIns="0" rIns="0"/>
            <a:lstStyle/>
            <a:p>
              <a:pPr algn="l">
                <a:lnSpc>
                  <a:spcPts val="1709"/>
                </a:lnSpc>
              </a:pPr>
              <a:r>
                <a:rPr lang="en-US" sz="1425">
                  <a:solidFill>
                    <a:srgbClr val="0F1F45"/>
                  </a:solidFill>
                  <a:latin typeface="Consolas"/>
                  <a:ea typeface="Consolas"/>
                  <a:cs typeface="Consolas"/>
                  <a:sym typeface="Consolas"/>
                </a:rPr>
                <a:t>SELECT</a:t>
              </a:r>
            </a:p>
            <a:p>
              <a:pPr algn="l">
                <a:lnSpc>
                  <a:spcPts val="1709"/>
                </a:lnSpc>
              </a:pPr>
              <a:r>
                <a:rPr lang="en-US" sz="1425">
                  <a:solidFill>
                    <a:srgbClr val="0F1F45"/>
                  </a:solidFill>
                  <a:latin typeface="Consolas"/>
                  <a:ea typeface="Consolas"/>
                  <a:cs typeface="Consolas"/>
                  <a:sym typeface="Consolas"/>
                </a:rPr>
                <a:t>    ps.AREA_NAME,</a:t>
              </a:r>
            </a:p>
            <a:p>
              <a:pPr algn="l">
                <a:lnSpc>
                  <a:spcPts val="1709"/>
                </a:lnSpc>
              </a:pPr>
              <a:r>
                <a:rPr lang="en-US" sz="1425">
                  <a:solidFill>
                    <a:srgbClr val="0F1F45"/>
                  </a:solidFill>
                  <a:latin typeface="Consolas"/>
                  <a:ea typeface="Consolas"/>
                  <a:cs typeface="Consolas"/>
                  <a:sym typeface="Consolas"/>
                </a:rPr>
                <a:t>    COUNT(f.DR_NO) AS Total_FIRs,</a:t>
              </a:r>
            </a:p>
            <a:p>
              <a:pPr algn="l">
                <a:lnSpc>
                  <a:spcPts val="1709"/>
                </a:lnSpc>
              </a:pPr>
              <a:r>
                <a:rPr lang="en-US" sz="1425">
                  <a:solidFill>
                    <a:srgbClr val="0F1F45"/>
                  </a:solidFill>
                  <a:latin typeface="Consolas"/>
                  <a:ea typeface="Consolas"/>
                  <a:cs typeface="Consolas"/>
                  <a:sym typeface="Consolas"/>
                </a:rPr>
                <a:t>    SUM(CASE</a:t>
              </a:r>
            </a:p>
            <a:p>
              <a:pPr algn="l">
                <a:lnSpc>
                  <a:spcPts val="1709"/>
                </a:lnSpc>
              </a:pPr>
              <a:r>
                <a:rPr lang="en-US" sz="1425">
                  <a:solidFill>
                    <a:srgbClr val="0F1F45"/>
                  </a:solidFill>
                  <a:latin typeface="Consolas"/>
                  <a:ea typeface="Consolas"/>
                  <a:cs typeface="Consolas"/>
                  <a:sym typeface="Consolas"/>
                </a:rPr>
                <a:t>        WHEN f.Status = 'AA' THEN 1</a:t>
              </a:r>
            </a:p>
            <a:p>
              <a:pPr algn="l">
                <a:lnSpc>
                  <a:spcPts val="1709"/>
                </a:lnSpc>
              </a:pPr>
              <a:r>
                <a:rPr lang="en-US" sz="1425">
                  <a:solidFill>
                    <a:srgbClr val="0F1F45"/>
                  </a:solidFill>
                  <a:latin typeface="Consolas"/>
                  <a:ea typeface="Consolas"/>
                  <a:cs typeface="Consolas"/>
                  <a:sym typeface="Consolas"/>
                </a:rPr>
                <a:t>        ELSE 0</a:t>
              </a:r>
            </a:p>
            <a:p>
              <a:pPr algn="l">
                <a:lnSpc>
                  <a:spcPts val="1709"/>
                </a:lnSpc>
              </a:pPr>
              <a:r>
                <a:rPr lang="en-US" sz="1425">
                  <a:solidFill>
                    <a:srgbClr val="0F1F45"/>
                  </a:solidFill>
                  <a:latin typeface="Consolas"/>
                  <a:ea typeface="Consolas"/>
                  <a:cs typeface="Consolas"/>
                  <a:sym typeface="Consolas"/>
                </a:rPr>
                <a:t>    END) AS Cleared_Cases</a:t>
              </a:r>
            </a:p>
            <a:p>
              <a:pPr algn="l">
                <a:lnSpc>
                  <a:spcPts val="1709"/>
                </a:lnSpc>
              </a:pPr>
              <a:r>
                <a:rPr lang="en-US" sz="1425">
                  <a:solidFill>
                    <a:srgbClr val="0F1F45"/>
                  </a:solidFill>
                  <a:latin typeface="Consolas"/>
                  <a:ea typeface="Consolas"/>
                  <a:cs typeface="Consolas"/>
                  <a:sym typeface="Consolas"/>
                </a:rPr>
                <a:t>FROM FIR f</a:t>
              </a:r>
            </a:p>
            <a:p>
              <a:pPr algn="l">
                <a:lnSpc>
                  <a:spcPts val="1709"/>
                </a:lnSpc>
              </a:pPr>
              <a:r>
                <a:rPr lang="en-US" sz="1425">
                  <a:solidFill>
                    <a:srgbClr val="0F1F45"/>
                  </a:solidFill>
                  <a:latin typeface="Consolas"/>
                  <a:ea typeface="Consolas"/>
                  <a:cs typeface="Consolas"/>
                  <a:sym typeface="Consolas"/>
                </a:rPr>
                <a:t>JOIN PoliceStation ps</a:t>
              </a:r>
            </a:p>
            <a:p>
              <a:pPr algn="l">
                <a:lnSpc>
                  <a:spcPts val="1709"/>
                </a:lnSpc>
              </a:pPr>
              <a:r>
                <a:rPr lang="en-US" sz="1425">
                  <a:solidFill>
                    <a:srgbClr val="0F1F45"/>
                  </a:solidFill>
                  <a:latin typeface="Consolas"/>
                  <a:ea typeface="Consolas"/>
                  <a:cs typeface="Consolas"/>
                  <a:sym typeface="Consolas"/>
                </a:rPr>
                <a:t>    ON f.AREA = ps.AREA</a:t>
              </a:r>
            </a:p>
            <a:p>
              <a:pPr algn="l">
                <a:lnSpc>
                  <a:spcPts val="1709"/>
                </a:lnSpc>
              </a:pPr>
              <a:r>
                <a:rPr lang="en-US" sz="1425">
                  <a:solidFill>
                    <a:srgbClr val="0F1F45"/>
                  </a:solidFill>
                  <a:latin typeface="Consolas"/>
                  <a:ea typeface="Consolas"/>
                  <a:cs typeface="Consolas"/>
                  <a:sym typeface="Consolas"/>
                </a:rPr>
                <a:t>GROUP BY ps.AREA_NAME;</a:t>
              </a:r>
            </a:p>
          </p:txBody>
        </p:sp>
      </p:grpSp>
      <p:sp>
        <p:nvSpPr>
          <p:cNvPr name="TextBox 56" id="56"/>
          <p:cNvSpPr txBox="true"/>
          <p:nvPr/>
        </p:nvSpPr>
        <p:spPr>
          <a:xfrm rot="0">
            <a:off x="6240780" y="6623685"/>
            <a:ext cx="5623560" cy="440055"/>
          </a:xfrm>
          <a:prstGeom prst="rect">
            <a:avLst/>
          </a:prstGeom>
        </p:spPr>
        <p:txBody>
          <a:bodyPr anchor="t" rtlCol="false" tIns="0" lIns="0" bIns="0" rIns="0">
            <a:spAutoFit/>
          </a:bodyPr>
          <a:lstStyle/>
          <a:p>
            <a:pPr algn="l">
              <a:lnSpc>
                <a:spcPts val="1980"/>
              </a:lnSpc>
            </a:pPr>
            <a:r>
              <a:rPr lang="en-US" b="true" sz="1650" spc="225">
                <a:solidFill>
                  <a:srgbClr val="2563EB"/>
                </a:solidFill>
                <a:latin typeface="Calibri (MS) Bold"/>
                <a:ea typeface="Calibri (MS) Bold"/>
                <a:cs typeface="Calibri (MS) Bold"/>
                <a:sym typeface="Calibri (MS) Bold"/>
              </a:rPr>
              <a:t>DASHBOARD KPIs (CONCEPTUAL)</a:t>
            </a:r>
          </a:p>
        </p:txBody>
      </p:sp>
      <p:grpSp>
        <p:nvGrpSpPr>
          <p:cNvPr name="Group 57" id="57"/>
          <p:cNvGrpSpPr/>
          <p:nvPr/>
        </p:nvGrpSpPr>
        <p:grpSpPr>
          <a:xfrm rot="0">
            <a:off x="6231255" y="7122795"/>
            <a:ext cx="2789682" cy="1006602"/>
            <a:chOff x="0" y="0"/>
            <a:chExt cx="3719576" cy="1342136"/>
          </a:xfrm>
        </p:grpSpPr>
        <p:sp>
          <p:nvSpPr>
            <p:cNvPr name="Freeform 58" id="58"/>
            <p:cNvSpPr/>
            <p:nvPr/>
          </p:nvSpPr>
          <p:spPr>
            <a:xfrm flipH="false" flipV="false" rot="0">
              <a:off x="0" y="0"/>
              <a:ext cx="3719576" cy="1342136"/>
            </a:xfrm>
            <a:custGeom>
              <a:avLst/>
              <a:gdLst/>
              <a:ahLst/>
              <a:cxnLst/>
              <a:rect r="r" b="b" t="t" l="l"/>
              <a:pathLst>
                <a:path h="1342136" w="3719576">
                  <a:moveTo>
                    <a:pt x="0" y="111887"/>
                  </a:moveTo>
                  <a:cubicBezTo>
                    <a:pt x="0" y="50038"/>
                    <a:pt x="50038" y="0"/>
                    <a:pt x="111887" y="0"/>
                  </a:cubicBezTo>
                  <a:lnTo>
                    <a:pt x="3607689" y="0"/>
                  </a:lnTo>
                  <a:cubicBezTo>
                    <a:pt x="3669411" y="0"/>
                    <a:pt x="3719576" y="50038"/>
                    <a:pt x="3719576" y="111887"/>
                  </a:cubicBezTo>
                  <a:lnTo>
                    <a:pt x="3719576" y="1230249"/>
                  </a:lnTo>
                  <a:cubicBezTo>
                    <a:pt x="3719576" y="1291971"/>
                    <a:pt x="3669538" y="1342136"/>
                    <a:pt x="3607689" y="1342136"/>
                  </a:cubicBezTo>
                  <a:lnTo>
                    <a:pt x="111887" y="1342136"/>
                  </a:lnTo>
                  <a:cubicBezTo>
                    <a:pt x="50165" y="1342136"/>
                    <a:pt x="0" y="1292098"/>
                    <a:pt x="0" y="1230249"/>
                  </a:cubicBezTo>
                  <a:close/>
                </a:path>
              </a:pathLst>
            </a:custGeom>
            <a:solidFill>
              <a:srgbClr val="E3ECFB"/>
            </a:solidFill>
            <a:ln w="19050" cap="sq">
              <a:solidFill>
                <a:srgbClr val="2563EB"/>
              </a:solidFill>
              <a:prstDash val="solid"/>
              <a:miter/>
            </a:ln>
          </p:spPr>
        </p:sp>
      </p:grpSp>
      <p:grpSp>
        <p:nvGrpSpPr>
          <p:cNvPr name="Group 59" id="59"/>
          <p:cNvGrpSpPr/>
          <p:nvPr/>
        </p:nvGrpSpPr>
        <p:grpSpPr>
          <a:xfrm rot="0">
            <a:off x="6240780" y="7132320"/>
            <a:ext cx="2770632" cy="987552"/>
            <a:chOff x="0" y="0"/>
            <a:chExt cx="3694176" cy="1316736"/>
          </a:xfrm>
        </p:grpSpPr>
        <p:sp>
          <p:nvSpPr>
            <p:cNvPr name="Freeform 60" id="60"/>
            <p:cNvSpPr/>
            <p:nvPr/>
          </p:nvSpPr>
          <p:spPr>
            <a:xfrm flipH="false" flipV="false" rot="0">
              <a:off x="0" y="0"/>
              <a:ext cx="3694176" cy="1316736"/>
            </a:xfrm>
            <a:custGeom>
              <a:avLst/>
              <a:gdLst/>
              <a:ahLst/>
              <a:cxnLst/>
              <a:rect r="r" b="b" t="t" l="l"/>
              <a:pathLst>
                <a:path h="1316736" w="3694176">
                  <a:moveTo>
                    <a:pt x="0" y="0"/>
                  </a:moveTo>
                  <a:lnTo>
                    <a:pt x="3694176" y="0"/>
                  </a:lnTo>
                  <a:lnTo>
                    <a:pt x="3694176" y="1316736"/>
                  </a:lnTo>
                  <a:lnTo>
                    <a:pt x="0" y="1316736"/>
                  </a:lnTo>
                  <a:close/>
                </a:path>
              </a:pathLst>
            </a:custGeom>
            <a:blipFill>
              <a:blip r:embed="rId3">
                <a:alphaModFix amt="0"/>
              </a:blip>
              <a:stretch>
                <a:fillRect l="0" t="-4666" r="0" b="-4666"/>
              </a:stretch>
            </a:blipFill>
          </p:spPr>
        </p:sp>
        <p:sp>
          <p:nvSpPr>
            <p:cNvPr name="TextBox 61" id="61"/>
            <p:cNvSpPr txBox="true"/>
            <p:nvPr/>
          </p:nvSpPr>
          <p:spPr>
            <a:xfrm>
              <a:off x="0" y="-38100"/>
              <a:ext cx="3694176" cy="1354836"/>
            </a:xfrm>
            <a:prstGeom prst="rect">
              <a:avLst/>
            </a:prstGeom>
          </p:spPr>
          <p:txBody>
            <a:bodyPr anchor="ctr" rtlCol="false" tIns="0" lIns="0" bIns="0" rIns="0"/>
            <a:lstStyle/>
            <a:p>
              <a:pPr algn="ctr">
                <a:lnSpc>
                  <a:spcPts val="2070"/>
                </a:lnSpc>
              </a:pPr>
              <a:r>
                <a:rPr lang="en-US" sz="1725" b="true">
                  <a:solidFill>
                    <a:srgbClr val="0F1F45"/>
                  </a:solidFill>
                  <a:latin typeface="Calibri (MS) Bold"/>
                  <a:ea typeface="Calibri (MS) Bold"/>
                  <a:cs typeface="Calibri (MS) Bold"/>
                  <a:sym typeface="Calibri (MS) Bold"/>
                </a:rPr>
                <a:t>Total FIRs</a:t>
              </a:r>
            </a:p>
            <a:p>
              <a:pPr algn="ctr">
                <a:lnSpc>
                  <a:spcPts val="1620"/>
                </a:lnSpc>
              </a:pPr>
              <a:r>
                <a:rPr lang="en-US" sz="1350">
                  <a:solidFill>
                    <a:srgbClr val="5B6B8C"/>
                  </a:solidFill>
                  <a:latin typeface="Calibri (MS)"/>
                  <a:ea typeface="Calibri (MS)"/>
                  <a:cs typeface="Calibri (MS)"/>
                  <a:sym typeface="Calibri (MS)"/>
                </a:rPr>
                <a:t>COUNT(f.DR_NO)</a:t>
              </a:r>
            </a:p>
          </p:txBody>
        </p:sp>
      </p:grpSp>
      <p:grpSp>
        <p:nvGrpSpPr>
          <p:cNvPr name="Group 62" id="62"/>
          <p:cNvGrpSpPr/>
          <p:nvPr/>
        </p:nvGrpSpPr>
        <p:grpSpPr>
          <a:xfrm rot="0">
            <a:off x="9084183" y="7122795"/>
            <a:ext cx="2789682" cy="1006602"/>
            <a:chOff x="0" y="0"/>
            <a:chExt cx="3719576" cy="1342136"/>
          </a:xfrm>
        </p:grpSpPr>
        <p:sp>
          <p:nvSpPr>
            <p:cNvPr name="Freeform 63" id="63"/>
            <p:cNvSpPr/>
            <p:nvPr/>
          </p:nvSpPr>
          <p:spPr>
            <a:xfrm flipH="false" flipV="false" rot="0">
              <a:off x="0" y="0"/>
              <a:ext cx="3719576" cy="1342136"/>
            </a:xfrm>
            <a:custGeom>
              <a:avLst/>
              <a:gdLst/>
              <a:ahLst/>
              <a:cxnLst/>
              <a:rect r="r" b="b" t="t" l="l"/>
              <a:pathLst>
                <a:path h="1342136" w="3719576">
                  <a:moveTo>
                    <a:pt x="0" y="111887"/>
                  </a:moveTo>
                  <a:cubicBezTo>
                    <a:pt x="0" y="50038"/>
                    <a:pt x="50038" y="0"/>
                    <a:pt x="111887" y="0"/>
                  </a:cubicBezTo>
                  <a:lnTo>
                    <a:pt x="3607689" y="0"/>
                  </a:lnTo>
                  <a:cubicBezTo>
                    <a:pt x="3669411" y="0"/>
                    <a:pt x="3719576" y="50038"/>
                    <a:pt x="3719576" y="111887"/>
                  </a:cubicBezTo>
                  <a:lnTo>
                    <a:pt x="3719576" y="1230249"/>
                  </a:lnTo>
                  <a:cubicBezTo>
                    <a:pt x="3719576" y="1291971"/>
                    <a:pt x="3669538" y="1342136"/>
                    <a:pt x="3607689" y="1342136"/>
                  </a:cubicBezTo>
                  <a:lnTo>
                    <a:pt x="111887" y="1342136"/>
                  </a:lnTo>
                  <a:cubicBezTo>
                    <a:pt x="50165" y="1342136"/>
                    <a:pt x="0" y="1292098"/>
                    <a:pt x="0" y="1230249"/>
                  </a:cubicBezTo>
                  <a:close/>
                </a:path>
              </a:pathLst>
            </a:custGeom>
            <a:solidFill>
              <a:srgbClr val="E3ECFB"/>
            </a:solidFill>
            <a:ln w="19050" cap="sq">
              <a:solidFill>
                <a:srgbClr val="2563EB"/>
              </a:solidFill>
              <a:prstDash val="solid"/>
              <a:miter/>
            </a:ln>
          </p:spPr>
        </p:sp>
      </p:grpSp>
      <p:grpSp>
        <p:nvGrpSpPr>
          <p:cNvPr name="Group 64" id="64"/>
          <p:cNvGrpSpPr/>
          <p:nvPr/>
        </p:nvGrpSpPr>
        <p:grpSpPr>
          <a:xfrm rot="0">
            <a:off x="9093708" y="7132320"/>
            <a:ext cx="2770632" cy="987552"/>
            <a:chOff x="0" y="0"/>
            <a:chExt cx="3694176" cy="1316736"/>
          </a:xfrm>
        </p:grpSpPr>
        <p:sp>
          <p:nvSpPr>
            <p:cNvPr name="Freeform 65" id="65"/>
            <p:cNvSpPr/>
            <p:nvPr/>
          </p:nvSpPr>
          <p:spPr>
            <a:xfrm flipH="false" flipV="false" rot="0">
              <a:off x="0" y="0"/>
              <a:ext cx="3694176" cy="1316736"/>
            </a:xfrm>
            <a:custGeom>
              <a:avLst/>
              <a:gdLst/>
              <a:ahLst/>
              <a:cxnLst/>
              <a:rect r="r" b="b" t="t" l="l"/>
              <a:pathLst>
                <a:path h="1316736" w="3694176">
                  <a:moveTo>
                    <a:pt x="0" y="0"/>
                  </a:moveTo>
                  <a:lnTo>
                    <a:pt x="3694176" y="0"/>
                  </a:lnTo>
                  <a:lnTo>
                    <a:pt x="3694176" y="1316736"/>
                  </a:lnTo>
                  <a:lnTo>
                    <a:pt x="0" y="1316736"/>
                  </a:lnTo>
                  <a:close/>
                </a:path>
              </a:pathLst>
            </a:custGeom>
            <a:blipFill>
              <a:blip r:embed="rId3">
                <a:alphaModFix amt="0"/>
              </a:blip>
              <a:stretch>
                <a:fillRect l="0" t="-4666" r="0" b="-4666"/>
              </a:stretch>
            </a:blipFill>
          </p:spPr>
        </p:sp>
        <p:sp>
          <p:nvSpPr>
            <p:cNvPr name="TextBox 66" id="66"/>
            <p:cNvSpPr txBox="true"/>
            <p:nvPr/>
          </p:nvSpPr>
          <p:spPr>
            <a:xfrm>
              <a:off x="0" y="-38100"/>
              <a:ext cx="3694176" cy="1354836"/>
            </a:xfrm>
            <a:prstGeom prst="rect">
              <a:avLst/>
            </a:prstGeom>
          </p:spPr>
          <p:txBody>
            <a:bodyPr anchor="ctr" rtlCol="false" tIns="0" lIns="0" bIns="0" rIns="0"/>
            <a:lstStyle/>
            <a:p>
              <a:pPr algn="ctr">
                <a:lnSpc>
                  <a:spcPts val="2070"/>
                </a:lnSpc>
              </a:pPr>
              <a:r>
                <a:rPr lang="en-US" sz="1725" b="true">
                  <a:solidFill>
                    <a:srgbClr val="0F1F45"/>
                  </a:solidFill>
                  <a:latin typeface="Calibri (MS) Bold"/>
                  <a:ea typeface="Calibri (MS) Bold"/>
                  <a:cs typeface="Calibri (MS) Bold"/>
                  <a:sym typeface="Calibri (MS) Bold"/>
                </a:rPr>
                <a:t>Cleared Cases</a:t>
              </a:r>
            </a:p>
            <a:p>
              <a:pPr algn="ctr">
                <a:lnSpc>
                  <a:spcPts val="1620"/>
                </a:lnSpc>
              </a:pPr>
              <a:r>
                <a:rPr lang="en-US" sz="1350">
                  <a:solidFill>
                    <a:srgbClr val="5B6B8C"/>
                  </a:solidFill>
                  <a:latin typeface="Calibri (MS)"/>
                  <a:ea typeface="Calibri (MS)"/>
                  <a:cs typeface="Calibri (MS)"/>
                  <a:sym typeface="Calibri (MS)"/>
                </a:rPr>
                <a:t>SUM(CASE … )</a:t>
              </a:r>
            </a:p>
          </p:txBody>
        </p:sp>
      </p:grpSp>
      <p:grpSp>
        <p:nvGrpSpPr>
          <p:cNvPr name="Group 67" id="67"/>
          <p:cNvGrpSpPr/>
          <p:nvPr/>
        </p:nvGrpSpPr>
        <p:grpSpPr>
          <a:xfrm rot="0">
            <a:off x="6231255" y="8220075"/>
            <a:ext cx="2789682" cy="1006602"/>
            <a:chOff x="0" y="0"/>
            <a:chExt cx="3719576" cy="1342136"/>
          </a:xfrm>
        </p:grpSpPr>
        <p:sp>
          <p:nvSpPr>
            <p:cNvPr name="Freeform 68" id="68"/>
            <p:cNvSpPr/>
            <p:nvPr/>
          </p:nvSpPr>
          <p:spPr>
            <a:xfrm flipH="false" flipV="false" rot="0">
              <a:off x="0" y="0"/>
              <a:ext cx="3719576" cy="1342136"/>
            </a:xfrm>
            <a:custGeom>
              <a:avLst/>
              <a:gdLst/>
              <a:ahLst/>
              <a:cxnLst/>
              <a:rect r="r" b="b" t="t" l="l"/>
              <a:pathLst>
                <a:path h="1342136" w="3719576">
                  <a:moveTo>
                    <a:pt x="0" y="111887"/>
                  </a:moveTo>
                  <a:cubicBezTo>
                    <a:pt x="0" y="50038"/>
                    <a:pt x="50038" y="0"/>
                    <a:pt x="111887" y="0"/>
                  </a:cubicBezTo>
                  <a:lnTo>
                    <a:pt x="3607689" y="0"/>
                  </a:lnTo>
                  <a:cubicBezTo>
                    <a:pt x="3669411" y="0"/>
                    <a:pt x="3719576" y="50038"/>
                    <a:pt x="3719576" y="111887"/>
                  </a:cubicBezTo>
                  <a:lnTo>
                    <a:pt x="3719576" y="1230249"/>
                  </a:lnTo>
                  <a:cubicBezTo>
                    <a:pt x="3719576" y="1291971"/>
                    <a:pt x="3669538" y="1342136"/>
                    <a:pt x="3607689" y="1342136"/>
                  </a:cubicBezTo>
                  <a:lnTo>
                    <a:pt x="111887" y="1342136"/>
                  </a:lnTo>
                  <a:cubicBezTo>
                    <a:pt x="50165" y="1342136"/>
                    <a:pt x="0" y="1292098"/>
                    <a:pt x="0" y="1230249"/>
                  </a:cubicBezTo>
                  <a:close/>
                </a:path>
              </a:pathLst>
            </a:custGeom>
            <a:solidFill>
              <a:srgbClr val="E3ECFB"/>
            </a:solidFill>
            <a:ln w="19050" cap="sq">
              <a:solidFill>
                <a:srgbClr val="2563EB"/>
              </a:solidFill>
              <a:prstDash val="solid"/>
              <a:miter/>
            </a:ln>
          </p:spPr>
        </p:sp>
      </p:grpSp>
      <p:grpSp>
        <p:nvGrpSpPr>
          <p:cNvPr name="Group 69" id="69"/>
          <p:cNvGrpSpPr/>
          <p:nvPr/>
        </p:nvGrpSpPr>
        <p:grpSpPr>
          <a:xfrm rot="0">
            <a:off x="6240780" y="8229600"/>
            <a:ext cx="2770632" cy="987552"/>
            <a:chOff x="0" y="0"/>
            <a:chExt cx="3694176" cy="1316736"/>
          </a:xfrm>
        </p:grpSpPr>
        <p:sp>
          <p:nvSpPr>
            <p:cNvPr name="Freeform 70" id="70"/>
            <p:cNvSpPr/>
            <p:nvPr/>
          </p:nvSpPr>
          <p:spPr>
            <a:xfrm flipH="false" flipV="false" rot="0">
              <a:off x="0" y="0"/>
              <a:ext cx="3694176" cy="1316736"/>
            </a:xfrm>
            <a:custGeom>
              <a:avLst/>
              <a:gdLst/>
              <a:ahLst/>
              <a:cxnLst/>
              <a:rect r="r" b="b" t="t" l="l"/>
              <a:pathLst>
                <a:path h="1316736" w="3694176">
                  <a:moveTo>
                    <a:pt x="0" y="0"/>
                  </a:moveTo>
                  <a:lnTo>
                    <a:pt x="3694176" y="0"/>
                  </a:lnTo>
                  <a:lnTo>
                    <a:pt x="3694176" y="1316736"/>
                  </a:lnTo>
                  <a:lnTo>
                    <a:pt x="0" y="1316736"/>
                  </a:lnTo>
                  <a:close/>
                </a:path>
              </a:pathLst>
            </a:custGeom>
            <a:blipFill>
              <a:blip r:embed="rId3">
                <a:alphaModFix amt="0"/>
              </a:blip>
              <a:stretch>
                <a:fillRect l="0" t="-4666" r="0" b="-4666"/>
              </a:stretch>
            </a:blipFill>
          </p:spPr>
        </p:sp>
        <p:sp>
          <p:nvSpPr>
            <p:cNvPr name="TextBox 71" id="71"/>
            <p:cNvSpPr txBox="true"/>
            <p:nvPr/>
          </p:nvSpPr>
          <p:spPr>
            <a:xfrm>
              <a:off x="0" y="-38100"/>
              <a:ext cx="3694176" cy="1354836"/>
            </a:xfrm>
            <a:prstGeom prst="rect">
              <a:avLst/>
            </a:prstGeom>
          </p:spPr>
          <p:txBody>
            <a:bodyPr anchor="ctr" rtlCol="false" tIns="0" lIns="0" bIns="0" rIns="0"/>
            <a:lstStyle/>
            <a:p>
              <a:pPr algn="ctr">
                <a:lnSpc>
                  <a:spcPts val="2070"/>
                </a:lnSpc>
              </a:pPr>
              <a:r>
                <a:rPr lang="en-US" sz="1725" b="true">
                  <a:solidFill>
                    <a:srgbClr val="0F1F45"/>
                  </a:solidFill>
                  <a:latin typeface="Calibri (MS) Bold"/>
                  <a:ea typeface="Calibri (MS) Bold"/>
                  <a:cs typeface="Calibri (MS) Bold"/>
                  <a:sym typeface="Calibri (MS) Bold"/>
                </a:rPr>
                <a:t>Active Cases</a:t>
              </a:r>
            </a:p>
            <a:p>
              <a:pPr algn="ctr">
                <a:lnSpc>
                  <a:spcPts val="1620"/>
                </a:lnSpc>
              </a:pPr>
              <a:r>
                <a:rPr lang="en-US" sz="1350">
                  <a:solidFill>
                    <a:srgbClr val="5B6B8C"/>
                  </a:solidFill>
                  <a:latin typeface="Calibri (MS)"/>
                  <a:ea typeface="Calibri (MS)"/>
                  <a:cs typeface="Calibri (MS)"/>
                  <a:sym typeface="Calibri (MS)"/>
                </a:rPr>
                <a:t>from Status</a:t>
              </a:r>
            </a:p>
          </p:txBody>
        </p:sp>
      </p:grpSp>
      <p:grpSp>
        <p:nvGrpSpPr>
          <p:cNvPr name="Group 72" id="72"/>
          <p:cNvGrpSpPr/>
          <p:nvPr/>
        </p:nvGrpSpPr>
        <p:grpSpPr>
          <a:xfrm rot="0">
            <a:off x="9084183" y="8220075"/>
            <a:ext cx="2789682" cy="1006602"/>
            <a:chOff x="0" y="0"/>
            <a:chExt cx="3719576" cy="1342136"/>
          </a:xfrm>
        </p:grpSpPr>
        <p:sp>
          <p:nvSpPr>
            <p:cNvPr name="Freeform 73" id="73"/>
            <p:cNvSpPr/>
            <p:nvPr/>
          </p:nvSpPr>
          <p:spPr>
            <a:xfrm flipH="false" flipV="false" rot="0">
              <a:off x="0" y="0"/>
              <a:ext cx="3719576" cy="1342136"/>
            </a:xfrm>
            <a:custGeom>
              <a:avLst/>
              <a:gdLst/>
              <a:ahLst/>
              <a:cxnLst/>
              <a:rect r="r" b="b" t="t" l="l"/>
              <a:pathLst>
                <a:path h="1342136" w="3719576">
                  <a:moveTo>
                    <a:pt x="0" y="111887"/>
                  </a:moveTo>
                  <a:cubicBezTo>
                    <a:pt x="0" y="50038"/>
                    <a:pt x="50038" y="0"/>
                    <a:pt x="111887" y="0"/>
                  </a:cubicBezTo>
                  <a:lnTo>
                    <a:pt x="3607689" y="0"/>
                  </a:lnTo>
                  <a:cubicBezTo>
                    <a:pt x="3669411" y="0"/>
                    <a:pt x="3719576" y="50038"/>
                    <a:pt x="3719576" y="111887"/>
                  </a:cubicBezTo>
                  <a:lnTo>
                    <a:pt x="3719576" y="1230249"/>
                  </a:lnTo>
                  <a:cubicBezTo>
                    <a:pt x="3719576" y="1291971"/>
                    <a:pt x="3669538" y="1342136"/>
                    <a:pt x="3607689" y="1342136"/>
                  </a:cubicBezTo>
                  <a:lnTo>
                    <a:pt x="111887" y="1342136"/>
                  </a:lnTo>
                  <a:cubicBezTo>
                    <a:pt x="50165" y="1342136"/>
                    <a:pt x="0" y="1292098"/>
                    <a:pt x="0" y="1230249"/>
                  </a:cubicBezTo>
                  <a:close/>
                </a:path>
              </a:pathLst>
            </a:custGeom>
            <a:solidFill>
              <a:srgbClr val="E3ECFB"/>
            </a:solidFill>
            <a:ln w="19050" cap="sq">
              <a:solidFill>
                <a:srgbClr val="2563EB"/>
              </a:solidFill>
              <a:prstDash val="solid"/>
              <a:miter/>
            </a:ln>
          </p:spPr>
        </p:sp>
      </p:grpSp>
      <p:grpSp>
        <p:nvGrpSpPr>
          <p:cNvPr name="Group 74" id="74"/>
          <p:cNvGrpSpPr/>
          <p:nvPr/>
        </p:nvGrpSpPr>
        <p:grpSpPr>
          <a:xfrm rot="0">
            <a:off x="9093708" y="8229600"/>
            <a:ext cx="2770632" cy="987552"/>
            <a:chOff x="0" y="0"/>
            <a:chExt cx="3694176" cy="1316736"/>
          </a:xfrm>
        </p:grpSpPr>
        <p:sp>
          <p:nvSpPr>
            <p:cNvPr name="Freeform 75" id="75"/>
            <p:cNvSpPr/>
            <p:nvPr/>
          </p:nvSpPr>
          <p:spPr>
            <a:xfrm flipH="false" flipV="false" rot="0">
              <a:off x="0" y="0"/>
              <a:ext cx="3694176" cy="1316736"/>
            </a:xfrm>
            <a:custGeom>
              <a:avLst/>
              <a:gdLst/>
              <a:ahLst/>
              <a:cxnLst/>
              <a:rect r="r" b="b" t="t" l="l"/>
              <a:pathLst>
                <a:path h="1316736" w="3694176">
                  <a:moveTo>
                    <a:pt x="0" y="0"/>
                  </a:moveTo>
                  <a:lnTo>
                    <a:pt x="3694176" y="0"/>
                  </a:lnTo>
                  <a:lnTo>
                    <a:pt x="3694176" y="1316736"/>
                  </a:lnTo>
                  <a:lnTo>
                    <a:pt x="0" y="1316736"/>
                  </a:lnTo>
                  <a:close/>
                </a:path>
              </a:pathLst>
            </a:custGeom>
            <a:blipFill>
              <a:blip r:embed="rId3">
                <a:alphaModFix amt="0"/>
              </a:blip>
              <a:stretch>
                <a:fillRect l="0" t="-4666" r="0" b="-4666"/>
              </a:stretch>
            </a:blipFill>
          </p:spPr>
        </p:sp>
        <p:sp>
          <p:nvSpPr>
            <p:cNvPr name="TextBox 76" id="76"/>
            <p:cNvSpPr txBox="true"/>
            <p:nvPr/>
          </p:nvSpPr>
          <p:spPr>
            <a:xfrm>
              <a:off x="0" y="-38100"/>
              <a:ext cx="3694176" cy="1354836"/>
            </a:xfrm>
            <a:prstGeom prst="rect">
              <a:avLst/>
            </a:prstGeom>
          </p:spPr>
          <p:txBody>
            <a:bodyPr anchor="ctr" rtlCol="false" tIns="0" lIns="0" bIns="0" rIns="0"/>
            <a:lstStyle/>
            <a:p>
              <a:pPr algn="ctr">
                <a:lnSpc>
                  <a:spcPts val="2070"/>
                </a:lnSpc>
              </a:pPr>
              <a:r>
                <a:rPr lang="en-US" sz="1725" b="true">
                  <a:solidFill>
                    <a:srgbClr val="0F1F45"/>
                  </a:solidFill>
                  <a:latin typeface="Calibri (MS) Bold"/>
                  <a:ea typeface="Calibri (MS) Bold"/>
                  <a:cs typeface="Calibri (MS) Bold"/>
                  <a:sym typeface="Calibri (MS) Bold"/>
                </a:rPr>
                <a:t>Station-wise</a:t>
              </a:r>
            </a:p>
            <a:p>
              <a:pPr algn="ctr">
                <a:lnSpc>
                  <a:spcPts val="1620"/>
                </a:lnSpc>
              </a:pPr>
              <a:r>
                <a:rPr lang="en-US" sz="1350">
                  <a:solidFill>
                    <a:srgbClr val="5B6B8C"/>
                  </a:solidFill>
                  <a:latin typeface="Calibri (MS)"/>
                  <a:ea typeface="Calibri (MS)"/>
                  <a:cs typeface="Calibri (MS)"/>
                  <a:sym typeface="Calibri (MS)"/>
                </a:rPr>
                <a:t>GROUP BY AREA_NAME</a:t>
              </a:r>
            </a:p>
          </p:txBody>
        </p:sp>
      </p:grpSp>
      <p:grpSp>
        <p:nvGrpSpPr>
          <p:cNvPr name="Group 77" id="77"/>
          <p:cNvGrpSpPr/>
          <p:nvPr/>
        </p:nvGrpSpPr>
        <p:grpSpPr>
          <a:xfrm rot="0">
            <a:off x="12104084" y="2736056"/>
            <a:ext cx="5281232" cy="3168967"/>
            <a:chOff x="0" y="0"/>
            <a:chExt cx="7041642" cy="4225290"/>
          </a:xfrm>
        </p:grpSpPr>
        <p:sp>
          <p:nvSpPr>
            <p:cNvPr name="Freeform 78" id="78"/>
            <p:cNvSpPr/>
            <p:nvPr/>
          </p:nvSpPr>
          <p:spPr>
            <a:xfrm flipH="false" flipV="false" rot="0">
              <a:off x="0" y="0"/>
              <a:ext cx="7041642" cy="4225290"/>
            </a:xfrm>
            <a:custGeom>
              <a:avLst/>
              <a:gdLst/>
              <a:ahLst/>
              <a:cxnLst/>
              <a:rect r="r" b="b" t="t" l="l"/>
              <a:pathLst>
                <a:path h="4225290" w="7041642">
                  <a:moveTo>
                    <a:pt x="0" y="0"/>
                  </a:moveTo>
                  <a:lnTo>
                    <a:pt x="7041642" y="0"/>
                  </a:lnTo>
                  <a:lnTo>
                    <a:pt x="7041642" y="4225290"/>
                  </a:lnTo>
                  <a:lnTo>
                    <a:pt x="0" y="4225290"/>
                  </a:lnTo>
                  <a:close/>
                </a:path>
              </a:pathLst>
            </a:custGeom>
            <a:solidFill>
              <a:srgbClr val="FFFFFF"/>
            </a:solidFill>
            <a:ln w="14288" cap="sq">
              <a:solidFill>
                <a:srgbClr val="2563EB"/>
              </a:solidFill>
              <a:prstDash val="solid"/>
              <a:miter/>
            </a:ln>
          </p:spPr>
        </p:sp>
      </p:grpSp>
      <p:grpSp>
        <p:nvGrpSpPr>
          <p:cNvPr name="Group 79" id="79"/>
          <p:cNvGrpSpPr/>
          <p:nvPr/>
        </p:nvGrpSpPr>
        <p:grpSpPr>
          <a:xfrm rot="0">
            <a:off x="12316968" y="2852928"/>
            <a:ext cx="4855464" cy="2935224"/>
            <a:chOff x="0" y="0"/>
            <a:chExt cx="6473952" cy="3913632"/>
          </a:xfrm>
        </p:grpSpPr>
        <p:sp>
          <p:nvSpPr>
            <p:cNvPr name="Freeform 80" id="80"/>
            <p:cNvSpPr/>
            <p:nvPr/>
          </p:nvSpPr>
          <p:spPr>
            <a:xfrm flipH="false" flipV="false" rot="0">
              <a:off x="0" y="0"/>
              <a:ext cx="6473952" cy="3913632"/>
            </a:xfrm>
            <a:custGeom>
              <a:avLst/>
              <a:gdLst/>
              <a:ahLst/>
              <a:cxnLst/>
              <a:rect r="r" b="b" t="t" l="l"/>
              <a:pathLst>
                <a:path h="3913632" w="6473952">
                  <a:moveTo>
                    <a:pt x="0" y="0"/>
                  </a:moveTo>
                  <a:lnTo>
                    <a:pt x="6473952" y="0"/>
                  </a:lnTo>
                  <a:lnTo>
                    <a:pt x="6473952" y="3913632"/>
                  </a:lnTo>
                  <a:lnTo>
                    <a:pt x="0" y="3913632"/>
                  </a:lnTo>
                  <a:close/>
                </a:path>
              </a:pathLst>
            </a:custGeom>
            <a:blipFill>
              <a:blip r:embed="rId3">
                <a:alphaModFix amt="0"/>
              </a:blip>
              <a:stretch>
                <a:fillRect l="-27562" t="0" r="-27562" b="0"/>
              </a:stretch>
            </a:blipFill>
          </p:spPr>
        </p:sp>
        <p:sp>
          <p:nvSpPr>
            <p:cNvPr name="TextBox 81" id="81"/>
            <p:cNvSpPr txBox="true"/>
            <p:nvPr/>
          </p:nvSpPr>
          <p:spPr>
            <a:xfrm>
              <a:off x="0" y="-38100"/>
              <a:ext cx="6473952" cy="3951732"/>
            </a:xfrm>
            <a:prstGeom prst="rect">
              <a:avLst/>
            </a:prstGeom>
          </p:spPr>
          <p:txBody>
            <a:bodyPr anchor="ctr" rtlCol="false" tIns="0" lIns="0" bIns="0" rIns="0"/>
            <a:lstStyle/>
            <a:p>
              <a:pPr algn="l">
                <a:lnSpc>
                  <a:spcPts val="1709"/>
                </a:lnSpc>
              </a:pPr>
              <a:r>
                <a:rPr lang="en-US" sz="1425">
                  <a:solidFill>
                    <a:srgbClr val="0F1F45"/>
                  </a:solidFill>
                  <a:latin typeface="Consolas"/>
                  <a:ea typeface="Consolas"/>
                  <a:cs typeface="Consolas"/>
                  <a:sym typeface="Consolas"/>
                </a:rPr>
                <a:t>SELECT</a:t>
              </a:r>
            </a:p>
            <a:p>
              <a:pPr algn="l">
                <a:lnSpc>
                  <a:spcPts val="1709"/>
                </a:lnSpc>
              </a:pPr>
              <a:r>
                <a:rPr lang="en-US" sz="1425">
                  <a:solidFill>
                    <a:srgbClr val="0F1F45"/>
                  </a:solidFill>
                  <a:latin typeface="Consolas"/>
                  <a:ea typeface="Consolas"/>
                  <a:cs typeface="Consolas"/>
                  <a:sym typeface="Consolas"/>
                </a:rPr>
                <a:t>    CaseID,</a:t>
              </a:r>
            </a:p>
            <a:p>
              <a:pPr algn="l">
                <a:lnSpc>
                  <a:spcPts val="1709"/>
                </a:lnSpc>
              </a:pPr>
              <a:r>
                <a:rPr lang="en-US" sz="1425">
                  <a:solidFill>
                    <a:srgbClr val="0F1F45"/>
                  </a:solidFill>
                  <a:latin typeface="Consolas"/>
                  <a:ea typeface="Consolas"/>
                  <a:cs typeface="Consolas"/>
                  <a:sym typeface="Consolas"/>
                </a:rPr>
                <a:t>    FilingDate,</a:t>
              </a:r>
            </a:p>
            <a:p>
              <a:pPr algn="l">
                <a:lnSpc>
                  <a:spcPts val="1709"/>
                </a:lnSpc>
              </a:pPr>
              <a:r>
                <a:rPr lang="en-US" sz="1425">
                  <a:solidFill>
                    <a:srgbClr val="0F1F45"/>
                  </a:solidFill>
                  <a:latin typeface="Consolas"/>
                  <a:ea typeface="Consolas"/>
                  <a:cs typeface="Consolas"/>
                  <a:sym typeface="Consolas"/>
                </a:rPr>
                <a:t>    VerdictDate,</a:t>
              </a:r>
            </a:p>
            <a:p>
              <a:pPr algn="l">
                <a:lnSpc>
                  <a:spcPts val="1709"/>
                </a:lnSpc>
              </a:pPr>
              <a:r>
                <a:rPr lang="en-US" sz="1425">
                  <a:solidFill>
                    <a:srgbClr val="0F1F45"/>
                  </a:solidFill>
                  <a:latin typeface="Consolas"/>
                  <a:ea typeface="Consolas"/>
                  <a:cs typeface="Consolas"/>
                  <a:sym typeface="Consolas"/>
                </a:rPr>
                <a:t>    DATEDIFF(</a:t>
              </a:r>
            </a:p>
            <a:p>
              <a:pPr algn="l">
                <a:lnSpc>
                  <a:spcPts val="1709"/>
                </a:lnSpc>
              </a:pPr>
              <a:r>
                <a:rPr lang="en-US" sz="1425">
                  <a:solidFill>
                    <a:srgbClr val="0F1F45"/>
                  </a:solidFill>
                  <a:latin typeface="Consolas"/>
                  <a:ea typeface="Consolas"/>
                  <a:cs typeface="Consolas"/>
                  <a:sym typeface="Consolas"/>
                </a:rPr>
                <a:t>        COALESCE(VerdictDate, CURDATE()),</a:t>
              </a:r>
            </a:p>
            <a:p>
              <a:pPr algn="l">
                <a:lnSpc>
                  <a:spcPts val="1709"/>
                </a:lnSpc>
              </a:pPr>
              <a:r>
                <a:rPr lang="en-US" sz="1425">
                  <a:solidFill>
                    <a:srgbClr val="0F1F45"/>
                  </a:solidFill>
                  <a:latin typeface="Consolas"/>
                  <a:ea typeface="Consolas"/>
                  <a:cs typeface="Consolas"/>
                  <a:sym typeface="Consolas"/>
                </a:rPr>
                <a:t>        FilingDate</a:t>
              </a:r>
            </a:p>
            <a:p>
              <a:pPr algn="l">
                <a:lnSpc>
                  <a:spcPts val="1709"/>
                </a:lnSpc>
              </a:pPr>
              <a:r>
                <a:rPr lang="en-US" sz="1425">
                  <a:solidFill>
                    <a:srgbClr val="0F1F45"/>
                  </a:solidFill>
                  <a:latin typeface="Consolas"/>
                  <a:ea typeface="Consolas"/>
                  <a:cs typeface="Consolas"/>
                  <a:sym typeface="Consolas"/>
                </a:rPr>
                <a:t>    ) AS Litigation_Days</a:t>
              </a:r>
            </a:p>
            <a:p>
              <a:pPr algn="l">
                <a:lnSpc>
                  <a:spcPts val="1709"/>
                </a:lnSpc>
              </a:pPr>
              <a:r>
                <a:rPr lang="en-US" sz="1425">
                  <a:solidFill>
                    <a:srgbClr val="0F1F45"/>
                  </a:solidFill>
                  <a:latin typeface="Consolas"/>
                  <a:ea typeface="Consolas"/>
                  <a:cs typeface="Consolas"/>
                  <a:sym typeface="Consolas"/>
                </a:rPr>
                <a:t>FROM CourtCase;</a:t>
              </a:r>
            </a:p>
          </p:txBody>
        </p:sp>
      </p:grpSp>
      <p:sp>
        <p:nvSpPr>
          <p:cNvPr name="TextBox 82" id="82"/>
          <p:cNvSpPr txBox="true"/>
          <p:nvPr/>
        </p:nvSpPr>
        <p:spPr>
          <a:xfrm rot="0">
            <a:off x="12111228" y="5969508"/>
            <a:ext cx="5266944" cy="723900"/>
          </a:xfrm>
          <a:prstGeom prst="rect">
            <a:avLst/>
          </a:prstGeom>
        </p:spPr>
        <p:txBody>
          <a:bodyPr anchor="t" rtlCol="false" tIns="0" lIns="0" bIns="0" rIns="0">
            <a:spAutoFit/>
          </a:bodyPr>
          <a:lstStyle/>
          <a:p>
            <a:pPr algn="l">
              <a:lnSpc>
                <a:spcPts val="1800"/>
              </a:lnSpc>
            </a:pPr>
            <a:r>
              <a:rPr lang="en-US" sz="1500" i="true">
                <a:solidFill>
                  <a:srgbClr val="5B6B8C"/>
                </a:solidFill>
                <a:latin typeface="Calibri (MS) Italics"/>
                <a:ea typeface="Calibri (MS) Italics"/>
                <a:cs typeface="Calibri (MS) Italics"/>
                <a:sym typeface="Calibri (MS) Italics"/>
              </a:rPr>
              <a:t>Completed case: Filing date → Hearings → Verdict</a:t>
            </a:r>
          </a:p>
          <a:p>
            <a:pPr algn="l">
              <a:lnSpc>
                <a:spcPts val="1800"/>
              </a:lnSpc>
            </a:pPr>
            <a:r>
              <a:rPr lang="en-US" sz="1500" i="true">
                <a:solidFill>
                  <a:srgbClr val="5B6B8C"/>
                </a:solidFill>
                <a:latin typeface="Calibri (MS) Italics"/>
                <a:ea typeface="Calibri (MS) Italics"/>
                <a:cs typeface="Calibri (MS) Italics"/>
                <a:sym typeface="Calibri (MS) Italics"/>
              </a:rPr>
              <a:t>Pending case: Filing date → Current date</a:t>
            </a:r>
          </a:p>
        </p:txBody>
      </p:sp>
      <p:grpSp>
        <p:nvGrpSpPr>
          <p:cNvPr name="Group 83" id="83"/>
          <p:cNvGrpSpPr/>
          <p:nvPr/>
        </p:nvGrpSpPr>
        <p:grpSpPr>
          <a:xfrm rot="0">
            <a:off x="12104084" y="6782276"/>
            <a:ext cx="5281232" cy="2483167"/>
            <a:chOff x="0" y="0"/>
            <a:chExt cx="7041642" cy="3310890"/>
          </a:xfrm>
        </p:grpSpPr>
        <p:sp>
          <p:nvSpPr>
            <p:cNvPr name="Freeform 84" id="84"/>
            <p:cNvSpPr/>
            <p:nvPr/>
          </p:nvSpPr>
          <p:spPr>
            <a:xfrm flipH="false" flipV="false" rot="0">
              <a:off x="0" y="0"/>
              <a:ext cx="7041642" cy="3310890"/>
            </a:xfrm>
            <a:custGeom>
              <a:avLst/>
              <a:gdLst/>
              <a:ahLst/>
              <a:cxnLst/>
              <a:rect r="r" b="b" t="t" l="l"/>
              <a:pathLst>
                <a:path h="3310890" w="7041642">
                  <a:moveTo>
                    <a:pt x="0" y="0"/>
                  </a:moveTo>
                  <a:lnTo>
                    <a:pt x="7041642" y="0"/>
                  </a:lnTo>
                  <a:lnTo>
                    <a:pt x="7041642" y="3310890"/>
                  </a:lnTo>
                  <a:lnTo>
                    <a:pt x="0" y="3310890"/>
                  </a:lnTo>
                  <a:close/>
                </a:path>
              </a:pathLst>
            </a:custGeom>
            <a:solidFill>
              <a:srgbClr val="F0F5FF"/>
            </a:solidFill>
            <a:ln w="14288" cap="sq">
              <a:solidFill>
                <a:srgbClr val="C9D9F2"/>
              </a:solidFill>
              <a:prstDash val="solid"/>
              <a:miter/>
            </a:ln>
          </p:spPr>
        </p:sp>
      </p:grpSp>
      <p:sp>
        <p:nvSpPr>
          <p:cNvPr name="TextBox 85" id="85"/>
          <p:cNvSpPr txBox="true"/>
          <p:nvPr/>
        </p:nvSpPr>
        <p:spPr>
          <a:xfrm rot="0">
            <a:off x="12385548" y="6915912"/>
            <a:ext cx="4718304"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Concepts</a:t>
            </a:r>
          </a:p>
        </p:txBody>
      </p:sp>
      <p:sp>
        <p:nvSpPr>
          <p:cNvPr name="TextBox 86" id="86"/>
          <p:cNvSpPr txBox="true"/>
          <p:nvPr/>
        </p:nvSpPr>
        <p:spPr>
          <a:xfrm rot="0">
            <a:off x="12385548" y="7231380"/>
            <a:ext cx="4800600" cy="2026920"/>
          </a:xfrm>
          <a:prstGeom prst="rect">
            <a:avLst/>
          </a:prstGeom>
        </p:spPr>
        <p:txBody>
          <a:bodyPr anchor="t" rtlCol="false" tIns="0" lIns="0" bIns="0" rIns="0">
            <a:spAutoFit/>
          </a:bodyPr>
          <a:lstStyle/>
          <a:p>
            <a:pPr algn="l" marL="271462" indent="-135731" lvl="1">
              <a:lnSpc>
                <a:spcPts val="1800"/>
              </a:lnSpc>
              <a:buFont typeface="Arial"/>
              <a:buChar char="•"/>
            </a:pPr>
            <a:r>
              <a:rPr lang="en-US" sz="1500">
                <a:solidFill>
                  <a:srgbClr val="0F1F45"/>
                </a:solidFill>
                <a:latin typeface="Calibri (MS)"/>
                <a:ea typeface="Calibri (MS)"/>
                <a:cs typeface="Calibri (MS)"/>
                <a:sym typeface="Calibri (MS)"/>
              </a:rPr>
              <a:t>JOIN • GROUP BY • COUNT</a:t>
            </a:r>
          </a:p>
          <a:p>
            <a:pPr algn="l" marL="271462" indent="-135731" lvl="1">
              <a:lnSpc>
                <a:spcPts val="1800"/>
              </a:lnSpc>
              <a:buFont typeface="Arial"/>
              <a:buChar char="•"/>
            </a:pPr>
            <a:r>
              <a:rPr lang="en-US" sz="1500">
                <a:solidFill>
                  <a:srgbClr val="0F1F45"/>
                </a:solidFill>
                <a:latin typeface="Calibri (MS)"/>
                <a:ea typeface="Calibri (MS)"/>
                <a:cs typeface="Calibri (MS)"/>
                <a:sym typeface="Calibri (MS)"/>
              </a:rPr>
              <a:t>Conditional aggregation (CASE) • KPI generation</a:t>
            </a:r>
          </a:p>
          <a:p>
            <a:pPr algn="l" marL="271462" indent="-135731" lvl="1">
              <a:lnSpc>
                <a:spcPts val="1800"/>
              </a:lnSpc>
              <a:buFont typeface="Arial"/>
              <a:buChar char="•"/>
            </a:pPr>
            <a:r>
              <a:rPr lang="en-US" sz="1500">
                <a:solidFill>
                  <a:srgbClr val="0F1F45"/>
                </a:solidFill>
                <a:latin typeface="Calibri (MS)"/>
                <a:ea typeface="Calibri (MS)"/>
                <a:cs typeface="Calibri (MS)"/>
                <a:sym typeface="Calibri (MS)"/>
              </a:rPr>
              <a:t>DATEDIFF(): days between two dates</a:t>
            </a:r>
          </a:p>
          <a:p>
            <a:pPr algn="l" marL="271462" indent="-135731" lvl="1">
              <a:lnSpc>
                <a:spcPts val="1800"/>
              </a:lnSpc>
              <a:buFont typeface="Arial"/>
              <a:buChar char="•"/>
            </a:pPr>
            <a:r>
              <a:rPr lang="en-US" sz="1500">
                <a:solidFill>
                  <a:srgbClr val="0F1F45"/>
                </a:solidFill>
                <a:latin typeface="Calibri (MS)"/>
                <a:ea typeface="Calibri (MS)"/>
                <a:cs typeface="Calibri (MS)"/>
                <a:sym typeface="Calibri (MS)"/>
              </a:rPr>
              <a:t>COALESCE(): CURDATE() when VerdictDate is NULL</a:t>
            </a:r>
          </a:p>
          <a:p>
            <a:pPr algn="l" marL="271462" indent="-135731" lvl="1">
              <a:lnSpc>
                <a:spcPts val="1800"/>
              </a:lnSpc>
              <a:buFont typeface="Arial"/>
              <a:buChar char="•"/>
            </a:pPr>
            <a:r>
              <a:rPr lang="en-US" sz="1500">
                <a:solidFill>
                  <a:srgbClr val="0F1F45"/>
                </a:solidFill>
                <a:latin typeface="Calibri (MS)"/>
                <a:ea typeface="Calibri (MS)"/>
                <a:cs typeface="Calibri (MS)"/>
                <a:sym typeface="Calibri (MS)"/>
              </a:rPr>
              <a:t>Dynamic aging of pending cases</a:t>
            </a:r>
          </a:p>
        </p:txBody>
      </p:sp>
      <p:sp>
        <p:nvSpPr>
          <p:cNvPr name="Freeform 87" id="87"/>
          <p:cNvSpPr/>
          <p:nvPr/>
        </p:nvSpPr>
        <p:spPr>
          <a:xfrm flipH="false" flipV="false" rot="0">
            <a:off x="16247050" y="152298"/>
            <a:ext cx="1933060" cy="1006418"/>
          </a:xfrm>
          <a:custGeom>
            <a:avLst/>
            <a:gdLst/>
            <a:ahLst/>
            <a:cxnLst/>
            <a:rect r="r" b="b" t="t" l="l"/>
            <a:pathLst>
              <a:path h="1006418" w="1933060">
                <a:moveTo>
                  <a:pt x="0" y="0"/>
                </a:moveTo>
                <a:lnTo>
                  <a:pt x="1933060" y="0"/>
                </a:lnTo>
                <a:lnTo>
                  <a:pt x="1933060" y="1006418"/>
                </a:lnTo>
                <a:lnTo>
                  <a:pt x="0" y="1006418"/>
                </a:lnTo>
                <a:lnTo>
                  <a:pt x="0" y="0"/>
                </a:lnTo>
                <a:close/>
              </a:path>
            </a:pathLst>
          </a:custGeom>
          <a:blipFill>
            <a:blip r:embed="rId4"/>
            <a:stretch>
              <a:fillRect l="0" t="0" r="0" b="0"/>
            </a:stretch>
          </a:blipFill>
        </p:spPr>
      </p:sp>
      <p:sp>
        <p:nvSpPr>
          <p:cNvPr name="Freeform 88" id="88"/>
          <p:cNvSpPr/>
          <p:nvPr/>
        </p:nvSpPr>
        <p:spPr>
          <a:xfrm flipH="false" flipV="false" rot="0">
            <a:off x="0" y="9407477"/>
            <a:ext cx="13461945" cy="846145"/>
          </a:xfrm>
          <a:custGeom>
            <a:avLst/>
            <a:gdLst/>
            <a:ahLst/>
            <a:cxnLst/>
            <a:rect r="r" b="b" t="t" l="l"/>
            <a:pathLst>
              <a:path h="846145" w="13461945">
                <a:moveTo>
                  <a:pt x="0" y="0"/>
                </a:moveTo>
                <a:lnTo>
                  <a:pt x="13461945" y="0"/>
                </a:lnTo>
                <a:lnTo>
                  <a:pt x="13461945" y="846145"/>
                </a:lnTo>
                <a:lnTo>
                  <a:pt x="0" y="846145"/>
                </a:lnTo>
                <a:lnTo>
                  <a:pt x="0" y="0"/>
                </a:lnTo>
                <a:close/>
              </a:path>
            </a:pathLst>
          </a:custGeom>
          <a:blipFill>
            <a:blip r:embed="rId5"/>
            <a:stretch>
              <a:fillRect l="0" t="-22657" r="-4334" b="-20699"/>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8972" y="411480"/>
            <a:ext cx="16459200" cy="960120"/>
            <a:chOff x="0" y="0"/>
            <a:chExt cx="21945600" cy="1280160"/>
          </a:xfrm>
        </p:grpSpPr>
        <p:sp>
          <p:nvSpPr>
            <p:cNvPr name="Freeform 3" id="3"/>
            <p:cNvSpPr/>
            <p:nvPr/>
          </p:nvSpPr>
          <p:spPr>
            <a:xfrm flipH="false" flipV="false" rot="0">
              <a:off x="0" y="0"/>
              <a:ext cx="21945600" cy="1280160"/>
            </a:xfrm>
            <a:custGeom>
              <a:avLst/>
              <a:gdLst/>
              <a:ahLst/>
              <a:cxnLst/>
              <a:rect r="r" b="b" t="t" l="l"/>
              <a:pathLst>
                <a:path h="1280160" w="21945600">
                  <a:moveTo>
                    <a:pt x="0" y="0"/>
                  </a:moveTo>
                  <a:lnTo>
                    <a:pt x="21945600" y="0"/>
                  </a:lnTo>
                  <a:lnTo>
                    <a:pt x="21945600" y="1280160"/>
                  </a:lnTo>
                  <a:lnTo>
                    <a:pt x="0" y="1280160"/>
                  </a:lnTo>
                  <a:close/>
                </a:path>
              </a:pathLst>
            </a:custGeom>
            <a:blipFill>
              <a:blip r:embed="rId3">
                <a:alphaModFix amt="0"/>
              </a:blip>
              <a:stretch>
                <a:fillRect l="0" t="-284029" r="0" b="-284029"/>
              </a:stretch>
            </a:blipFill>
          </p:spPr>
        </p:sp>
        <p:sp>
          <p:nvSpPr>
            <p:cNvPr name="TextBox 4" id="4"/>
            <p:cNvSpPr txBox="true"/>
            <p:nvPr/>
          </p:nvSpPr>
          <p:spPr>
            <a:xfrm>
              <a:off x="0" y="-66675"/>
              <a:ext cx="21945600" cy="1346835"/>
            </a:xfrm>
            <a:prstGeom prst="rect">
              <a:avLst/>
            </a:prstGeom>
          </p:spPr>
          <p:txBody>
            <a:bodyPr anchor="ctr" rtlCol="false" tIns="0" lIns="0" bIns="0" rIns="0"/>
            <a:lstStyle/>
            <a:p>
              <a:pPr algn="l">
                <a:lnSpc>
                  <a:spcPts val="4320"/>
                </a:lnSpc>
              </a:pPr>
              <a:r>
                <a:rPr lang="en-US" sz="3600" b="true">
                  <a:solidFill>
                    <a:srgbClr val="2563EB"/>
                  </a:solidFill>
                  <a:latin typeface="Calibri (MS) Bold"/>
                  <a:ea typeface="Calibri (MS) Bold"/>
                  <a:cs typeface="Calibri (MS) Bold"/>
                  <a:sym typeface="Calibri (MS) Bold"/>
                </a:rPr>
                <a:t>06  </a:t>
              </a:r>
              <a:r>
                <a:rPr lang="en-US" sz="3600" b="true">
                  <a:solidFill>
                    <a:srgbClr val="0F1F45"/>
                  </a:solidFill>
                  <a:latin typeface="Calibri (MS) Bold"/>
                  <a:ea typeface="Calibri (MS) Bold"/>
                  <a:cs typeface="Calibri (MS) Bold"/>
                  <a:sym typeface="Calibri (MS) Bold"/>
                </a:rPr>
                <a:t>Transactional Integrity &amp; Automated Database Logic</a:t>
              </a:r>
            </a:p>
          </p:txBody>
        </p:sp>
      </p:grpSp>
      <p:sp>
        <p:nvSpPr>
          <p:cNvPr name="TextBox 5" id="5"/>
          <p:cNvSpPr txBox="true"/>
          <p:nvPr/>
        </p:nvSpPr>
        <p:spPr>
          <a:xfrm rot="0">
            <a:off x="918972" y="9476613"/>
            <a:ext cx="10972800" cy="440055"/>
          </a:xfrm>
          <a:prstGeom prst="rect">
            <a:avLst/>
          </a:prstGeom>
        </p:spPr>
        <p:txBody>
          <a:bodyPr anchor="t" rtlCol="false" tIns="0" lIns="0" bIns="0" rIns="0">
            <a:spAutoFit/>
          </a:bodyPr>
          <a:lstStyle/>
          <a:p>
            <a:pPr algn="l">
              <a:lnSpc>
                <a:spcPts val="1620"/>
              </a:lnSpc>
            </a:pPr>
            <a:r>
              <a:rPr lang="en-US" sz="1350">
                <a:solidFill>
                  <a:srgbClr val="5B6B8C"/>
                </a:solidFill>
                <a:latin typeface="Calibri (MS)"/>
                <a:ea typeface="Calibri (MS)"/>
                <a:cs typeface="Calibri (MS)"/>
                <a:sym typeface="Calibri (MS)"/>
              </a:rPr>
              <a:t>Gaurav Singh | P15 | CRPSMS | MySQL 8.0</a:t>
            </a:r>
          </a:p>
        </p:txBody>
      </p:sp>
      <p:sp>
        <p:nvSpPr>
          <p:cNvPr name="TextBox 6" id="6"/>
          <p:cNvSpPr txBox="true"/>
          <p:nvPr/>
        </p:nvSpPr>
        <p:spPr>
          <a:xfrm rot="0">
            <a:off x="15553944" y="9476613"/>
            <a:ext cx="1824228" cy="440055"/>
          </a:xfrm>
          <a:prstGeom prst="rect">
            <a:avLst/>
          </a:prstGeom>
        </p:spPr>
        <p:txBody>
          <a:bodyPr anchor="t" rtlCol="false" tIns="0" lIns="0" bIns="0" rIns="0">
            <a:spAutoFit/>
          </a:bodyPr>
          <a:lstStyle/>
          <a:p>
            <a:pPr algn="r">
              <a:lnSpc>
                <a:spcPts val="1620"/>
              </a:lnSpc>
            </a:pPr>
            <a:r>
              <a:rPr lang="en-US" sz="1350">
                <a:solidFill>
                  <a:srgbClr val="5B6B8C"/>
                </a:solidFill>
                <a:latin typeface="Calibri (MS)"/>
                <a:ea typeface="Calibri (MS)"/>
                <a:cs typeface="Calibri (MS)"/>
                <a:sym typeface="Calibri (MS)"/>
              </a:rPr>
              <a:t>6 / 8</a:t>
            </a:r>
          </a:p>
        </p:txBody>
      </p:sp>
      <p:grpSp>
        <p:nvGrpSpPr>
          <p:cNvPr name="Group 7" id="7"/>
          <p:cNvGrpSpPr/>
          <p:nvPr/>
        </p:nvGrpSpPr>
        <p:grpSpPr>
          <a:xfrm rot="0">
            <a:off x="911828" y="1775936"/>
            <a:ext cx="3717608" cy="2208848"/>
            <a:chOff x="0" y="0"/>
            <a:chExt cx="4956810" cy="2945130"/>
          </a:xfrm>
        </p:grpSpPr>
        <p:sp>
          <p:nvSpPr>
            <p:cNvPr name="Freeform 8" id="8"/>
            <p:cNvSpPr/>
            <p:nvPr/>
          </p:nvSpPr>
          <p:spPr>
            <a:xfrm flipH="false" flipV="false" rot="0">
              <a:off x="0" y="0"/>
              <a:ext cx="4956810" cy="2945130"/>
            </a:xfrm>
            <a:custGeom>
              <a:avLst/>
              <a:gdLst/>
              <a:ahLst/>
              <a:cxnLst/>
              <a:rect r="r" b="b" t="t" l="l"/>
              <a:pathLst>
                <a:path h="2945130" w="4956810">
                  <a:moveTo>
                    <a:pt x="0" y="0"/>
                  </a:moveTo>
                  <a:lnTo>
                    <a:pt x="4956810" y="0"/>
                  </a:lnTo>
                  <a:lnTo>
                    <a:pt x="4956810" y="2945130"/>
                  </a:lnTo>
                  <a:lnTo>
                    <a:pt x="0" y="2945130"/>
                  </a:lnTo>
                  <a:close/>
                </a:path>
              </a:pathLst>
            </a:custGeom>
            <a:solidFill>
              <a:srgbClr val="F0F5FF"/>
            </a:solidFill>
            <a:ln w="14288" cap="sq">
              <a:solidFill>
                <a:srgbClr val="C9D9F2"/>
              </a:solidFill>
              <a:prstDash val="solid"/>
              <a:miter/>
            </a:ln>
          </p:spPr>
        </p:sp>
      </p:grpSp>
      <p:sp>
        <p:nvSpPr>
          <p:cNvPr name="TextBox 9" id="9"/>
          <p:cNvSpPr txBox="true"/>
          <p:nvPr/>
        </p:nvSpPr>
        <p:spPr>
          <a:xfrm rot="0">
            <a:off x="1193292" y="1909572"/>
            <a:ext cx="315468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Atomicity</a:t>
            </a:r>
          </a:p>
        </p:txBody>
      </p:sp>
      <p:sp>
        <p:nvSpPr>
          <p:cNvPr name="TextBox 10" id="10"/>
          <p:cNvSpPr txBox="true"/>
          <p:nvPr/>
        </p:nvSpPr>
        <p:spPr>
          <a:xfrm rot="0">
            <a:off x="1193292" y="2499360"/>
            <a:ext cx="3223260" cy="1409700"/>
          </a:xfrm>
          <a:prstGeom prst="rect">
            <a:avLst/>
          </a:prstGeom>
        </p:spPr>
        <p:txBody>
          <a:bodyPr anchor="t" rtlCol="false" tIns="0" lIns="0" bIns="0" rIns="0">
            <a:spAutoFit/>
          </a:bodyPr>
          <a:lstStyle/>
          <a:p>
            <a:pPr algn="l">
              <a:lnSpc>
                <a:spcPts val="2160"/>
              </a:lnSpc>
            </a:pPr>
            <a:r>
              <a:rPr lang="en-US" sz="1800">
                <a:solidFill>
                  <a:srgbClr val="0F1F45"/>
                </a:solidFill>
                <a:latin typeface="Calibri (MS)"/>
                <a:ea typeface="Calibri (MS)"/>
                <a:cs typeface="Calibri (MS)"/>
                <a:sym typeface="Calibri (MS)"/>
              </a:rPr>
              <a:t>All related FIR operations succeed or fail together</a:t>
            </a:r>
          </a:p>
        </p:txBody>
      </p:sp>
      <p:grpSp>
        <p:nvGrpSpPr>
          <p:cNvPr name="Group 11" id="11"/>
          <p:cNvGrpSpPr/>
          <p:nvPr/>
        </p:nvGrpSpPr>
        <p:grpSpPr>
          <a:xfrm rot="0">
            <a:off x="4820888" y="1775936"/>
            <a:ext cx="3717608" cy="2208848"/>
            <a:chOff x="0" y="0"/>
            <a:chExt cx="4956810" cy="2945130"/>
          </a:xfrm>
        </p:grpSpPr>
        <p:sp>
          <p:nvSpPr>
            <p:cNvPr name="Freeform 12" id="12"/>
            <p:cNvSpPr/>
            <p:nvPr/>
          </p:nvSpPr>
          <p:spPr>
            <a:xfrm flipH="false" flipV="false" rot="0">
              <a:off x="0" y="0"/>
              <a:ext cx="4956810" cy="2945130"/>
            </a:xfrm>
            <a:custGeom>
              <a:avLst/>
              <a:gdLst/>
              <a:ahLst/>
              <a:cxnLst/>
              <a:rect r="r" b="b" t="t" l="l"/>
              <a:pathLst>
                <a:path h="2945130" w="4956810">
                  <a:moveTo>
                    <a:pt x="0" y="0"/>
                  </a:moveTo>
                  <a:lnTo>
                    <a:pt x="4956810" y="0"/>
                  </a:lnTo>
                  <a:lnTo>
                    <a:pt x="4956810" y="2945130"/>
                  </a:lnTo>
                  <a:lnTo>
                    <a:pt x="0" y="2945130"/>
                  </a:lnTo>
                  <a:close/>
                </a:path>
              </a:pathLst>
            </a:custGeom>
            <a:solidFill>
              <a:srgbClr val="F0F5FF"/>
            </a:solidFill>
            <a:ln w="14288" cap="sq">
              <a:solidFill>
                <a:srgbClr val="C9D9F2"/>
              </a:solidFill>
              <a:prstDash val="solid"/>
              <a:miter/>
            </a:ln>
          </p:spPr>
        </p:sp>
      </p:grpSp>
      <p:sp>
        <p:nvSpPr>
          <p:cNvPr name="TextBox 13" id="13"/>
          <p:cNvSpPr txBox="true"/>
          <p:nvPr/>
        </p:nvSpPr>
        <p:spPr>
          <a:xfrm rot="0">
            <a:off x="5102352" y="1909572"/>
            <a:ext cx="315468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Consistency</a:t>
            </a:r>
          </a:p>
        </p:txBody>
      </p:sp>
      <p:sp>
        <p:nvSpPr>
          <p:cNvPr name="TextBox 14" id="14"/>
          <p:cNvSpPr txBox="true"/>
          <p:nvPr/>
        </p:nvSpPr>
        <p:spPr>
          <a:xfrm rot="0">
            <a:off x="5102352" y="2499360"/>
            <a:ext cx="3223260" cy="1409700"/>
          </a:xfrm>
          <a:prstGeom prst="rect">
            <a:avLst/>
          </a:prstGeom>
        </p:spPr>
        <p:txBody>
          <a:bodyPr anchor="t" rtlCol="false" tIns="0" lIns="0" bIns="0" rIns="0">
            <a:spAutoFit/>
          </a:bodyPr>
          <a:lstStyle/>
          <a:p>
            <a:pPr algn="l">
              <a:lnSpc>
                <a:spcPts val="2160"/>
              </a:lnSpc>
            </a:pPr>
            <a:r>
              <a:rPr lang="en-US" sz="1800">
                <a:solidFill>
                  <a:srgbClr val="0F1F45"/>
                </a:solidFill>
                <a:latin typeface="Calibri (MS)"/>
                <a:ea typeface="Calibri (MS)"/>
                <a:cs typeface="Calibri (MS)"/>
                <a:sym typeface="Calibri (MS)"/>
              </a:rPr>
              <a:t>Constraints maintain valid database states</a:t>
            </a:r>
          </a:p>
        </p:txBody>
      </p:sp>
      <p:grpSp>
        <p:nvGrpSpPr>
          <p:cNvPr name="Group 15" id="15"/>
          <p:cNvGrpSpPr/>
          <p:nvPr/>
        </p:nvGrpSpPr>
        <p:grpSpPr>
          <a:xfrm rot="0">
            <a:off x="911828" y="4176236"/>
            <a:ext cx="3717608" cy="2208848"/>
            <a:chOff x="0" y="0"/>
            <a:chExt cx="4956810" cy="2945130"/>
          </a:xfrm>
        </p:grpSpPr>
        <p:sp>
          <p:nvSpPr>
            <p:cNvPr name="Freeform 16" id="16"/>
            <p:cNvSpPr/>
            <p:nvPr/>
          </p:nvSpPr>
          <p:spPr>
            <a:xfrm flipH="false" flipV="false" rot="0">
              <a:off x="0" y="0"/>
              <a:ext cx="4956810" cy="2945130"/>
            </a:xfrm>
            <a:custGeom>
              <a:avLst/>
              <a:gdLst/>
              <a:ahLst/>
              <a:cxnLst/>
              <a:rect r="r" b="b" t="t" l="l"/>
              <a:pathLst>
                <a:path h="2945130" w="4956810">
                  <a:moveTo>
                    <a:pt x="0" y="0"/>
                  </a:moveTo>
                  <a:lnTo>
                    <a:pt x="4956810" y="0"/>
                  </a:lnTo>
                  <a:lnTo>
                    <a:pt x="4956810" y="2945130"/>
                  </a:lnTo>
                  <a:lnTo>
                    <a:pt x="0" y="2945130"/>
                  </a:lnTo>
                  <a:close/>
                </a:path>
              </a:pathLst>
            </a:custGeom>
            <a:solidFill>
              <a:srgbClr val="F0F5FF"/>
            </a:solidFill>
            <a:ln w="14288" cap="sq">
              <a:solidFill>
                <a:srgbClr val="C9D9F2"/>
              </a:solidFill>
              <a:prstDash val="solid"/>
              <a:miter/>
            </a:ln>
          </p:spPr>
        </p:sp>
      </p:grpSp>
      <p:sp>
        <p:nvSpPr>
          <p:cNvPr name="TextBox 17" id="17"/>
          <p:cNvSpPr txBox="true"/>
          <p:nvPr/>
        </p:nvSpPr>
        <p:spPr>
          <a:xfrm rot="0">
            <a:off x="1193292" y="4309872"/>
            <a:ext cx="315468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Isolation</a:t>
            </a:r>
          </a:p>
        </p:txBody>
      </p:sp>
      <p:sp>
        <p:nvSpPr>
          <p:cNvPr name="TextBox 18" id="18"/>
          <p:cNvSpPr txBox="true"/>
          <p:nvPr/>
        </p:nvSpPr>
        <p:spPr>
          <a:xfrm rot="0">
            <a:off x="1193292" y="4899660"/>
            <a:ext cx="3223260" cy="1409700"/>
          </a:xfrm>
          <a:prstGeom prst="rect">
            <a:avLst/>
          </a:prstGeom>
        </p:spPr>
        <p:txBody>
          <a:bodyPr anchor="t" rtlCol="false" tIns="0" lIns="0" bIns="0" rIns="0">
            <a:spAutoFit/>
          </a:bodyPr>
          <a:lstStyle/>
          <a:p>
            <a:pPr algn="l">
              <a:lnSpc>
                <a:spcPts val="2160"/>
              </a:lnSpc>
            </a:pPr>
            <a:r>
              <a:rPr lang="en-US" sz="1800">
                <a:solidFill>
                  <a:srgbClr val="0F1F45"/>
                </a:solidFill>
                <a:latin typeface="Calibri (MS)"/>
                <a:ea typeface="Calibri (MS)"/>
                <a:cs typeface="Calibri (MS)"/>
                <a:sym typeface="Calibri (MS)"/>
              </a:rPr>
              <a:t>Concurrent transactions are isolated appropriately</a:t>
            </a:r>
          </a:p>
        </p:txBody>
      </p:sp>
      <p:grpSp>
        <p:nvGrpSpPr>
          <p:cNvPr name="Group 19" id="19"/>
          <p:cNvGrpSpPr/>
          <p:nvPr/>
        </p:nvGrpSpPr>
        <p:grpSpPr>
          <a:xfrm rot="0">
            <a:off x="4820888" y="4176236"/>
            <a:ext cx="3717608" cy="2208848"/>
            <a:chOff x="0" y="0"/>
            <a:chExt cx="4956810" cy="2945130"/>
          </a:xfrm>
        </p:grpSpPr>
        <p:sp>
          <p:nvSpPr>
            <p:cNvPr name="Freeform 20" id="20"/>
            <p:cNvSpPr/>
            <p:nvPr/>
          </p:nvSpPr>
          <p:spPr>
            <a:xfrm flipH="false" flipV="false" rot="0">
              <a:off x="0" y="0"/>
              <a:ext cx="4956810" cy="2945130"/>
            </a:xfrm>
            <a:custGeom>
              <a:avLst/>
              <a:gdLst/>
              <a:ahLst/>
              <a:cxnLst/>
              <a:rect r="r" b="b" t="t" l="l"/>
              <a:pathLst>
                <a:path h="2945130" w="4956810">
                  <a:moveTo>
                    <a:pt x="0" y="0"/>
                  </a:moveTo>
                  <a:lnTo>
                    <a:pt x="4956810" y="0"/>
                  </a:lnTo>
                  <a:lnTo>
                    <a:pt x="4956810" y="2945130"/>
                  </a:lnTo>
                  <a:lnTo>
                    <a:pt x="0" y="2945130"/>
                  </a:lnTo>
                  <a:close/>
                </a:path>
              </a:pathLst>
            </a:custGeom>
            <a:solidFill>
              <a:srgbClr val="F0F5FF"/>
            </a:solidFill>
            <a:ln w="14288" cap="sq">
              <a:solidFill>
                <a:srgbClr val="C9D9F2"/>
              </a:solidFill>
              <a:prstDash val="solid"/>
              <a:miter/>
            </a:ln>
          </p:spPr>
        </p:sp>
      </p:grpSp>
      <p:sp>
        <p:nvSpPr>
          <p:cNvPr name="TextBox 21" id="21"/>
          <p:cNvSpPr txBox="true"/>
          <p:nvPr/>
        </p:nvSpPr>
        <p:spPr>
          <a:xfrm rot="0">
            <a:off x="5102352" y="4309872"/>
            <a:ext cx="315468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Durability</a:t>
            </a:r>
          </a:p>
        </p:txBody>
      </p:sp>
      <p:sp>
        <p:nvSpPr>
          <p:cNvPr name="TextBox 22" id="22"/>
          <p:cNvSpPr txBox="true"/>
          <p:nvPr/>
        </p:nvSpPr>
        <p:spPr>
          <a:xfrm rot="0">
            <a:off x="5102352" y="4899660"/>
            <a:ext cx="3223260" cy="1409700"/>
          </a:xfrm>
          <a:prstGeom prst="rect">
            <a:avLst/>
          </a:prstGeom>
        </p:spPr>
        <p:txBody>
          <a:bodyPr anchor="t" rtlCol="false" tIns="0" lIns="0" bIns="0" rIns="0">
            <a:spAutoFit/>
          </a:bodyPr>
          <a:lstStyle/>
          <a:p>
            <a:pPr algn="l">
              <a:lnSpc>
                <a:spcPts val="2160"/>
              </a:lnSpc>
            </a:pPr>
            <a:r>
              <a:rPr lang="en-US" sz="1800">
                <a:solidFill>
                  <a:srgbClr val="0F1F45"/>
                </a:solidFill>
                <a:latin typeface="Calibri (MS)"/>
                <a:ea typeface="Calibri (MS)"/>
                <a:cs typeface="Calibri (MS)"/>
                <a:sym typeface="Calibri (MS)"/>
              </a:rPr>
              <a:t>Committed changes survive failures via database recovery</a:t>
            </a:r>
          </a:p>
        </p:txBody>
      </p:sp>
      <p:sp>
        <p:nvSpPr>
          <p:cNvPr name="TextBox 23" id="23"/>
          <p:cNvSpPr txBox="true"/>
          <p:nvPr/>
        </p:nvSpPr>
        <p:spPr>
          <a:xfrm rot="0">
            <a:off x="918972" y="6623685"/>
            <a:ext cx="6858000" cy="440055"/>
          </a:xfrm>
          <a:prstGeom prst="rect">
            <a:avLst/>
          </a:prstGeom>
        </p:spPr>
        <p:txBody>
          <a:bodyPr anchor="t" rtlCol="false" tIns="0" lIns="0" bIns="0" rIns="0">
            <a:spAutoFit/>
          </a:bodyPr>
          <a:lstStyle/>
          <a:p>
            <a:pPr algn="l">
              <a:lnSpc>
                <a:spcPts val="1980"/>
              </a:lnSpc>
            </a:pPr>
            <a:r>
              <a:rPr lang="en-US" b="true" sz="1650" spc="225">
                <a:solidFill>
                  <a:srgbClr val="2563EB"/>
                </a:solidFill>
                <a:latin typeface="Calibri (MS) Bold"/>
                <a:ea typeface="Calibri (MS) Bold"/>
                <a:cs typeface="Calibri (MS) Bold"/>
                <a:sym typeface="Calibri (MS) Bold"/>
              </a:rPr>
              <a:t>SQL TRANSACTION</a:t>
            </a:r>
          </a:p>
        </p:txBody>
      </p:sp>
      <p:grpSp>
        <p:nvGrpSpPr>
          <p:cNvPr name="Group 24" id="24"/>
          <p:cNvGrpSpPr/>
          <p:nvPr/>
        </p:nvGrpSpPr>
        <p:grpSpPr>
          <a:xfrm rot="0">
            <a:off x="911828" y="7125176"/>
            <a:ext cx="7626668" cy="2140267"/>
            <a:chOff x="0" y="0"/>
            <a:chExt cx="10168890" cy="2853690"/>
          </a:xfrm>
        </p:grpSpPr>
        <p:sp>
          <p:nvSpPr>
            <p:cNvPr name="Freeform 25" id="25"/>
            <p:cNvSpPr/>
            <p:nvPr/>
          </p:nvSpPr>
          <p:spPr>
            <a:xfrm flipH="false" flipV="false" rot="0">
              <a:off x="0" y="0"/>
              <a:ext cx="10168890" cy="2853690"/>
            </a:xfrm>
            <a:custGeom>
              <a:avLst/>
              <a:gdLst/>
              <a:ahLst/>
              <a:cxnLst/>
              <a:rect r="r" b="b" t="t" l="l"/>
              <a:pathLst>
                <a:path h="2853690" w="10168890">
                  <a:moveTo>
                    <a:pt x="0" y="0"/>
                  </a:moveTo>
                  <a:lnTo>
                    <a:pt x="10168890" y="0"/>
                  </a:lnTo>
                  <a:lnTo>
                    <a:pt x="10168890" y="2853690"/>
                  </a:lnTo>
                  <a:lnTo>
                    <a:pt x="0" y="2853690"/>
                  </a:lnTo>
                  <a:close/>
                </a:path>
              </a:pathLst>
            </a:custGeom>
            <a:solidFill>
              <a:srgbClr val="FFFFFF"/>
            </a:solidFill>
            <a:ln w="14288" cap="sq">
              <a:solidFill>
                <a:srgbClr val="2563EB"/>
              </a:solidFill>
              <a:prstDash val="solid"/>
              <a:miter/>
            </a:ln>
          </p:spPr>
        </p:sp>
      </p:grpSp>
      <p:grpSp>
        <p:nvGrpSpPr>
          <p:cNvPr name="Group 26" id="26"/>
          <p:cNvGrpSpPr/>
          <p:nvPr/>
        </p:nvGrpSpPr>
        <p:grpSpPr>
          <a:xfrm rot="0">
            <a:off x="1124712" y="7242048"/>
            <a:ext cx="7200900" cy="1906524"/>
            <a:chOff x="0" y="0"/>
            <a:chExt cx="9601200" cy="2542032"/>
          </a:xfrm>
        </p:grpSpPr>
        <p:sp>
          <p:nvSpPr>
            <p:cNvPr name="Freeform 27" id="27"/>
            <p:cNvSpPr/>
            <p:nvPr/>
          </p:nvSpPr>
          <p:spPr>
            <a:xfrm flipH="false" flipV="false" rot="0">
              <a:off x="0" y="0"/>
              <a:ext cx="9601200" cy="2542032"/>
            </a:xfrm>
            <a:custGeom>
              <a:avLst/>
              <a:gdLst/>
              <a:ahLst/>
              <a:cxnLst/>
              <a:rect r="r" b="b" t="t" l="l"/>
              <a:pathLst>
                <a:path h="2542032" w="9601200">
                  <a:moveTo>
                    <a:pt x="0" y="0"/>
                  </a:moveTo>
                  <a:lnTo>
                    <a:pt x="9601200" y="0"/>
                  </a:lnTo>
                  <a:lnTo>
                    <a:pt x="9601200" y="2542032"/>
                  </a:lnTo>
                  <a:lnTo>
                    <a:pt x="0" y="2542032"/>
                  </a:lnTo>
                  <a:close/>
                </a:path>
              </a:pathLst>
            </a:custGeom>
            <a:blipFill>
              <a:blip r:embed="rId3">
                <a:alphaModFix amt="0"/>
              </a:blip>
              <a:stretch>
                <a:fillRect l="0" t="-23594" r="0" b="-23594"/>
              </a:stretch>
            </a:blipFill>
          </p:spPr>
        </p:sp>
        <p:sp>
          <p:nvSpPr>
            <p:cNvPr name="TextBox 28" id="28"/>
            <p:cNvSpPr txBox="true"/>
            <p:nvPr/>
          </p:nvSpPr>
          <p:spPr>
            <a:xfrm>
              <a:off x="0" y="-28575"/>
              <a:ext cx="9601200" cy="2570607"/>
            </a:xfrm>
            <a:prstGeom prst="rect">
              <a:avLst/>
            </a:prstGeom>
          </p:spPr>
          <p:txBody>
            <a:bodyPr anchor="ctr" rtlCol="false" tIns="0" lIns="0" bIns="0" rIns="0"/>
            <a:lstStyle/>
            <a:p>
              <a:pPr algn="l">
                <a:lnSpc>
                  <a:spcPts val="1980"/>
                </a:lnSpc>
              </a:pPr>
              <a:r>
                <a:rPr lang="en-US" sz="1650">
                  <a:solidFill>
                    <a:srgbClr val="0F1F45"/>
                  </a:solidFill>
                  <a:latin typeface="Consolas"/>
                  <a:ea typeface="Consolas"/>
                  <a:cs typeface="Consolas"/>
                  <a:sym typeface="Consolas"/>
                </a:rPr>
                <a:t>START TRANSACTION;</a:t>
              </a:r>
            </a:p>
            <a:p>
              <a:pPr algn="l">
                <a:lnSpc>
                  <a:spcPts val="1980"/>
                </a:lnSpc>
              </a:pPr>
              <a:r>
                <a:rPr lang="en-US" sz="1650">
                  <a:solidFill>
                    <a:srgbClr val="0F1F45"/>
                  </a:solidFill>
                  <a:latin typeface="Consolas"/>
                  <a:ea typeface="Consolas"/>
                  <a:cs typeface="Consolas"/>
                  <a:sym typeface="Consolas"/>
                </a:rPr>
                <a:t>  -- Insert FIR</a:t>
              </a:r>
            </a:p>
            <a:p>
              <a:pPr algn="l">
                <a:lnSpc>
                  <a:spcPts val="1980"/>
                </a:lnSpc>
              </a:pPr>
              <a:r>
                <a:rPr lang="en-US" sz="1650">
                  <a:solidFill>
                    <a:srgbClr val="0F1F45"/>
                  </a:solidFill>
                  <a:latin typeface="Consolas"/>
                  <a:ea typeface="Consolas"/>
                  <a:cs typeface="Consolas"/>
                  <a:sym typeface="Consolas"/>
                </a:rPr>
                <a:t>  -- Insert Victim</a:t>
              </a:r>
            </a:p>
            <a:p>
              <a:pPr algn="l">
                <a:lnSpc>
                  <a:spcPts val="1980"/>
                </a:lnSpc>
              </a:pPr>
              <a:r>
                <a:rPr lang="en-US" sz="1650">
                  <a:solidFill>
                    <a:srgbClr val="0F1F45"/>
                  </a:solidFill>
                  <a:latin typeface="Consolas"/>
                  <a:ea typeface="Consolas"/>
                  <a:cs typeface="Consolas"/>
                  <a:sym typeface="Consolas"/>
                </a:rPr>
                <a:t>  -- Insert FIR_CrimeType</a:t>
              </a:r>
            </a:p>
            <a:p>
              <a:pPr algn="l">
                <a:lnSpc>
                  <a:spcPts val="1980"/>
                </a:lnSpc>
              </a:pPr>
              <a:r>
                <a:rPr lang="en-US" sz="1650">
                  <a:solidFill>
                    <a:srgbClr val="0F1F45"/>
                  </a:solidFill>
                  <a:latin typeface="Consolas"/>
                  <a:ea typeface="Consolas"/>
                  <a:cs typeface="Consolas"/>
                  <a:sym typeface="Consolas"/>
                </a:rPr>
                <a:t>COMMIT;   -- success</a:t>
              </a:r>
            </a:p>
            <a:p>
              <a:pPr algn="l">
                <a:lnSpc>
                  <a:spcPts val="1980"/>
                </a:lnSpc>
              </a:pPr>
              <a:r>
                <a:rPr lang="en-US" sz="1650">
                  <a:solidFill>
                    <a:srgbClr val="0F1F45"/>
                  </a:solidFill>
                  <a:latin typeface="Consolas"/>
                  <a:ea typeface="Consolas"/>
                  <a:cs typeface="Consolas"/>
                  <a:sym typeface="Consolas"/>
                </a:rPr>
                <a:t>ROLLBACK; -- failure path</a:t>
              </a:r>
            </a:p>
          </p:txBody>
        </p:sp>
      </p:grpSp>
      <p:sp>
        <p:nvSpPr>
          <p:cNvPr name="TextBox 29" id="29"/>
          <p:cNvSpPr txBox="true"/>
          <p:nvPr/>
        </p:nvSpPr>
        <p:spPr>
          <a:xfrm rot="0">
            <a:off x="9875520" y="1685925"/>
            <a:ext cx="6858000" cy="440055"/>
          </a:xfrm>
          <a:prstGeom prst="rect">
            <a:avLst/>
          </a:prstGeom>
        </p:spPr>
        <p:txBody>
          <a:bodyPr anchor="t" rtlCol="false" tIns="0" lIns="0" bIns="0" rIns="0">
            <a:spAutoFit/>
          </a:bodyPr>
          <a:lstStyle/>
          <a:p>
            <a:pPr algn="l">
              <a:lnSpc>
                <a:spcPts val="1980"/>
              </a:lnSpc>
            </a:pPr>
            <a:r>
              <a:rPr lang="en-US" b="true" sz="1650" spc="225">
                <a:solidFill>
                  <a:srgbClr val="2563EB"/>
                </a:solidFill>
                <a:latin typeface="Calibri (MS) Bold"/>
                <a:ea typeface="Calibri (MS) Bold"/>
                <a:cs typeface="Calibri (MS) Bold"/>
                <a:sym typeface="Calibri (MS) Bold"/>
              </a:rPr>
              <a:t>TRIGGER EVENT CHAIN</a:t>
            </a:r>
          </a:p>
        </p:txBody>
      </p:sp>
      <p:grpSp>
        <p:nvGrpSpPr>
          <p:cNvPr name="Group 30" id="30"/>
          <p:cNvGrpSpPr/>
          <p:nvPr/>
        </p:nvGrpSpPr>
        <p:grpSpPr>
          <a:xfrm rot="0">
            <a:off x="9865995" y="2253615"/>
            <a:ext cx="7521702" cy="1322070"/>
            <a:chOff x="0" y="0"/>
            <a:chExt cx="10028936" cy="1762760"/>
          </a:xfrm>
        </p:grpSpPr>
        <p:sp>
          <p:nvSpPr>
            <p:cNvPr name="Freeform 31" id="31"/>
            <p:cNvSpPr/>
            <p:nvPr/>
          </p:nvSpPr>
          <p:spPr>
            <a:xfrm flipH="false" flipV="false" rot="0">
              <a:off x="0" y="0"/>
              <a:ext cx="10028936" cy="1762760"/>
            </a:xfrm>
            <a:custGeom>
              <a:avLst/>
              <a:gdLst/>
              <a:ahLst/>
              <a:cxnLst/>
              <a:rect r="r" b="b" t="t" l="l"/>
              <a:pathLst>
                <a:path h="1762760" w="10028936">
                  <a:moveTo>
                    <a:pt x="0" y="185547"/>
                  </a:moveTo>
                  <a:cubicBezTo>
                    <a:pt x="0" y="83058"/>
                    <a:pt x="83058" y="0"/>
                    <a:pt x="185547" y="0"/>
                  </a:cubicBezTo>
                  <a:lnTo>
                    <a:pt x="9843389" y="0"/>
                  </a:lnTo>
                  <a:cubicBezTo>
                    <a:pt x="9945878" y="0"/>
                    <a:pt x="10028936" y="83058"/>
                    <a:pt x="10028936" y="185547"/>
                  </a:cubicBezTo>
                  <a:lnTo>
                    <a:pt x="10028936" y="1577213"/>
                  </a:lnTo>
                  <a:cubicBezTo>
                    <a:pt x="10028936" y="1679702"/>
                    <a:pt x="9945878" y="1762760"/>
                    <a:pt x="9843389" y="1762760"/>
                  </a:cubicBezTo>
                  <a:lnTo>
                    <a:pt x="185547" y="1762760"/>
                  </a:lnTo>
                  <a:cubicBezTo>
                    <a:pt x="83058" y="1762760"/>
                    <a:pt x="0" y="1679702"/>
                    <a:pt x="0" y="1577213"/>
                  </a:cubicBezTo>
                  <a:close/>
                </a:path>
              </a:pathLst>
            </a:custGeom>
            <a:solidFill>
              <a:srgbClr val="E3ECFB"/>
            </a:solidFill>
            <a:ln w="19050" cap="sq">
              <a:solidFill>
                <a:srgbClr val="2563EB"/>
              </a:solidFill>
              <a:prstDash val="solid"/>
              <a:miter/>
            </a:ln>
          </p:spPr>
        </p:sp>
      </p:grpSp>
      <p:grpSp>
        <p:nvGrpSpPr>
          <p:cNvPr name="Group 32" id="32"/>
          <p:cNvGrpSpPr/>
          <p:nvPr/>
        </p:nvGrpSpPr>
        <p:grpSpPr>
          <a:xfrm rot="0">
            <a:off x="9944100" y="2263140"/>
            <a:ext cx="7365492" cy="1303020"/>
            <a:chOff x="0" y="0"/>
            <a:chExt cx="9820656" cy="1737360"/>
          </a:xfrm>
        </p:grpSpPr>
        <p:sp>
          <p:nvSpPr>
            <p:cNvPr name="Freeform 33" id="33"/>
            <p:cNvSpPr/>
            <p:nvPr/>
          </p:nvSpPr>
          <p:spPr>
            <a:xfrm flipH="false" flipV="false" rot="0">
              <a:off x="0" y="0"/>
              <a:ext cx="9820656" cy="1737360"/>
            </a:xfrm>
            <a:custGeom>
              <a:avLst/>
              <a:gdLst/>
              <a:ahLst/>
              <a:cxnLst/>
              <a:rect r="r" b="b" t="t" l="l"/>
              <a:pathLst>
                <a:path h="1737360" w="9820656">
                  <a:moveTo>
                    <a:pt x="0" y="0"/>
                  </a:moveTo>
                  <a:lnTo>
                    <a:pt x="9820656" y="0"/>
                  </a:lnTo>
                  <a:lnTo>
                    <a:pt x="9820656" y="1737360"/>
                  </a:lnTo>
                  <a:lnTo>
                    <a:pt x="0" y="1737360"/>
                  </a:lnTo>
                  <a:close/>
                </a:path>
              </a:pathLst>
            </a:custGeom>
            <a:blipFill>
              <a:blip r:embed="rId3">
                <a:alphaModFix amt="0"/>
              </a:blip>
              <a:stretch>
                <a:fillRect l="0" t="-60141" r="0" b="-60141"/>
              </a:stretch>
            </a:blipFill>
          </p:spPr>
        </p:sp>
        <p:sp>
          <p:nvSpPr>
            <p:cNvPr name="TextBox 34" id="34"/>
            <p:cNvSpPr txBox="true"/>
            <p:nvPr/>
          </p:nvSpPr>
          <p:spPr>
            <a:xfrm>
              <a:off x="0" y="-47625"/>
              <a:ext cx="9820656" cy="1784985"/>
            </a:xfrm>
            <a:prstGeom prst="rect">
              <a:avLst/>
            </a:prstGeom>
          </p:spPr>
          <p:txBody>
            <a:bodyPr anchor="ctr" rtlCol="false" tIns="0" lIns="0" bIns="0" rIns="0"/>
            <a:lstStyle/>
            <a:p>
              <a:pPr algn="ctr">
                <a:lnSpc>
                  <a:spcPts val="2340"/>
                </a:lnSpc>
              </a:pPr>
              <a:r>
                <a:rPr lang="en-US" sz="1950" b="true">
                  <a:solidFill>
                    <a:srgbClr val="0F1F45"/>
                  </a:solidFill>
                  <a:latin typeface="Calibri (MS) Bold"/>
                  <a:ea typeface="Calibri (MS) Bold"/>
                  <a:cs typeface="Calibri (MS) Bold"/>
                  <a:sym typeface="Calibri (MS) Bold"/>
                </a:rPr>
                <a:t>Accused Arrest</a:t>
              </a:r>
            </a:p>
            <a:p>
              <a:pPr algn="ctr">
                <a:lnSpc>
                  <a:spcPts val="1889"/>
                </a:lnSpc>
              </a:pPr>
              <a:r>
                <a:rPr lang="en-US" sz="1575">
                  <a:solidFill>
                    <a:srgbClr val="0F1F45"/>
                  </a:solidFill>
                  <a:latin typeface="Calibri (MS)"/>
                  <a:ea typeface="Calibri (MS)"/>
                  <a:cs typeface="Calibri (MS)"/>
                  <a:sym typeface="Calibri (MS)"/>
                </a:rPr>
                <a:t>Status Automation Trigger fires</a:t>
              </a:r>
            </a:p>
          </p:txBody>
        </p:sp>
      </p:grpSp>
      <p:grpSp>
        <p:nvGrpSpPr>
          <p:cNvPr name="Group 35" id="35"/>
          <p:cNvGrpSpPr/>
          <p:nvPr/>
        </p:nvGrpSpPr>
        <p:grpSpPr>
          <a:xfrm rot="0">
            <a:off x="13439013" y="3638931"/>
            <a:ext cx="375666" cy="403098"/>
            <a:chOff x="0" y="0"/>
            <a:chExt cx="500888" cy="537464"/>
          </a:xfrm>
        </p:grpSpPr>
        <p:sp>
          <p:nvSpPr>
            <p:cNvPr name="Freeform 36" id="36"/>
            <p:cNvSpPr/>
            <p:nvPr/>
          </p:nvSpPr>
          <p:spPr>
            <a:xfrm flipH="false" flipV="false" rot="0">
              <a:off x="0" y="0"/>
              <a:ext cx="500888" cy="537464"/>
            </a:xfrm>
            <a:custGeom>
              <a:avLst/>
              <a:gdLst/>
              <a:ahLst/>
              <a:cxnLst/>
              <a:rect r="r" b="b" t="t" l="l"/>
              <a:pathLst>
                <a:path h="537464" w="500888">
                  <a:moveTo>
                    <a:pt x="0" y="287020"/>
                  </a:moveTo>
                  <a:lnTo>
                    <a:pt x="125222" y="287020"/>
                  </a:lnTo>
                  <a:lnTo>
                    <a:pt x="125222" y="0"/>
                  </a:lnTo>
                  <a:lnTo>
                    <a:pt x="375666" y="0"/>
                  </a:lnTo>
                  <a:lnTo>
                    <a:pt x="375666" y="287020"/>
                  </a:lnTo>
                  <a:lnTo>
                    <a:pt x="500888" y="287020"/>
                  </a:lnTo>
                  <a:lnTo>
                    <a:pt x="250444" y="537464"/>
                  </a:lnTo>
                  <a:close/>
                </a:path>
              </a:pathLst>
            </a:custGeom>
            <a:solidFill>
              <a:srgbClr val="2563EB"/>
            </a:solidFill>
            <a:ln w="19050" cap="sq">
              <a:solidFill>
                <a:srgbClr val="2563EB"/>
              </a:solidFill>
              <a:prstDash val="solid"/>
              <a:miter/>
            </a:ln>
          </p:spPr>
        </p:sp>
      </p:grpSp>
      <p:grpSp>
        <p:nvGrpSpPr>
          <p:cNvPr name="Group 37" id="37"/>
          <p:cNvGrpSpPr/>
          <p:nvPr/>
        </p:nvGrpSpPr>
        <p:grpSpPr>
          <a:xfrm rot="0">
            <a:off x="9865995" y="4105275"/>
            <a:ext cx="7521702" cy="1322070"/>
            <a:chOff x="0" y="0"/>
            <a:chExt cx="10028936" cy="1762760"/>
          </a:xfrm>
        </p:grpSpPr>
        <p:sp>
          <p:nvSpPr>
            <p:cNvPr name="Freeform 38" id="38"/>
            <p:cNvSpPr/>
            <p:nvPr/>
          </p:nvSpPr>
          <p:spPr>
            <a:xfrm flipH="false" flipV="false" rot="0">
              <a:off x="0" y="0"/>
              <a:ext cx="10028936" cy="1762760"/>
            </a:xfrm>
            <a:custGeom>
              <a:avLst/>
              <a:gdLst/>
              <a:ahLst/>
              <a:cxnLst/>
              <a:rect r="r" b="b" t="t" l="l"/>
              <a:pathLst>
                <a:path h="1762760" w="10028936">
                  <a:moveTo>
                    <a:pt x="0" y="185547"/>
                  </a:moveTo>
                  <a:cubicBezTo>
                    <a:pt x="0" y="83058"/>
                    <a:pt x="83058" y="0"/>
                    <a:pt x="185547" y="0"/>
                  </a:cubicBezTo>
                  <a:lnTo>
                    <a:pt x="9843389" y="0"/>
                  </a:lnTo>
                  <a:cubicBezTo>
                    <a:pt x="9945878" y="0"/>
                    <a:pt x="10028936" y="83058"/>
                    <a:pt x="10028936" y="185547"/>
                  </a:cubicBezTo>
                  <a:lnTo>
                    <a:pt x="10028936" y="1577213"/>
                  </a:lnTo>
                  <a:cubicBezTo>
                    <a:pt x="10028936" y="1679702"/>
                    <a:pt x="9945878" y="1762760"/>
                    <a:pt x="9843389" y="1762760"/>
                  </a:cubicBezTo>
                  <a:lnTo>
                    <a:pt x="185547" y="1762760"/>
                  </a:lnTo>
                  <a:cubicBezTo>
                    <a:pt x="83058" y="1762760"/>
                    <a:pt x="0" y="1679702"/>
                    <a:pt x="0" y="1577213"/>
                  </a:cubicBezTo>
                  <a:close/>
                </a:path>
              </a:pathLst>
            </a:custGeom>
            <a:solidFill>
              <a:srgbClr val="C7DAF8"/>
            </a:solidFill>
            <a:ln w="19050" cap="sq">
              <a:solidFill>
                <a:srgbClr val="2563EB"/>
              </a:solidFill>
              <a:prstDash val="solid"/>
              <a:miter/>
            </a:ln>
          </p:spPr>
        </p:sp>
      </p:grpSp>
      <p:grpSp>
        <p:nvGrpSpPr>
          <p:cNvPr name="Group 39" id="39"/>
          <p:cNvGrpSpPr/>
          <p:nvPr/>
        </p:nvGrpSpPr>
        <p:grpSpPr>
          <a:xfrm rot="0">
            <a:off x="9944100" y="4114800"/>
            <a:ext cx="7365492" cy="1303020"/>
            <a:chOff x="0" y="0"/>
            <a:chExt cx="9820656" cy="1737360"/>
          </a:xfrm>
        </p:grpSpPr>
        <p:sp>
          <p:nvSpPr>
            <p:cNvPr name="Freeform 40" id="40"/>
            <p:cNvSpPr/>
            <p:nvPr/>
          </p:nvSpPr>
          <p:spPr>
            <a:xfrm flipH="false" flipV="false" rot="0">
              <a:off x="0" y="0"/>
              <a:ext cx="9820656" cy="1737360"/>
            </a:xfrm>
            <a:custGeom>
              <a:avLst/>
              <a:gdLst/>
              <a:ahLst/>
              <a:cxnLst/>
              <a:rect r="r" b="b" t="t" l="l"/>
              <a:pathLst>
                <a:path h="1737360" w="9820656">
                  <a:moveTo>
                    <a:pt x="0" y="0"/>
                  </a:moveTo>
                  <a:lnTo>
                    <a:pt x="9820656" y="0"/>
                  </a:lnTo>
                  <a:lnTo>
                    <a:pt x="9820656" y="1737360"/>
                  </a:lnTo>
                  <a:lnTo>
                    <a:pt x="0" y="1737360"/>
                  </a:lnTo>
                  <a:close/>
                </a:path>
              </a:pathLst>
            </a:custGeom>
            <a:blipFill>
              <a:blip r:embed="rId3">
                <a:alphaModFix amt="0"/>
              </a:blip>
              <a:stretch>
                <a:fillRect l="0" t="-60141" r="0" b="-60141"/>
              </a:stretch>
            </a:blipFill>
          </p:spPr>
        </p:sp>
        <p:sp>
          <p:nvSpPr>
            <p:cNvPr name="TextBox 41" id="41"/>
            <p:cNvSpPr txBox="true"/>
            <p:nvPr/>
          </p:nvSpPr>
          <p:spPr>
            <a:xfrm>
              <a:off x="0" y="-47625"/>
              <a:ext cx="9820656" cy="1784985"/>
            </a:xfrm>
            <a:prstGeom prst="rect">
              <a:avLst/>
            </a:prstGeom>
          </p:spPr>
          <p:txBody>
            <a:bodyPr anchor="ctr" rtlCol="false" tIns="0" lIns="0" bIns="0" rIns="0"/>
            <a:lstStyle/>
            <a:p>
              <a:pPr algn="ctr">
                <a:lnSpc>
                  <a:spcPts val="2340"/>
                </a:lnSpc>
              </a:pPr>
              <a:r>
                <a:rPr lang="en-US" sz="1950" b="true">
                  <a:solidFill>
                    <a:srgbClr val="0F1F45"/>
                  </a:solidFill>
                  <a:latin typeface="Calibri (MS) Bold"/>
                  <a:ea typeface="Calibri (MS) Bold"/>
                  <a:cs typeface="Calibri (MS) Bold"/>
                  <a:sym typeface="Calibri (MS) Bold"/>
                </a:rPr>
                <a:t>FIR Status Update</a:t>
              </a:r>
            </a:p>
            <a:p>
              <a:pPr algn="ctr">
                <a:lnSpc>
                  <a:spcPts val="1889"/>
                </a:lnSpc>
              </a:pPr>
              <a:r>
                <a:rPr lang="en-US" sz="1575">
                  <a:solidFill>
                    <a:srgbClr val="0F1F45"/>
                  </a:solidFill>
                  <a:latin typeface="Calibri (MS)"/>
                  <a:ea typeface="Calibri (MS)"/>
                  <a:cs typeface="Calibri (MS)"/>
                  <a:sym typeface="Calibri (MS)"/>
                </a:rPr>
                <a:t>FIR status changes</a:t>
              </a:r>
            </a:p>
          </p:txBody>
        </p:sp>
      </p:grpSp>
      <p:grpSp>
        <p:nvGrpSpPr>
          <p:cNvPr name="Group 42" id="42"/>
          <p:cNvGrpSpPr/>
          <p:nvPr/>
        </p:nvGrpSpPr>
        <p:grpSpPr>
          <a:xfrm rot="0">
            <a:off x="13439013" y="5490591"/>
            <a:ext cx="375666" cy="403098"/>
            <a:chOff x="0" y="0"/>
            <a:chExt cx="500888" cy="537464"/>
          </a:xfrm>
        </p:grpSpPr>
        <p:sp>
          <p:nvSpPr>
            <p:cNvPr name="Freeform 43" id="43"/>
            <p:cNvSpPr/>
            <p:nvPr/>
          </p:nvSpPr>
          <p:spPr>
            <a:xfrm flipH="false" flipV="false" rot="0">
              <a:off x="0" y="0"/>
              <a:ext cx="500888" cy="537464"/>
            </a:xfrm>
            <a:custGeom>
              <a:avLst/>
              <a:gdLst/>
              <a:ahLst/>
              <a:cxnLst/>
              <a:rect r="r" b="b" t="t" l="l"/>
              <a:pathLst>
                <a:path h="537464" w="500888">
                  <a:moveTo>
                    <a:pt x="0" y="287020"/>
                  </a:moveTo>
                  <a:lnTo>
                    <a:pt x="125222" y="287020"/>
                  </a:lnTo>
                  <a:lnTo>
                    <a:pt x="125222" y="0"/>
                  </a:lnTo>
                  <a:lnTo>
                    <a:pt x="375666" y="0"/>
                  </a:lnTo>
                  <a:lnTo>
                    <a:pt x="375666" y="287020"/>
                  </a:lnTo>
                  <a:lnTo>
                    <a:pt x="500888" y="287020"/>
                  </a:lnTo>
                  <a:lnTo>
                    <a:pt x="250444" y="537464"/>
                  </a:lnTo>
                  <a:close/>
                </a:path>
              </a:pathLst>
            </a:custGeom>
            <a:solidFill>
              <a:srgbClr val="2563EB"/>
            </a:solidFill>
            <a:ln w="19050" cap="sq">
              <a:solidFill>
                <a:srgbClr val="2563EB"/>
              </a:solidFill>
              <a:prstDash val="solid"/>
              <a:miter/>
            </a:ln>
          </p:spPr>
        </p:sp>
      </p:grpSp>
      <p:grpSp>
        <p:nvGrpSpPr>
          <p:cNvPr name="Group 44" id="44"/>
          <p:cNvGrpSpPr/>
          <p:nvPr/>
        </p:nvGrpSpPr>
        <p:grpSpPr>
          <a:xfrm rot="0">
            <a:off x="9865995" y="5956935"/>
            <a:ext cx="7521702" cy="1322070"/>
            <a:chOff x="0" y="0"/>
            <a:chExt cx="10028936" cy="1762760"/>
          </a:xfrm>
        </p:grpSpPr>
        <p:sp>
          <p:nvSpPr>
            <p:cNvPr name="Freeform 45" id="45"/>
            <p:cNvSpPr/>
            <p:nvPr/>
          </p:nvSpPr>
          <p:spPr>
            <a:xfrm flipH="false" flipV="false" rot="0">
              <a:off x="0" y="0"/>
              <a:ext cx="10028936" cy="1762760"/>
            </a:xfrm>
            <a:custGeom>
              <a:avLst/>
              <a:gdLst/>
              <a:ahLst/>
              <a:cxnLst/>
              <a:rect r="r" b="b" t="t" l="l"/>
              <a:pathLst>
                <a:path h="1762760" w="10028936">
                  <a:moveTo>
                    <a:pt x="0" y="185547"/>
                  </a:moveTo>
                  <a:cubicBezTo>
                    <a:pt x="0" y="83058"/>
                    <a:pt x="83058" y="0"/>
                    <a:pt x="185547" y="0"/>
                  </a:cubicBezTo>
                  <a:lnTo>
                    <a:pt x="9843389" y="0"/>
                  </a:lnTo>
                  <a:cubicBezTo>
                    <a:pt x="9945878" y="0"/>
                    <a:pt x="10028936" y="83058"/>
                    <a:pt x="10028936" y="185547"/>
                  </a:cubicBezTo>
                  <a:lnTo>
                    <a:pt x="10028936" y="1577213"/>
                  </a:lnTo>
                  <a:cubicBezTo>
                    <a:pt x="10028936" y="1679702"/>
                    <a:pt x="9945878" y="1762760"/>
                    <a:pt x="9843389" y="1762760"/>
                  </a:cubicBezTo>
                  <a:lnTo>
                    <a:pt x="185547" y="1762760"/>
                  </a:lnTo>
                  <a:cubicBezTo>
                    <a:pt x="83058" y="1762760"/>
                    <a:pt x="0" y="1679702"/>
                    <a:pt x="0" y="1577213"/>
                  </a:cubicBezTo>
                  <a:close/>
                </a:path>
              </a:pathLst>
            </a:custGeom>
            <a:solidFill>
              <a:srgbClr val="E3ECFB"/>
            </a:solidFill>
            <a:ln w="19050" cap="sq">
              <a:solidFill>
                <a:srgbClr val="2563EB"/>
              </a:solidFill>
              <a:prstDash val="solid"/>
              <a:miter/>
            </a:ln>
          </p:spPr>
        </p:sp>
      </p:grpSp>
      <p:grpSp>
        <p:nvGrpSpPr>
          <p:cNvPr name="Group 46" id="46"/>
          <p:cNvGrpSpPr/>
          <p:nvPr/>
        </p:nvGrpSpPr>
        <p:grpSpPr>
          <a:xfrm rot="0">
            <a:off x="9944100" y="5966460"/>
            <a:ext cx="7365492" cy="1303020"/>
            <a:chOff x="0" y="0"/>
            <a:chExt cx="9820656" cy="1737360"/>
          </a:xfrm>
        </p:grpSpPr>
        <p:sp>
          <p:nvSpPr>
            <p:cNvPr name="Freeform 47" id="47"/>
            <p:cNvSpPr/>
            <p:nvPr/>
          </p:nvSpPr>
          <p:spPr>
            <a:xfrm flipH="false" flipV="false" rot="0">
              <a:off x="0" y="0"/>
              <a:ext cx="9820656" cy="1737360"/>
            </a:xfrm>
            <a:custGeom>
              <a:avLst/>
              <a:gdLst/>
              <a:ahLst/>
              <a:cxnLst/>
              <a:rect r="r" b="b" t="t" l="l"/>
              <a:pathLst>
                <a:path h="1737360" w="9820656">
                  <a:moveTo>
                    <a:pt x="0" y="0"/>
                  </a:moveTo>
                  <a:lnTo>
                    <a:pt x="9820656" y="0"/>
                  </a:lnTo>
                  <a:lnTo>
                    <a:pt x="9820656" y="1737360"/>
                  </a:lnTo>
                  <a:lnTo>
                    <a:pt x="0" y="1737360"/>
                  </a:lnTo>
                  <a:close/>
                </a:path>
              </a:pathLst>
            </a:custGeom>
            <a:blipFill>
              <a:blip r:embed="rId3">
                <a:alphaModFix amt="0"/>
              </a:blip>
              <a:stretch>
                <a:fillRect l="0" t="-60141" r="0" b="-60141"/>
              </a:stretch>
            </a:blipFill>
          </p:spPr>
        </p:sp>
        <p:sp>
          <p:nvSpPr>
            <p:cNvPr name="TextBox 48" id="48"/>
            <p:cNvSpPr txBox="true"/>
            <p:nvPr/>
          </p:nvSpPr>
          <p:spPr>
            <a:xfrm>
              <a:off x="0" y="-47625"/>
              <a:ext cx="9820656" cy="1784985"/>
            </a:xfrm>
            <a:prstGeom prst="rect">
              <a:avLst/>
            </a:prstGeom>
          </p:spPr>
          <p:txBody>
            <a:bodyPr anchor="ctr" rtlCol="false" tIns="0" lIns="0" bIns="0" rIns="0"/>
            <a:lstStyle/>
            <a:p>
              <a:pPr algn="ctr">
                <a:lnSpc>
                  <a:spcPts val="2340"/>
                </a:lnSpc>
              </a:pPr>
              <a:r>
                <a:rPr lang="en-US" sz="1950" b="true">
                  <a:solidFill>
                    <a:srgbClr val="0F1F45"/>
                  </a:solidFill>
                  <a:latin typeface="Calibri (MS) Bold"/>
                  <a:ea typeface="Calibri (MS) Bold"/>
                  <a:cs typeface="Calibri (MS) Bold"/>
                  <a:sym typeface="Calibri (MS) Bold"/>
                </a:rPr>
                <a:t>Audit Trigger</a:t>
              </a:r>
            </a:p>
            <a:p>
              <a:pPr algn="ctr">
                <a:lnSpc>
                  <a:spcPts val="1889"/>
                </a:lnSpc>
              </a:pPr>
              <a:r>
                <a:rPr lang="en-US" sz="1575">
                  <a:solidFill>
                    <a:srgbClr val="0F1F45"/>
                  </a:solidFill>
                  <a:latin typeface="Calibri (MS)"/>
                  <a:ea typeface="Calibri (MS)"/>
                  <a:cs typeface="Calibri (MS)"/>
                  <a:sym typeface="Calibri (MS)"/>
                </a:rPr>
                <a:t>Stores old &amp; new status, user, timestamp</a:t>
              </a:r>
            </a:p>
          </p:txBody>
        </p:sp>
      </p:grpSp>
      <p:grpSp>
        <p:nvGrpSpPr>
          <p:cNvPr name="Group 49" id="49"/>
          <p:cNvGrpSpPr/>
          <p:nvPr/>
        </p:nvGrpSpPr>
        <p:grpSpPr>
          <a:xfrm rot="0">
            <a:off x="13439013" y="7342251"/>
            <a:ext cx="375666" cy="403098"/>
            <a:chOff x="0" y="0"/>
            <a:chExt cx="500888" cy="537464"/>
          </a:xfrm>
        </p:grpSpPr>
        <p:sp>
          <p:nvSpPr>
            <p:cNvPr name="Freeform 50" id="50"/>
            <p:cNvSpPr/>
            <p:nvPr/>
          </p:nvSpPr>
          <p:spPr>
            <a:xfrm flipH="false" flipV="false" rot="0">
              <a:off x="0" y="0"/>
              <a:ext cx="500888" cy="537464"/>
            </a:xfrm>
            <a:custGeom>
              <a:avLst/>
              <a:gdLst/>
              <a:ahLst/>
              <a:cxnLst/>
              <a:rect r="r" b="b" t="t" l="l"/>
              <a:pathLst>
                <a:path h="537464" w="500888">
                  <a:moveTo>
                    <a:pt x="0" y="287020"/>
                  </a:moveTo>
                  <a:lnTo>
                    <a:pt x="125222" y="287020"/>
                  </a:lnTo>
                  <a:lnTo>
                    <a:pt x="125222" y="0"/>
                  </a:lnTo>
                  <a:lnTo>
                    <a:pt x="375666" y="0"/>
                  </a:lnTo>
                  <a:lnTo>
                    <a:pt x="375666" y="287020"/>
                  </a:lnTo>
                  <a:lnTo>
                    <a:pt x="500888" y="287020"/>
                  </a:lnTo>
                  <a:lnTo>
                    <a:pt x="250444" y="537464"/>
                  </a:lnTo>
                  <a:close/>
                </a:path>
              </a:pathLst>
            </a:custGeom>
            <a:solidFill>
              <a:srgbClr val="2563EB"/>
            </a:solidFill>
            <a:ln w="19050" cap="sq">
              <a:solidFill>
                <a:srgbClr val="2563EB"/>
              </a:solidFill>
              <a:prstDash val="solid"/>
              <a:miter/>
            </a:ln>
          </p:spPr>
        </p:sp>
      </p:grpSp>
      <p:grpSp>
        <p:nvGrpSpPr>
          <p:cNvPr name="Group 51" id="51"/>
          <p:cNvGrpSpPr/>
          <p:nvPr/>
        </p:nvGrpSpPr>
        <p:grpSpPr>
          <a:xfrm rot="0">
            <a:off x="9865995" y="7808595"/>
            <a:ext cx="7521702" cy="1322070"/>
            <a:chOff x="0" y="0"/>
            <a:chExt cx="10028936" cy="1762760"/>
          </a:xfrm>
        </p:grpSpPr>
        <p:sp>
          <p:nvSpPr>
            <p:cNvPr name="Freeform 52" id="52"/>
            <p:cNvSpPr/>
            <p:nvPr/>
          </p:nvSpPr>
          <p:spPr>
            <a:xfrm flipH="false" flipV="false" rot="0">
              <a:off x="0" y="0"/>
              <a:ext cx="10028936" cy="1762760"/>
            </a:xfrm>
            <a:custGeom>
              <a:avLst/>
              <a:gdLst/>
              <a:ahLst/>
              <a:cxnLst/>
              <a:rect r="r" b="b" t="t" l="l"/>
              <a:pathLst>
                <a:path h="1762760" w="10028936">
                  <a:moveTo>
                    <a:pt x="0" y="185547"/>
                  </a:moveTo>
                  <a:cubicBezTo>
                    <a:pt x="0" y="83058"/>
                    <a:pt x="83058" y="0"/>
                    <a:pt x="185547" y="0"/>
                  </a:cubicBezTo>
                  <a:lnTo>
                    <a:pt x="9843389" y="0"/>
                  </a:lnTo>
                  <a:cubicBezTo>
                    <a:pt x="9945878" y="0"/>
                    <a:pt x="10028936" y="83058"/>
                    <a:pt x="10028936" y="185547"/>
                  </a:cubicBezTo>
                  <a:lnTo>
                    <a:pt x="10028936" y="1577213"/>
                  </a:lnTo>
                  <a:cubicBezTo>
                    <a:pt x="10028936" y="1679702"/>
                    <a:pt x="9945878" y="1762760"/>
                    <a:pt x="9843389" y="1762760"/>
                  </a:cubicBezTo>
                  <a:lnTo>
                    <a:pt x="185547" y="1762760"/>
                  </a:lnTo>
                  <a:cubicBezTo>
                    <a:pt x="83058" y="1762760"/>
                    <a:pt x="0" y="1679702"/>
                    <a:pt x="0" y="1577213"/>
                  </a:cubicBezTo>
                  <a:close/>
                </a:path>
              </a:pathLst>
            </a:custGeom>
            <a:solidFill>
              <a:srgbClr val="2563EB"/>
            </a:solidFill>
            <a:ln w="19050" cap="sq">
              <a:solidFill>
                <a:srgbClr val="1D4ED8"/>
              </a:solidFill>
              <a:prstDash val="solid"/>
              <a:miter/>
            </a:ln>
          </p:spPr>
        </p:sp>
      </p:grpSp>
      <p:grpSp>
        <p:nvGrpSpPr>
          <p:cNvPr name="Group 53" id="53"/>
          <p:cNvGrpSpPr/>
          <p:nvPr/>
        </p:nvGrpSpPr>
        <p:grpSpPr>
          <a:xfrm rot="0">
            <a:off x="9944100" y="7818120"/>
            <a:ext cx="7365492" cy="1303020"/>
            <a:chOff x="0" y="0"/>
            <a:chExt cx="9820656" cy="1737360"/>
          </a:xfrm>
        </p:grpSpPr>
        <p:sp>
          <p:nvSpPr>
            <p:cNvPr name="Freeform 54" id="54"/>
            <p:cNvSpPr/>
            <p:nvPr/>
          </p:nvSpPr>
          <p:spPr>
            <a:xfrm flipH="false" flipV="false" rot="0">
              <a:off x="0" y="0"/>
              <a:ext cx="9820656" cy="1737360"/>
            </a:xfrm>
            <a:custGeom>
              <a:avLst/>
              <a:gdLst/>
              <a:ahLst/>
              <a:cxnLst/>
              <a:rect r="r" b="b" t="t" l="l"/>
              <a:pathLst>
                <a:path h="1737360" w="9820656">
                  <a:moveTo>
                    <a:pt x="0" y="0"/>
                  </a:moveTo>
                  <a:lnTo>
                    <a:pt x="9820656" y="0"/>
                  </a:lnTo>
                  <a:lnTo>
                    <a:pt x="9820656" y="1737360"/>
                  </a:lnTo>
                  <a:lnTo>
                    <a:pt x="0" y="1737360"/>
                  </a:lnTo>
                  <a:close/>
                </a:path>
              </a:pathLst>
            </a:custGeom>
            <a:blipFill>
              <a:blip r:embed="rId3">
                <a:alphaModFix amt="0"/>
              </a:blip>
              <a:stretch>
                <a:fillRect l="0" t="-60141" r="0" b="-60141"/>
              </a:stretch>
            </a:blipFill>
          </p:spPr>
        </p:sp>
        <p:sp>
          <p:nvSpPr>
            <p:cNvPr name="TextBox 55" id="55"/>
            <p:cNvSpPr txBox="true"/>
            <p:nvPr/>
          </p:nvSpPr>
          <p:spPr>
            <a:xfrm>
              <a:off x="0" y="-47625"/>
              <a:ext cx="9820656" cy="1784985"/>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CrimeAuditLog</a:t>
              </a:r>
            </a:p>
            <a:p>
              <a:pPr algn="ctr">
                <a:lnSpc>
                  <a:spcPts val="1889"/>
                </a:lnSpc>
              </a:pPr>
              <a:r>
                <a:rPr lang="en-US" sz="1575">
                  <a:solidFill>
                    <a:srgbClr val="FFFFFF"/>
                  </a:solidFill>
                  <a:latin typeface="Calibri (MS)"/>
                  <a:ea typeface="Calibri (MS)"/>
                  <a:cs typeface="Calibri (MS)"/>
                  <a:sym typeface="Calibri (MS)"/>
                </a:rPr>
                <a:t>Audit record written</a:t>
              </a:r>
            </a:p>
          </p:txBody>
        </p:sp>
      </p:grpSp>
      <p:sp>
        <p:nvSpPr>
          <p:cNvPr name="Freeform 56" id="56"/>
          <p:cNvSpPr/>
          <p:nvPr/>
        </p:nvSpPr>
        <p:spPr>
          <a:xfrm flipH="false" flipV="false" rot="0">
            <a:off x="16247050" y="152298"/>
            <a:ext cx="1933060" cy="1006418"/>
          </a:xfrm>
          <a:custGeom>
            <a:avLst/>
            <a:gdLst/>
            <a:ahLst/>
            <a:cxnLst/>
            <a:rect r="r" b="b" t="t" l="l"/>
            <a:pathLst>
              <a:path h="1006418" w="1933060">
                <a:moveTo>
                  <a:pt x="0" y="0"/>
                </a:moveTo>
                <a:lnTo>
                  <a:pt x="1933060" y="0"/>
                </a:lnTo>
                <a:lnTo>
                  <a:pt x="1933060" y="1006418"/>
                </a:lnTo>
                <a:lnTo>
                  <a:pt x="0" y="1006418"/>
                </a:lnTo>
                <a:lnTo>
                  <a:pt x="0" y="0"/>
                </a:lnTo>
                <a:close/>
              </a:path>
            </a:pathLst>
          </a:custGeom>
          <a:blipFill>
            <a:blip r:embed="rId4"/>
            <a:stretch>
              <a:fillRect l="0" t="0" r="0" b="0"/>
            </a:stretch>
          </a:blipFill>
        </p:spPr>
      </p:sp>
      <p:sp>
        <p:nvSpPr>
          <p:cNvPr name="Freeform 57" id="57"/>
          <p:cNvSpPr/>
          <p:nvPr/>
        </p:nvSpPr>
        <p:spPr>
          <a:xfrm flipH="false" flipV="false" rot="0">
            <a:off x="0" y="9407477"/>
            <a:ext cx="13461945" cy="846145"/>
          </a:xfrm>
          <a:custGeom>
            <a:avLst/>
            <a:gdLst/>
            <a:ahLst/>
            <a:cxnLst/>
            <a:rect r="r" b="b" t="t" l="l"/>
            <a:pathLst>
              <a:path h="846145" w="13461945">
                <a:moveTo>
                  <a:pt x="0" y="0"/>
                </a:moveTo>
                <a:lnTo>
                  <a:pt x="13461945" y="0"/>
                </a:lnTo>
                <a:lnTo>
                  <a:pt x="13461945" y="846145"/>
                </a:lnTo>
                <a:lnTo>
                  <a:pt x="0" y="846145"/>
                </a:lnTo>
                <a:lnTo>
                  <a:pt x="0" y="0"/>
                </a:lnTo>
                <a:close/>
              </a:path>
            </a:pathLst>
          </a:custGeom>
          <a:blipFill>
            <a:blip r:embed="rId5"/>
            <a:stretch>
              <a:fillRect l="0" t="-22657" r="-4334" b="-20699"/>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8972" y="411480"/>
            <a:ext cx="16459200" cy="960120"/>
            <a:chOff x="0" y="0"/>
            <a:chExt cx="21945600" cy="1280160"/>
          </a:xfrm>
        </p:grpSpPr>
        <p:sp>
          <p:nvSpPr>
            <p:cNvPr name="Freeform 3" id="3"/>
            <p:cNvSpPr/>
            <p:nvPr/>
          </p:nvSpPr>
          <p:spPr>
            <a:xfrm flipH="false" flipV="false" rot="0">
              <a:off x="0" y="0"/>
              <a:ext cx="21945600" cy="1280160"/>
            </a:xfrm>
            <a:custGeom>
              <a:avLst/>
              <a:gdLst/>
              <a:ahLst/>
              <a:cxnLst/>
              <a:rect r="r" b="b" t="t" l="l"/>
              <a:pathLst>
                <a:path h="1280160" w="21945600">
                  <a:moveTo>
                    <a:pt x="0" y="0"/>
                  </a:moveTo>
                  <a:lnTo>
                    <a:pt x="21945600" y="0"/>
                  </a:lnTo>
                  <a:lnTo>
                    <a:pt x="21945600" y="1280160"/>
                  </a:lnTo>
                  <a:lnTo>
                    <a:pt x="0" y="1280160"/>
                  </a:lnTo>
                  <a:close/>
                </a:path>
              </a:pathLst>
            </a:custGeom>
            <a:blipFill>
              <a:blip r:embed="rId3">
                <a:alphaModFix amt="0"/>
              </a:blip>
              <a:stretch>
                <a:fillRect l="0" t="-284029" r="0" b="-284029"/>
              </a:stretch>
            </a:blipFill>
          </p:spPr>
        </p:sp>
        <p:sp>
          <p:nvSpPr>
            <p:cNvPr name="TextBox 4" id="4"/>
            <p:cNvSpPr txBox="true"/>
            <p:nvPr/>
          </p:nvSpPr>
          <p:spPr>
            <a:xfrm>
              <a:off x="0" y="-66675"/>
              <a:ext cx="21945600" cy="1346835"/>
            </a:xfrm>
            <a:prstGeom prst="rect">
              <a:avLst/>
            </a:prstGeom>
          </p:spPr>
          <p:txBody>
            <a:bodyPr anchor="ctr" rtlCol="false" tIns="0" lIns="0" bIns="0" rIns="0"/>
            <a:lstStyle/>
            <a:p>
              <a:pPr algn="l">
                <a:lnSpc>
                  <a:spcPts val="4320"/>
                </a:lnSpc>
              </a:pPr>
              <a:r>
                <a:rPr lang="en-US" sz="3600" b="true">
                  <a:solidFill>
                    <a:srgbClr val="2563EB"/>
                  </a:solidFill>
                  <a:latin typeface="Calibri (MS) Bold"/>
                  <a:ea typeface="Calibri (MS) Bold"/>
                  <a:cs typeface="Calibri (MS) Bold"/>
                  <a:sym typeface="Calibri (MS) Bold"/>
                </a:rPr>
                <a:t>07  </a:t>
              </a:r>
              <a:r>
                <a:rPr lang="en-US" sz="3600" b="true">
                  <a:solidFill>
                    <a:srgbClr val="0F1F45"/>
                  </a:solidFill>
                  <a:latin typeface="Calibri (MS) Bold"/>
                  <a:ea typeface="Calibri (MS) Bold"/>
                  <a:cs typeface="Calibri (MS) Bold"/>
                  <a:sym typeface="Calibri (MS) Bold"/>
                </a:rPr>
                <a:t>Performance Engineering: B-Tree Indexing &amp; EXPLAIN</a:t>
              </a:r>
            </a:p>
          </p:txBody>
        </p:sp>
      </p:grpSp>
      <p:sp>
        <p:nvSpPr>
          <p:cNvPr name="TextBox 5" id="5"/>
          <p:cNvSpPr txBox="true"/>
          <p:nvPr/>
        </p:nvSpPr>
        <p:spPr>
          <a:xfrm rot="0">
            <a:off x="918972" y="9476613"/>
            <a:ext cx="10972800" cy="440055"/>
          </a:xfrm>
          <a:prstGeom prst="rect">
            <a:avLst/>
          </a:prstGeom>
        </p:spPr>
        <p:txBody>
          <a:bodyPr anchor="t" rtlCol="false" tIns="0" lIns="0" bIns="0" rIns="0">
            <a:spAutoFit/>
          </a:bodyPr>
          <a:lstStyle/>
          <a:p>
            <a:pPr algn="l">
              <a:lnSpc>
                <a:spcPts val="1620"/>
              </a:lnSpc>
            </a:pPr>
            <a:r>
              <a:rPr lang="en-US" sz="1350">
                <a:solidFill>
                  <a:srgbClr val="5B6B8C"/>
                </a:solidFill>
                <a:latin typeface="Calibri (MS)"/>
                <a:ea typeface="Calibri (MS)"/>
                <a:cs typeface="Calibri (MS)"/>
                <a:sym typeface="Calibri (MS)"/>
              </a:rPr>
              <a:t>Gaurav Singh | P15 | CRPSMS | MySQL 8.0</a:t>
            </a:r>
          </a:p>
        </p:txBody>
      </p:sp>
      <p:sp>
        <p:nvSpPr>
          <p:cNvPr name="TextBox 6" id="6"/>
          <p:cNvSpPr txBox="true"/>
          <p:nvPr/>
        </p:nvSpPr>
        <p:spPr>
          <a:xfrm rot="0">
            <a:off x="15553944" y="9476613"/>
            <a:ext cx="1824228" cy="440055"/>
          </a:xfrm>
          <a:prstGeom prst="rect">
            <a:avLst/>
          </a:prstGeom>
        </p:spPr>
        <p:txBody>
          <a:bodyPr anchor="t" rtlCol="false" tIns="0" lIns="0" bIns="0" rIns="0">
            <a:spAutoFit/>
          </a:bodyPr>
          <a:lstStyle/>
          <a:p>
            <a:pPr algn="r">
              <a:lnSpc>
                <a:spcPts val="1620"/>
              </a:lnSpc>
            </a:pPr>
            <a:r>
              <a:rPr lang="en-US" sz="1350">
                <a:solidFill>
                  <a:srgbClr val="5B6B8C"/>
                </a:solidFill>
                <a:latin typeface="Calibri (MS)"/>
                <a:ea typeface="Calibri (MS)"/>
                <a:cs typeface="Calibri (MS)"/>
                <a:sym typeface="Calibri (MS)"/>
              </a:rPr>
              <a:t>7 / 8</a:t>
            </a:r>
          </a:p>
        </p:txBody>
      </p:sp>
      <p:grpSp>
        <p:nvGrpSpPr>
          <p:cNvPr name="Group 7" id="7"/>
          <p:cNvGrpSpPr/>
          <p:nvPr/>
        </p:nvGrpSpPr>
        <p:grpSpPr>
          <a:xfrm rot="0">
            <a:off x="911828" y="1775936"/>
            <a:ext cx="6186488" cy="2620328"/>
            <a:chOff x="0" y="0"/>
            <a:chExt cx="8248650" cy="3493770"/>
          </a:xfrm>
        </p:grpSpPr>
        <p:sp>
          <p:nvSpPr>
            <p:cNvPr name="Freeform 8" id="8"/>
            <p:cNvSpPr/>
            <p:nvPr/>
          </p:nvSpPr>
          <p:spPr>
            <a:xfrm flipH="false" flipV="false" rot="0">
              <a:off x="0" y="0"/>
              <a:ext cx="8248650" cy="3493770"/>
            </a:xfrm>
            <a:custGeom>
              <a:avLst/>
              <a:gdLst/>
              <a:ahLst/>
              <a:cxnLst/>
              <a:rect r="r" b="b" t="t" l="l"/>
              <a:pathLst>
                <a:path h="3493770" w="8248650">
                  <a:moveTo>
                    <a:pt x="0" y="0"/>
                  </a:moveTo>
                  <a:lnTo>
                    <a:pt x="8248650" y="0"/>
                  </a:lnTo>
                  <a:lnTo>
                    <a:pt x="8248650" y="3493770"/>
                  </a:lnTo>
                  <a:lnTo>
                    <a:pt x="0" y="3493770"/>
                  </a:lnTo>
                  <a:close/>
                </a:path>
              </a:pathLst>
            </a:custGeom>
            <a:solidFill>
              <a:srgbClr val="FFFFFF"/>
            </a:solidFill>
            <a:ln w="14288" cap="sq">
              <a:solidFill>
                <a:srgbClr val="2563EB"/>
              </a:solidFill>
              <a:prstDash val="solid"/>
              <a:miter/>
            </a:ln>
          </p:spPr>
        </p:sp>
      </p:grpSp>
      <p:grpSp>
        <p:nvGrpSpPr>
          <p:cNvPr name="Group 9" id="9"/>
          <p:cNvGrpSpPr/>
          <p:nvPr/>
        </p:nvGrpSpPr>
        <p:grpSpPr>
          <a:xfrm rot="0">
            <a:off x="1124712" y="1892808"/>
            <a:ext cx="5760720" cy="2386584"/>
            <a:chOff x="0" y="0"/>
            <a:chExt cx="7680960" cy="3182112"/>
          </a:xfrm>
        </p:grpSpPr>
        <p:sp>
          <p:nvSpPr>
            <p:cNvPr name="Freeform 10" id="10"/>
            <p:cNvSpPr/>
            <p:nvPr/>
          </p:nvSpPr>
          <p:spPr>
            <a:xfrm flipH="false" flipV="false" rot="0">
              <a:off x="0" y="0"/>
              <a:ext cx="7680960" cy="3182112"/>
            </a:xfrm>
            <a:custGeom>
              <a:avLst/>
              <a:gdLst/>
              <a:ahLst/>
              <a:cxnLst/>
              <a:rect r="r" b="b" t="t" l="l"/>
              <a:pathLst>
                <a:path h="3182112" w="7680960">
                  <a:moveTo>
                    <a:pt x="0" y="0"/>
                  </a:moveTo>
                  <a:lnTo>
                    <a:pt x="7680960" y="0"/>
                  </a:lnTo>
                  <a:lnTo>
                    <a:pt x="7680960" y="3182112"/>
                  </a:lnTo>
                  <a:lnTo>
                    <a:pt x="0" y="3182112"/>
                  </a:lnTo>
                  <a:close/>
                </a:path>
              </a:pathLst>
            </a:custGeom>
            <a:blipFill>
              <a:blip r:embed="rId3">
                <a:alphaModFix amt="0"/>
              </a:blip>
              <a:stretch>
                <a:fillRect l="-3154" t="0" r="-3154" b="0"/>
              </a:stretch>
            </a:blipFill>
          </p:spPr>
        </p:sp>
        <p:sp>
          <p:nvSpPr>
            <p:cNvPr name="TextBox 11" id="11"/>
            <p:cNvSpPr txBox="true"/>
            <p:nvPr/>
          </p:nvSpPr>
          <p:spPr>
            <a:xfrm>
              <a:off x="0" y="-28575"/>
              <a:ext cx="7680960" cy="3210687"/>
            </a:xfrm>
            <a:prstGeom prst="rect">
              <a:avLst/>
            </a:prstGeom>
          </p:spPr>
          <p:txBody>
            <a:bodyPr anchor="ctr" rtlCol="false" tIns="0" lIns="0" bIns="0" rIns="0"/>
            <a:lstStyle/>
            <a:p>
              <a:pPr algn="l">
                <a:lnSpc>
                  <a:spcPts val="1889"/>
                </a:lnSpc>
              </a:pPr>
              <a:r>
                <a:rPr lang="en-US" sz="1575">
                  <a:solidFill>
                    <a:srgbClr val="0F1F45"/>
                  </a:solidFill>
                  <a:latin typeface="Consolas"/>
                  <a:ea typeface="Consolas"/>
                  <a:cs typeface="Consolas"/>
                  <a:sym typeface="Consolas"/>
                </a:rPr>
                <a:t>SELECT *</a:t>
              </a:r>
            </a:p>
            <a:p>
              <a:pPr algn="l">
                <a:lnSpc>
                  <a:spcPts val="1889"/>
                </a:lnSpc>
              </a:pPr>
              <a:r>
                <a:rPr lang="en-US" sz="1575">
                  <a:solidFill>
                    <a:srgbClr val="0F1F45"/>
                  </a:solidFill>
                  <a:latin typeface="Consolas"/>
                  <a:ea typeface="Consolas"/>
                  <a:cs typeface="Consolas"/>
                  <a:sym typeface="Consolas"/>
                </a:rPr>
                <a:t>FROM FIR</a:t>
              </a:r>
            </a:p>
            <a:p>
              <a:pPr algn="l">
                <a:lnSpc>
                  <a:spcPts val="1889"/>
                </a:lnSpc>
              </a:pPr>
              <a:r>
                <a:rPr lang="en-US" sz="1575">
                  <a:solidFill>
                    <a:srgbClr val="0F1F45"/>
                  </a:solidFill>
                  <a:latin typeface="Consolas"/>
                  <a:ea typeface="Consolas"/>
                  <a:cs typeface="Consolas"/>
                  <a:sym typeface="Consolas"/>
                </a:rPr>
                <a:t>WHERE Date_Occ BETWEEN '2022-01-01'</a:t>
              </a:r>
            </a:p>
            <a:p>
              <a:pPr algn="l">
                <a:lnSpc>
                  <a:spcPts val="1889"/>
                </a:lnSpc>
              </a:pPr>
              <a:r>
                <a:rPr lang="en-US" sz="1575">
                  <a:solidFill>
                    <a:srgbClr val="0F1F45"/>
                  </a:solidFill>
                  <a:latin typeface="Consolas"/>
                  <a:ea typeface="Consolas"/>
                  <a:cs typeface="Consolas"/>
                  <a:sym typeface="Consolas"/>
                </a:rPr>
                <a:t>                    AND '2023-06-30'</a:t>
              </a:r>
            </a:p>
            <a:p>
              <a:pPr algn="l">
                <a:lnSpc>
                  <a:spcPts val="1889"/>
                </a:lnSpc>
              </a:pPr>
              <a:r>
                <a:rPr lang="en-US" sz="1575">
                  <a:solidFill>
                    <a:srgbClr val="0F1F45"/>
                  </a:solidFill>
                  <a:latin typeface="Consolas"/>
                  <a:ea typeface="Consolas"/>
                  <a:cs typeface="Consolas"/>
                  <a:sym typeface="Consolas"/>
                </a:rPr>
                <a:t>  AND AREA IN (1,2,3,6);</a:t>
              </a:r>
            </a:p>
          </p:txBody>
        </p:sp>
      </p:grpSp>
      <p:grpSp>
        <p:nvGrpSpPr>
          <p:cNvPr name="Group 12" id="12"/>
          <p:cNvGrpSpPr/>
          <p:nvPr/>
        </p:nvGrpSpPr>
        <p:grpSpPr>
          <a:xfrm rot="0">
            <a:off x="911828" y="4587716"/>
            <a:ext cx="6186488" cy="1180148"/>
            <a:chOff x="0" y="0"/>
            <a:chExt cx="8248650" cy="1573530"/>
          </a:xfrm>
        </p:grpSpPr>
        <p:sp>
          <p:nvSpPr>
            <p:cNvPr name="Freeform 13" id="13"/>
            <p:cNvSpPr/>
            <p:nvPr/>
          </p:nvSpPr>
          <p:spPr>
            <a:xfrm flipH="false" flipV="false" rot="0">
              <a:off x="0" y="0"/>
              <a:ext cx="8248650" cy="1573530"/>
            </a:xfrm>
            <a:custGeom>
              <a:avLst/>
              <a:gdLst/>
              <a:ahLst/>
              <a:cxnLst/>
              <a:rect r="r" b="b" t="t" l="l"/>
              <a:pathLst>
                <a:path h="1573530" w="8248650">
                  <a:moveTo>
                    <a:pt x="0" y="0"/>
                  </a:moveTo>
                  <a:lnTo>
                    <a:pt x="8248650" y="0"/>
                  </a:lnTo>
                  <a:lnTo>
                    <a:pt x="8248650" y="1573530"/>
                  </a:lnTo>
                  <a:lnTo>
                    <a:pt x="0" y="1573530"/>
                  </a:lnTo>
                  <a:close/>
                </a:path>
              </a:pathLst>
            </a:custGeom>
            <a:solidFill>
              <a:srgbClr val="FFFFFF"/>
            </a:solidFill>
            <a:ln w="14288" cap="sq">
              <a:solidFill>
                <a:srgbClr val="2563EB"/>
              </a:solidFill>
              <a:prstDash val="solid"/>
              <a:miter/>
            </a:ln>
          </p:spPr>
        </p:sp>
      </p:grpSp>
      <p:grpSp>
        <p:nvGrpSpPr>
          <p:cNvPr name="Group 14" id="14"/>
          <p:cNvGrpSpPr/>
          <p:nvPr/>
        </p:nvGrpSpPr>
        <p:grpSpPr>
          <a:xfrm rot="0">
            <a:off x="1124712" y="4704588"/>
            <a:ext cx="5760720" cy="946404"/>
            <a:chOff x="0" y="0"/>
            <a:chExt cx="7680960" cy="1261872"/>
          </a:xfrm>
        </p:grpSpPr>
        <p:sp>
          <p:nvSpPr>
            <p:cNvPr name="Freeform 15" id="15"/>
            <p:cNvSpPr/>
            <p:nvPr/>
          </p:nvSpPr>
          <p:spPr>
            <a:xfrm flipH="false" flipV="false" rot="0">
              <a:off x="0" y="0"/>
              <a:ext cx="7680960" cy="1261872"/>
            </a:xfrm>
            <a:custGeom>
              <a:avLst/>
              <a:gdLst/>
              <a:ahLst/>
              <a:cxnLst/>
              <a:rect r="r" b="b" t="t" l="l"/>
              <a:pathLst>
                <a:path h="1261872" w="7680960">
                  <a:moveTo>
                    <a:pt x="0" y="0"/>
                  </a:moveTo>
                  <a:lnTo>
                    <a:pt x="7680960" y="0"/>
                  </a:lnTo>
                  <a:lnTo>
                    <a:pt x="7680960" y="1261872"/>
                  </a:lnTo>
                  <a:lnTo>
                    <a:pt x="0" y="1261872"/>
                  </a:lnTo>
                  <a:close/>
                </a:path>
              </a:pathLst>
            </a:custGeom>
            <a:blipFill>
              <a:blip r:embed="rId3">
                <a:alphaModFix amt="0"/>
              </a:blip>
              <a:stretch>
                <a:fillRect l="0" t="-68604" r="0" b="-68604"/>
              </a:stretch>
            </a:blipFill>
          </p:spPr>
        </p:sp>
        <p:sp>
          <p:nvSpPr>
            <p:cNvPr name="TextBox 16" id="16"/>
            <p:cNvSpPr txBox="true"/>
            <p:nvPr/>
          </p:nvSpPr>
          <p:spPr>
            <a:xfrm>
              <a:off x="0" y="-28575"/>
              <a:ext cx="7680960" cy="1290447"/>
            </a:xfrm>
            <a:prstGeom prst="rect">
              <a:avLst/>
            </a:prstGeom>
          </p:spPr>
          <p:txBody>
            <a:bodyPr anchor="ctr" rtlCol="false" tIns="0" lIns="0" bIns="0" rIns="0"/>
            <a:lstStyle/>
            <a:p>
              <a:pPr algn="l">
                <a:lnSpc>
                  <a:spcPts val="1889"/>
                </a:lnSpc>
              </a:pPr>
              <a:r>
                <a:rPr lang="en-US" sz="1575">
                  <a:solidFill>
                    <a:srgbClr val="0F1F45"/>
                  </a:solidFill>
                  <a:latin typeface="Consolas"/>
                  <a:ea typeface="Consolas"/>
                  <a:cs typeface="Consolas"/>
                  <a:sym typeface="Consolas"/>
                </a:rPr>
                <a:t>CREATE INDEX idx_fir_date_area</a:t>
              </a:r>
            </a:p>
            <a:p>
              <a:pPr algn="l">
                <a:lnSpc>
                  <a:spcPts val="1889"/>
                </a:lnSpc>
              </a:pPr>
              <a:r>
                <a:rPr lang="en-US" sz="1575">
                  <a:solidFill>
                    <a:srgbClr val="0F1F45"/>
                  </a:solidFill>
                  <a:latin typeface="Consolas"/>
                  <a:ea typeface="Consolas"/>
                  <a:cs typeface="Consolas"/>
                  <a:sym typeface="Consolas"/>
                </a:rPr>
                <a:t>ON FIR(Date_Occ, AREA);</a:t>
              </a:r>
            </a:p>
          </p:txBody>
        </p:sp>
      </p:grpSp>
      <p:grpSp>
        <p:nvGrpSpPr>
          <p:cNvPr name="Group 17" id="17"/>
          <p:cNvGrpSpPr/>
          <p:nvPr/>
        </p:nvGrpSpPr>
        <p:grpSpPr>
          <a:xfrm rot="0">
            <a:off x="911828" y="6027896"/>
            <a:ext cx="6186488" cy="3237548"/>
            <a:chOff x="0" y="0"/>
            <a:chExt cx="8248650" cy="4316730"/>
          </a:xfrm>
        </p:grpSpPr>
        <p:sp>
          <p:nvSpPr>
            <p:cNvPr name="Freeform 18" id="18"/>
            <p:cNvSpPr/>
            <p:nvPr/>
          </p:nvSpPr>
          <p:spPr>
            <a:xfrm flipH="false" flipV="false" rot="0">
              <a:off x="0" y="0"/>
              <a:ext cx="8248650" cy="4316730"/>
            </a:xfrm>
            <a:custGeom>
              <a:avLst/>
              <a:gdLst/>
              <a:ahLst/>
              <a:cxnLst/>
              <a:rect r="r" b="b" t="t" l="l"/>
              <a:pathLst>
                <a:path h="4316730" w="8248650">
                  <a:moveTo>
                    <a:pt x="0" y="0"/>
                  </a:moveTo>
                  <a:lnTo>
                    <a:pt x="8248650" y="0"/>
                  </a:lnTo>
                  <a:lnTo>
                    <a:pt x="8248650" y="4316730"/>
                  </a:lnTo>
                  <a:lnTo>
                    <a:pt x="0" y="4316730"/>
                  </a:lnTo>
                  <a:close/>
                </a:path>
              </a:pathLst>
            </a:custGeom>
            <a:solidFill>
              <a:srgbClr val="F0F5FF"/>
            </a:solidFill>
            <a:ln w="14288" cap="sq">
              <a:solidFill>
                <a:srgbClr val="C9D9F2"/>
              </a:solidFill>
              <a:prstDash val="solid"/>
              <a:miter/>
            </a:ln>
          </p:spPr>
        </p:sp>
      </p:grpSp>
      <p:sp>
        <p:nvSpPr>
          <p:cNvPr name="TextBox 19" id="19"/>
          <p:cNvSpPr txBox="true"/>
          <p:nvPr/>
        </p:nvSpPr>
        <p:spPr>
          <a:xfrm rot="0">
            <a:off x="1193292" y="6161532"/>
            <a:ext cx="562356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Why a Composite B-Tree Index?</a:t>
            </a:r>
          </a:p>
        </p:txBody>
      </p:sp>
      <p:sp>
        <p:nvSpPr>
          <p:cNvPr name="TextBox 20" id="20"/>
          <p:cNvSpPr txBox="true"/>
          <p:nvPr/>
        </p:nvSpPr>
        <p:spPr>
          <a:xfrm rot="0">
            <a:off x="1234440" y="6614160"/>
            <a:ext cx="5623560" cy="2575560"/>
          </a:xfrm>
          <a:prstGeom prst="rect">
            <a:avLst/>
          </a:prstGeom>
        </p:spPr>
        <p:txBody>
          <a:bodyPr anchor="t" rtlCol="false" tIns="0" lIns="0" bIns="0" rIns="0">
            <a:spAutoFit/>
          </a:bodyPr>
          <a:lstStyle/>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Supports date-range filtering</a:t>
            </a:r>
          </a:p>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Supports filtering by police division</a:t>
            </a:r>
          </a:p>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Leftmost-prefix principle: Date_Occ leads</a:t>
            </a:r>
          </a:p>
          <a:p>
            <a:pPr algn="l" marL="312182" indent="-156091" lvl="1">
              <a:lnSpc>
                <a:spcPts val="2070"/>
              </a:lnSpc>
              <a:buFont typeface="Arial"/>
              <a:buChar char="•"/>
            </a:pPr>
            <a:r>
              <a:rPr lang="en-US" sz="1725">
                <a:solidFill>
                  <a:srgbClr val="0F1F45"/>
                </a:solidFill>
                <a:latin typeface="Calibri (MS)"/>
                <a:ea typeface="Calibri (MS)"/>
                <a:cs typeface="Calibri (MS)"/>
                <a:sym typeface="Calibri (MS)"/>
              </a:rPr>
              <a:t>Trade-off: faster reads ↔ extra storage &amp; write maintenance</a:t>
            </a:r>
          </a:p>
        </p:txBody>
      </p:sp>
      <p:grpSp>
        <p:nvGrpSpPr>
          <p:cNvPr name="Group 21" id="21"/>
          <p:cNvGrpSpPr/>
          <p:nvPr/>
        </p:nvGrpSpPr>
        <p:grpSpPr>
          <a:xfrm rot="0">
            <a:off x="7358348" y="1775936"/>
            <a:ext cx="4952047" cy="3991928"/>
            <a:chOff x="0" y="0"/>
            <a:chExt cx="6602730" cy="5322570"/>
          </a:xfrm>
        </p:grpSpPr>
        <p:sp>
          <p:nvSpPr>
            <p:cNvPr name="Freeform 22" id="22"/>
            <p:cNvSpPr/>
            <p:nvPr/>
          </p:nvSpPr>
          <p:spPr>
            <a:xfrm flipH="false" flipV="false" rot="0">
              <a:off x="0" y="0"/>
              <a:ext cx="6602730" cy="5322570"/>
            </a:xfrm>
            <a:custGeom>
              <a:avLst/>
              <a:gdLst/>
              <a:ahLst/>
              <a:cxnLst/>
              <a:rect r="r" b="b" t="t" l="l"/>
              <a:pathLst>
                <a:path h="5322570" w="6602730">
                  <a:moveTo>
                    <a:pt x="0" y="0"/>
                  </a:moveTo>
                  <a:lnTo>
                    <a:pt x="6602730" y="0"/>
                  </a:lnTo>
                  <a:lnTo>
                    <a:pt x="6602730" y="5322570"/>
                  </a:lnTo>
                  <a:lnTo>
                    <a:pt x="0" y="5322570"/>
                  </a:lnTo>
                  <a:close/>
                </a:path>
              </a:pathLst>
            </a:custGeom>
            <a:solidFill>
              <a:srgbClr val="F0F5FF"/>
            </a:solidFill>
            <a:ln w="14288" cap="sq">
              <a:solidFill>
                <a:srgbClr val="C9D9F2"/>
              </a:solidFill>
              <a:prstDash val="solid"/>
              <a:miter/>
            </a:ln>
          </p:spPr>
        </p:sp>
      </p:grpSp>
      <p:sp>
        <p:nvSpPr>
          <p:cNvPr name="TextBox 23" id="23"/>
          <p:cNvSpPr txBox="true"/>
          <p:nvPr/>
        </p:nvSpPr>
        <p:spPr>
          <a:xfrm rot="0">
            <a:off x="7639812" y="1909572"/>
            <a:ext cx="438912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BEFORE: Full Table Scan</a:t>
            </a:r>
          </a:p>
        </p:txBody>
      </p:sp>
      <p:sp>
        <p:nvSpPr>
          <p:cNvPr name="TextBox 24" id="24"/>
          <p:cNvSpPr txBox="true"/>
          <p:nvPr/>
        </p:nvSpPr>
        <p:spPr>
          <a:xfrm rot="0">
            <a:off x="7639812" y="2430780"/>
            <a:ext cx="4389120" cy="1135380"/>
          </a:xfrm>
          <a:prstGeom prst="rect">
            <a:avLst/>
          </a:prstGeom>
        </p:spPr>
        <p:txBody>
          <a:bodyPr anchor="t" rtlCol="false" tIns="0" lIns="0" bIns="0" rIns="0">
            <a:spAutoFit/>
          </a:bodyPr>
          <a:lstStyle/>
          <a:p>
            <a:pPr algn="l" marL="325755" indent="-162878" lvl="1">
              <a:lnSpc>
                <a:spcPts val="2160"/>
              </a:lnSpc>
              <a:buFont typeface="Arial"/>
              <a:buChar char="•"/>
            </a:pPr>
            <a:r>
              <a:rPr lang="en-US" sz="1800">
                <a:solidFill>
                  <a:srgbClr val="0F1F45"/>
                </a:solidFill>
                <a:latin typeface="Calibri (MS)"/>
                <a:ea typeface="Calibri (MS)"/>
                <a:cs typeface="Calibri (MS)"/>
                <a:sym typeface="Calibri (MS)"/>
              </a:rPr>
              <a:t>Access type: ALL</a:t>
            </a:r>
          </a:p>
          <a:p>
            <a:pPr algn="l" marL="325755" indent="-162878" lvl="1">
              <a:lnSpc>
                <a:spcPts val="2160"/>
              </a:lnSpc>
              <a:buFont typeface="Arial"/>
              <a:buChar char="•"/>
            </a:pPr>
            <a:r>
              <a:rPr lang="en-US" sz="1800">
                <a:solidFill>
                  <a:srgbClr val="0F1F45"/>
                </a:solidFill>
                <a:latin typeface="Calibri (MS)"/>
                <a:ea typeface="Calibri (MS)"/>
                <a:cs typeface="Calibri (MS)"/>
                <a:sym typeface="Calibri (MS)"/>
              </a:rPr>
              <a:t>Many rows examined</a:t>
            </a:r>
          </a:p>
        </p:txBody>
      </p:sp>
      <p:grpSp>
        <p:nvGrpSpPr>
          <p:cNvPr name="Group 25" id="25"/>
          <p:cNvGrpSpPr/>
          <p:nvPr/>
        </p:nvGrpSpPr>
        <p:grpSpPr>
          <a:xfrm rot="0">
            <a:off x="7632668" y="3764756"/>
            <a:ext cx="4403408" cy="1728788"/>
            <a:chOff x="0" y="0"/>
            <a:chExt cx="5871210" cy="2305050"/>
          </a:xfrm>
        </p:grpSpPr>
        <p:sp>
          <p:nvSpPr>
            <p:cNvPr name="Freeform 26" id="26"/>
            <p:cNvSpPr/>
            <p:nvPr/>
          </p:nvSpPr>
          <p:spPr>
            <a:xfrm flipH="false" flipV="false" rot="0">
              <a:off x="0" y="0"/>
              <a:ext cx="5871210" cy="2305050"/>
            </a:xfrm>
            <a:custGeom>
              <a:avLst/>
              <a:gdLst/>
              <a:ahLst/>
              <a:cxnLst/>
              <a:rect r="r" b="b" t="t" l="l"/>
              <a:pathLst>
                <a:path h="2305050" w="5871210">
                  <a:moveTo>
                    <a:pt x="0" y="0"/>
                  </a:moveTo>
                  <a:lnTo>
                    <a:pt x="5871210" y="0"/>
                  </a:lnTo>
                  <a:lnTo>
                    <a:pt x="5871210" y="2305050"/>
                  </a:lnTo>
                  <a:lnTo>
                    <a:pt x="0" y="2305050"/>
                  </a:lnTo>
                  <a:close/>
                </a:path>
              </a:pathLst>
            </a:custGeom>
            <a:solidFill>
              <a:srgbClr val="FFFFFF"/>
            </a:solidFill>
            <a:ln w="14288" cap="sq">
              <a:solidFill>
                <a:srgbClr val="2563EB"/>
              </a:solidFill>
              <a:prstDash val="solid"/>
              <a:miter/>
            </a:ln>
          </p:spPr>
        </p:sp>
      </p:grpSp>
      <p:grpSp>
        <p:nvGrpSpPr>
          <p:cNvPr name="Group 27" id="27"/>
          <p:cNvGrpSpPr/>
          <p:nvPr/>
        </p:nvGrpSpPr>
        <p:grpSpPr>
          <a:xfrm rot="0">
            <a:off x="7845552" y="3881628"/>
            <a:ext cx="3977640" cy="1495044"/>
            <a:chOff x="0" y="0"/>
            <a:chExt cx="5303520" cy="1993392"/>
          </a:xfrm>
        </p:grpSpPr>
        <p:sp>
          <p:nvSpPr>
            <p:cNvPr name="Freeform 28" id="28"/>
            <p:cNvSpPr/>
            <p:nvPr/>
          </p:nvSpPr>
          <p:spPr>
            <a:xfrm flipH="false" flipV="false" rot="0">
              <a:off x="0" y="0"/>
              <a:ext cx="5303520" cy="1993392"/>
            </a:xfrm>
            <a:custGeom>
              <a:avLst/>
              <a:gdLst/>
              <a:ahLst/>
              <a:cxnLst/>
              <a:rect r="r" b="b" t="t" l="l"/>
              <a:pathLst>
                <a:path h="1993392" w="5303520">
                  <a:moveTo>
                    <a:pt x="0" y="0"/>
                  </a:moveTo>
                  <a:lnTo>
                    <a:pt x="5303520" y="0"/>
                  </a:lnTo>
                  <a:lnTo>
                    <a:pt x="5303520" y="1993392"/>
                  </a:lnTo>
                  <a:lnTo>
                    <a:pt x="0" y="1993392"/>
                  </a:lnTo>
                  <a:close/>
                </a:path>
              </a:pathLst>
            </a:custGeom>
            <a:blipFill>
              <a:blip r:embed="rId3">
                <a:alphaModFix amt="0"/>
              </a:blip>
              <a:stretch>
                <a:fillRect l="0" t="-1840" r="0" b="-1840"/>
              </a:stretch>
            </a:blipFill>
          </p:spPr>
        </p:sp>
        <p:sp>
          <p:nvSpPr>
            <p:cNvPr name="TextBox 29" id="29"/>
            <p:cNvSpPr txBox="true"/>
            <p:nvPr/>
          </p:nvSpPr>
          <p:spPr>
            <a:xfrm>
              <a:off x="0" y="-38100"/>
              <a:ext cx="5303520" cy="2031492"/>
            </a:xfrm>
            <a:prstGeom prst="rect">
              <a:avLst/>
            </a:prstGeom>
          </p:spPr>
          <p:txBody>
            <a:bodyPr anchor="ctr" rtlCol="false" tIns="0" lIns="0" bIns="0" rIns="0"/>
            <a:lstStyle/>
            <a:p>
              <a:pPr algn="l">
                <a:lnSpc>
                  <a:spcPts val="1709"/>
                </a:lnSpc>
              </a:pPr>
              <a:r>
                <a:rPr lang="en-US" sz="1425">
                  <a:solidFill>
                    <a:srgbClr val="0F1F45"/>
                  </a:solidFill>
                  <a:latin typeface="Consolas"/>
                  <a:ea typeface="Consolas"/>
                  <a:cs typeface="Consolas"/>
                  <a:sym typeface="Consolas"/>
                </a:rPr>
                <a:t>EXPLAIN (conceptual)</a:t>
              </a:r>
            </a:p>
            <a:p>
              <a:pPr algn="l">
                <a:lnSpc>
                  <a:spcPts val="1709"/>
                </a:lnSpc>
              </a:pPr>
              <a:r>
                <a:rPr lang="en-US" sz="1425">
                  <a:solidFill>
                    <a:srgbClr val="0F1F45"/>
                  </a:solidFill>
                  <a:latin typeface="Consolas"/>
                  <a:ea typeface="Consolas"/>
                  <a:cs typeface="Consolas"/>
                  <a:sym typeface="Consolas"/>
                </a:rPr>
                <a:t>type: ALL | key: NULL |</a:t>
              </a:r>
            </a:p>
            <a:p>
              <a:pPr algn="l">
                <a:lnSpc>
                  <a:spcPts val="1709"/>
                </a:lnSpc>
              </a:pPr>
              <a:r>
                <a:rPr lang="en-US" sz="1425">
                  <a:solidFill>
                    <a:srgbClr val="0F1F45"/>
                  </a:solidFill>
                  <a:latin typeface="Consolas"/>
                  <a:ea typeface="Consolas"/>
                  <a:cs typeface="Consolas"/>
                  <a:sym typeface="Consolas"/>
                </a:rPr>
                <a:t>rows: high</a:t>
              </a:r>
            </a:p>
          </p:txBody>
        </p:sp>
      </p:grpSp>
      <p:grpSp>
        <p:nvGrpSpPr>
          <p:cNvPr name="Group 30" id="30"/>
          <p:cNvGrpSpPr/>
          <p:nvPr/>
        </p:nvGrpSpPr>
        <p:grpSpPr>
          <a:xfrm rot="0">
            <a:off x="12433268" y="1775936"/>
            <a:ext cx="4952047" cy="3991928"/>
            <a:chOff x="0" y="0"/>
            <a:chExt cx="6602730" cy="5322570"/>
          </a:xfrm>
        </p:grpSpPr>
        <p:sp>
          <p:nvSpPr>
            <p:cNvPr name="Freeform 31" id="31"/>
            <p:cNvSpPr/>
            <p:nvPr/>
          </p:nvSpPr>
          <p:spPr>
            <a:xfrm flipH="false" flipV="false" rot="0">
              <a:off x="0" y="0"/>
              <a:ext cx="6602730" cy="5322570"/>
            </a:xfrm>
            <a:custGeom>
              <a:avLst/>
              <a:gdLst/>
              <a:ahLst/>
              <a:cxnLst/>
              <a:rect r="r" b="b" t="t" l="l"/>
              <a:pathLst>
                <a:path h="5322570" w="6602730">
                  <a:moveTo>
                    <a:pt x="0" y="0"/>
                  </a:moveTo>
                  <a:lnTo>
                    <a:pt x="6602730" y="0"/>
                  </a:lnTo>
                  <a:lnTo>
                    <a:pt x="6602730" y="5322570"/>
                  </a:lnTo>
                  <a:lnTo>
                    <a:pt x="0" y="5322570"/>
                  </a:lnTo>
                  <a:close/>
                </a:path>
              </a:pathLst>
            </a:custGeom>
            <a:solidFill>
              <a:srgbClr val="F0F5FF"/>
            </a:solidFill>
            <a:ln w="14288" cap="sq">
              <a:solidFill>
                <a:srgbClr val="C9D9F2"/>
              </a:solidFill>
              <a:prstDash val="solid"/>
              <a:miter/>
            </a:ln>
          </p:spPr>
        </p:sp>
      </p:grpSp>
      <p:sp>
        <p:nvSpPr>
          <p:cNvPr name="TextBox 32" id="32"/>
          <p:cNvSpPr txBox="true"/>
          <p:nvPr/>
        </p:nvSpPr>
        <p:spPr>
          <a:xfrm rot="0">
            <a:off x="12714732" y="1909572"/>
            <a:ext cx="438912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AFTER: B-Tree Range Scan</a:t>
            </a:r>
          </a:p>
        </p:txBody>
      </p:sp>
      <p:sp>
        <p:nvSpPr>
          <p:cNvPr name="TextBox 33" id="33"/>
          <p:cNvSpPr txBox="true"/>
          <p:nvPr/>
        </p:nvSpPr>
        <p:spPr>
          <a:xfrm rot="0">
            <a:off x="12714732" y="2430780"/>
            <a:ext cx="4389120" cy="1135380"/>
          </a:xfrm>
          <a:prstGeom prst="rect">
            <a:avLst/>
          </a:prstGeom>
        </p:spPr>
        <p:txBody>
          <a:bodyPr anchor="t" rtlCol="false" tIns="0" lIns="0" bIns="0" rIns="0">
            <a:spAutoFit/>
          </a:bodyPr>
          <a:lstStyle/>
          <a:p>
            <a:pPr algn="l" marL="325755" indent="-162878" lvl="1">
              <a:lnSpc>
                <a:spcPts val="2160"/>
              </a:lnSpc>
              <a:buFont typeface="Arial"/>
              <a:buChar char="•"/>
            </a:pPr>
            <a:r>
              <a:rPr lang="en-US" sz="1800">
                <a:solidFill>
                  <a:srgbClr val="0F1F45"/>
                </a:solidFill>
                <a:latin typeface="Calibri (MS)"/>
                <a:ea typeface="Calibri (MS)"/>
                <a:cs typeface="Calibri (MS)"/>
                <a:sym typeface="Calibri (MS)"/>
              </a:rPr>
              <a:t>Range-based index access</a:t>
            </a:r>
          </a:p>
          <a:p>
            <a:pPr algn="l" marL="325755" indent="-162878" lvl="1">
              <a:lnSpc>
                <a:spcPts val="2160"/>
              </a:lnSpc>
              <a:buFont typeface="Arial"/>
              <a:buChar char="•"/>
            </a:pPr>
            <a:r>
              <a:rPr lang="en-US" sz="1800">
                <a:solidFill>
                  <a:srgbClr val="0F1F45"/>
                </a:solidFill>
                <a:latin typeface="Calibri (MS)"/>
                <a:ea typeface="Calibri (MS)"/>
                <a:cs typeface="Calibri (MS)"/>
                <a:sym typeface="Calibri (MS)"/>
              </a:rPr>
              <a:t>Fewer rows examined</a:t>
            </a:r>
          </a:p>
        </p:txBody>
      </p:sp>
      <p:grpSp>
        <p:nvGrpSpPr>
          <p:cNvPr name="Group 34" id="34"/>
          <p:cNvGrpSpPr/>
          <p:nvPr/>
        </p:nvGrpSpPr>
        <p:grpSpPr>
          <a:xfrm rot="0">
            <a:off x="12707588" y="3764756"/>
            <a:ext cx="4403408" cy="1728788"/>
            <a:chOff x="0" y="0"/>
            <a:chExt cx="5871210" cy="2305050"/>
          </a:xfrm>
        </p:grpSpPr>
        <p:sp>
          <p:nvSpPr>
            <p:cNvPr name="Freeform 35" id="35"/>
            <p:cNvSpPr/>
            <p:nvPr/>
          </p:nvSpPr>
          <p:spPr>
            <a:xfrm flipH="false" flipV="false" rot="0">
              <a:off x="0" y="0"/>
              <a:ext cx="5871210" cy="2305050"/>
            </a:xfrm>
            <a:custGeom>
              <a:avLst/>
              <a:gdLst/>
              <a:ahLst/>
              <a:cxnLst/>
              <a:rect r="r" b="b" t="t" l="l"/>
              <a:pathLst>
                <a:path h="2305050" w="5871210">
                  <a:moveTo>
                    <a:pt x="0" y="0"/>
                  </a:moveTo>
                  <a:lnTo>
                    <a:pt x="5871210" y="0"/>
                  </a:lnTo>
                  <a:lnTo>
                    <a:pt x="5871210" y="2305050"/>
                  </a:lnTo>
                  <a:lnTo>
                    <a:pt x="0" y="2305050"/>
                  </a:lnTo>
                  <a:close/>
                </a:path>
              </a:pathLst>
            </a:custGeom>
            <a:solidFill>
              <a:srgbClr val="FFFFFF"/>
            </a:solidFill>
            <a:ln w="14288" cap="sq">
              <a:solidFill>
                <a:srgbClr val="2563EB"/>
              </a:solidFill>
              <a:prstDash val="solid"/>
              <a:miter/>
            </a:ln>
          </p:spPr>
        </p:sp>
      </p:grpSp>
      <p:grpSp>
        <p:nvGrpSpPr>
          <p:cNvPr name="Group 36" id="36"/>
          <p:cNvGrpSpPr/>
          <p:nvPr/>
        </p:nvGrpSpPr>
        <p:grpSpPr>
          <a:xfrm rot="0">
            <a:off x="12920472" y="3881628"/>
            <a:ext cx="3977640" cy="1495044"/>
            <a:chOff x="0" y="0"/>
            <a:chExt cx="5303520" cy="1993392"/>
          </a:xfrm>
        </p:grpSpPr>
        <p:sp>
          <p:nvSpPr>
            <p:cNvPr name="Freeform 37" id="37"/>
            <p:cNvSpPr/>
            <p:nvPr/>
          </p:nvSpPr>
          <p:spPr>
            <a:xfrm flipH="false" flipV="false" rot="0">
              <a:off x="0" y="0"/>
              <a:ext cx="5303520" cy="1993392"/>
            </a:xfrm>
            <a:custGeom>
              <a:avLst/>
              <a:gdLst/>
              <a:ahLst/>
              <a:cxnLst/>
              <a:rect r="r" b="b" t="t" l="l"/>
              <a:pathLst>
                <a:path h="1993392" w="5303520">
                  <a:moveTo>
                    <a:pt x="0" y="0"/>
                  </a:moveTo>
                  <a:lnTo>
                    <a:pt x="5303520" y="0"/>
                  </a:lnTo>
                  <a:lnTo>
                    <a:pt x="5303520" y="1993392"/>
                  </a:lnTo>
                  <a:lnTo>
                    <a:pt x="0" y="1993392"/>
                  </a:lnTo>
                  <a:close/>
                </a:path>
              </a:pathLst>
            </a:custGeom>
            <a:blipFill>
              <a:blip r:embed="rId3">
                <a:alphaModFix amt="0"/>
              </a:blip>
              <a:stretch>
                <a:fillRect l="0" t="-1840" r="0" b="-1840"/>
              </a:stretch>
            </a:blipFill>
          </p:spPr>
        </p:sp>
        <p:sp>
          <p:nvSpPr>
            <p:cNvPr name="TextBox 38" id="38"/>
            <p:cNvSpPr txBox="true"/>
            <p:nvPr/>
          </p:nvSpPr>
          <p:spPr>
            <a:xfrm>
              <a:off x="0" y="-38100"/>
              <a:ext cx="5303520" cy="2031492"/>
            </a:xfrm>
            <a:prstGeom prst="rect">
              <a:avLst/>
            </a:prstGeom>
          </p:spPr>
          <p:txBody>
            <a:bodyPr anchor="ctr" rtlCol="false" tIns="0" lIns="0" bIns="0" rIns="0"/>
            <a:lstStyle/>
            <a:p>
              <a:pPr algn="l">
                <a:lnSpc>
                  <a:spcPts val="1709"/>
                </a:lnSpc>
              </a:pPr>
              <a:r>
                <a:rPr lang="en-US" sz="1425">
                  <a:solidFill>
                    <a:srgbClr val="0F1F45"/>
                  </a:solidFill>
                  <a:latin typeface="Consolas"/>
                  <a:ea typeface="Consolas"/>
                  <a:cs typeface="Consolas"/>
                  <a:sym typeface="Consolas"/>
                </a:rPr>
                <a:t>EXPLAIN (conceptual)</a:t>
              </a:r>
            </a:p>
            <a:p>
              <a:pPr algn="l">
                <a:lnSpc>
                  <a:spcPts val="1709"/>
                </a:lnSpc>
              </a:pPr>
              <a:r>
                <a:rPr lang="en-US" sz="1425">
                  <a:solidFill>
                    <a:srgbClr val="0F1F45"/>
                  </a:solidFill>
                  <a:latin typeface="Consolas"/>
                  <a:ea typeface="Consolas"/>
                  <a:cs typeface="Consolas"/>
                  <a:sym typeface="Consolas"/>
                </a:rPr>
                <a:t>type: range |</a:t>
              </a:r>
            </a:p>
            <a:p>
              <a:pPr algn="l">
                <a:lnSpc>
                  <a:spcPts val="1709"/>
                </a:lnSpc>
              </a:pPr>
              <a:r>
                <a:rPr lang="en-US" sz="1425">
                  <a:solidFill>
                    <a:srgbClr val="0F1F45"/>
                  </a:solidFill>
                  <a:latin typeface="Consolas"/>
                  <a:ea typeface="Consolas"/>
                  <a:cs typeface="Consolas"/>
                  <a:sym typeface="Consolas"/>
                </a:rPr>
                <a:t>key: idx_fir_date_area</a:t>
              </a:r>
            </a:p>
          </p:txBody>
        </p:sp>
      </p:grpSp>
      <p:grpSp>
        <p:nvGrpSpPr>
          <p:cNvPr name="Group 39" id="39"/>
          <p:cNvGrpSpPr/>
          <p:nvPr/>
        </p:nvGrpSpPr>
        <p:grpSpPr>
          <a:xfrm rot="0">
            <a:off x="7355967" y="6025515"/>
            <a:ext cx="10031730" cy="3242310"/>
            <a:chOff x="0" y="0"/>
            <a:chExt cx="13375640" cy="4323080"/>
          </a:xfrm>
        </p:grpSpPr>
        <p:sp>
          <p:nvSpPr>
            <p:cNvPr name="Freeform 40" id="40"/>
            <p:cNvSpPr/>
            <p:nvPr/>
          </p:nvSpPr>
          <p:spPr>
            <a:xfrm flipH="false" flipV="false" rot="0">
              <a:off x="0" y="0"/>
              <a:ext cx="13375639" cy="4323080"/>
            </a:xfrm>
            <a:custGeom>
              <a:avLst/>
              <a:gdLst/>
              <a:ahLst/>
              <a:cxnLst/>
              <a:rect r="r" b="b" t="t" l="l"/>
              <a:pathLst>
                <a:path h="4323080" w="13375639">
                  <a:moveTo>
                    <a:pt x="0" y="183896"/>
                  </a:moveTo>
                  <a:cubicBezTo>
                    <a:pt x="0" y="82296"/>
                    <a:pt x="82296" y="0"/>
                    <a:pt x="183896" y="0"/>
                  </a:cubicBezTo>
                  <a:lnTo>
                    <a:pt x="13191744" y="0"/>
                  </a:lnTo>
                  <a:cubicBezTo>
                    <a:pt x="13293344" y="0"/>
                    <a:pt x="13375639" y="82296"/>
                    <a:pt x="13375639" y="183896"/>
                  </a:cubicBezTo>
                  <a:lnTo>
                    <a:pt x="13375639" y="4139184"/>
                  </a:lnTo>
                  <a:cubicBezTo>
                    <a:pt x="13375639" y="4240784"/>
                    <a:pt x="13293344" y="4323080"/>
                    <a:pt x="13191744" y="4323080"/>
                  </a:cubicBezTo>
                  <a:lnTo>
                    <a:pt x="183896" y="4323080"/>
                  </a:lnTo>
                  <a:cubicBezTo>
                    <a:pt x="82296" y="4323080"/>
                    <a:pt x="0" y="4240784"/>
                    <a:pt x="0" y="4139184"/>
                  </a:cubicBezTo>
                  <a:close/>
                </a:path>
              </a:pathLst>
            </a:custGeom>
            <a:solidFill>
              <a:srgbClr val="2563EB"/>
            </a:solidFill>
            <a:ln w="19050" cap="sq">
              <a:solidFill>
                <a:srgbClr val="1D4ED8"/>
              </a:solidFill>
              <a:prstDash val="solid"/>
              <a:miter/>
            </a:ln>
          </p:spPr>
        </p:sp>
      </p:grpSp>
      <p:grpSp>
        <p:nvGrpSpPr>
          <p:cNvPr name="Group 41" id="41"/>
          <p:cNvGrpSpPr/>
          <p:nvPr/>
        </p:nvGrpSpPr>
        <p:grpSpPr>
          <a:xfrm rot="0">
            <a:off x="7365492" y="6172200"/>
            <a:ext cx="10012680" cy="1783080"/>
            <a:chOff x="0" y="0"/>
            <a:chExt cx="13350240" cy="2377440"/>
          </a:xfrm>
        </p:grpSpPr>
        <p:sp>
          <p:nvSpPr>
            <p:cNvPr name="Freeform 42" id="42"/>
            <p:cNvSpPr/>
            <p:nvPr/>
          </p:nvSpPr>
          <p:spPr>
            <a:xfrm flipH="false" flipV="false" rot="0">
              <a:off x="0" y="0"/>
              <a:ext cx="13350239" cy="2377440"/>
            </a:xfrm>
            <a:custGeom>
              <a:avLst/>
              <a:gdLst/>
              <a:ahLst/>
              <a:cxnLst/>
              <a:rect r="r" b="b" t="t" l="l"/>
              <a:pathLst>
                <a:path h="2377440" w="13350239">
                  <a:moveTo>
                    <a:pt x="0" y="0"/>
                  </a:moveTo>
                  <a:lnTo>
                    <a:pt x="13350239" y="0"/>
                  </a:lnTo>
                  <a:lnTo>
                    <a:pt x="13350239" y="2377440"/>
                  </a:lnTo>
                  <a:lnTo>
                    <a:pt x="0" y="2377440"/>
                  </a:lnTo>
                  <a:close/>
                </a:path>
              </a:pathLst>
            </a:custGeom>
            <a:blipFill>
              <a:blip r:embed="rId3">
                <a:alphaModFix amt="0"/>
              </a:blip>
              <a:stretch>
                <a:fillRect l="0" t="-59415" r="0" b="-59415"/>
              </a:stretch>
            </a:blipFill>
          </p:spPr>
        </p:sp>
        <p:sp>
          <p:nvSpPr>
            <p:cNvPr name="TextBox 43" id="43"/>
            <p:cNvSpPr txBox="true"/>
            <p:nvPr/>
          </p:nvSpPr>
          <p:spPr>
            <a:xfrm>
              <a:off x="0" y="-190500"/>
              <a:ext cx="13350240" cy="2567940"/>
            </a:xfrm>
            <a:prstGeom prst="rect">
              <a:avLst/>
            </a:prstGeom>
          </p:spPr>
          <p:txBody>
            <a:bodyPr anchor="ctr" rtlCol="false" tIns="0" lIns="0" bIns="0" rIns="0"/>
            <a:lstStyle/>
            <a:p>
              <a:pPr algn="ctr">
                <a:lnSpc>
                  <a:spcPts val="10800"/>
                </a:lnSpc>
              </a:pPr>
              <a:r>
                <a:rPr lang="en-US" sz="9000" b="true">
                  <a:solidFill>
                    <a:srgbClr val="FFFFFF"/>
                  </a:solidFill>
                  <a:latin typeface="Calibri (MS) Bold"/>
                  <a:ea typeface="Calibri (MS) Bold"/>
                  <a:cs typeface="Calibri (MS) Bold"/>
                  <a:sym typeface="Calibri (MS) Bold"/>
                </a:rPr>
                <a:t>≈ 88%</a:t>
              </a:r>
            </a:p>
          </p:txBody>
        </p:sp>
      </p:grpSp>
      <p:sp>
        <p:nvSpPr>
          <p:cNvPr name="TextBox 44" id="44"/>
          <p:cNvSpPr txBox="true"/>
          <p:nvPr/>
        </p:nvSpPr>
        <p:spPr>
          <a:xfrm rot="0">
            <a:off x="7365492" y="7976235"/>
            <a:ext cx="10012680" cy="870585"/>
          </a:xfrm>
          <a:prstGeom prst="rect">
            <a:avLst/>
          </a:prstGeom>
        </p:spPr>
        <p:txBody>
          <a:bodyPr anchor="t" rtlCol="false" tIns="0" lIns="0" bIns="0" rIns="0">
            <a:spAutoFit/>
          </a:bodyPr>
          <a:lstStyle/>
          <a:p>
            <a:pPr algn="ctr">
              <a:lnSpc>
                <a:spcPts val="2520"/>
              </a:lnSpc>
            </a:pPr>
            <a:r>
              <a:rPr lang="en-US" sz="2100">
                <a:solidFill>
                  <a:srgbClr val="FFFFFF"/>
                </a:solidFill>
                <a:latin typeface="Calibri (MS)"/>
                <a:ea typeface="Calibri (MS)"/>
                <a:cs typeface="Calibri (MS)"/>
                <a:sym typeface="Calibri (MS)"/>
              </a:rPr>
              <a:t>fewer rows examined (project benchmark scenario)</a:t>
            </a:r>
          </a:p>
        </p:txBody>
      </p:sp>
      <p:sp>
        <p:nvSpPr>
          <p:cNvPr name="Freeform 45" id="45"/>
          <p:cNvSpPr/>
          <p:nvPr/>
        </p:nvSpPr>
        <p:spPr>
          <a:xfrm flipH="false" flipV="false" rot="0">
            <a:off x="16247050" y="152298"/>
            <a:ext cx="1933060" cy="1006418"/>
          </a:xfrm>
          <a:custGeom>
            <a:avLst/>
            <a:gdLst/>
            <a:ahLst/>
            <a:cxnLst/>
            <a:rect r="r" b="b" t="t" l="l"/>
            <a:pathLst>
              <a:path h="1006418" w="1933060">
                <a:moveTo>
                  <a:pt x="0" y="0"/>
                </a:moveTo>
                <a:lnTo>
                  <a:pt x="1933060" y="0"/>
                </a:lnTo>
                <a:lnTo>
                  <a:pt x="1933060" y="1006418"/>
                </a:lnTo>
                <a:lnTo>
                  <a:pt x="0" y="1006418"/>
                </a:lnTo>
                <a:lnTo>
                  <a:pt x="0" y="0"/>
                </a:lnTo>
                <a:close/>
              </a:path>
            </a:pathLst>
          </a:custGeom>
          <a:blipFill>
            <a:blip r:embed="rId4"/>
            <a:stretch>
              <a:fillRect l="0" t="0" r="0" b="0"/>
            </a:stretch>
          </a:blipFill>
        </p:spPr>
      </p:sp>
      <p:sp>
        <p:nvSpPr>
          <p:cNvPr name="Freeform 46" id="46"/>
          <p:cNvSpPr/>
          <p:nvPr/>
        </p:nvSpPr>
        <p:spPr>
          <a:xfrm flipH="false" flipV="false" rot="0">
            <a:off x="0" y="9407477"/>
            <a:ext cx="13461945" cy="846145"/>
          </a:xfrm>
          <a:custGeom>
            <a:avLst/>
            <a:gdLst/>
            <a:ahLst/>
            <a:cxnLst/>
            <a:rect r="r" b="b" t="t" l="l"/>
            <a:pathLst>
              <a:path h="846145" w="13461945">
                <a:moveTo>
                  <a:pt x="0" y="0"/>
                </a:moveTo>
                <a:lnTo>
                  <a:pt x="13461945" y="0"/>
                </a:lnTo>
                <a:lnTo>
                  <a:pt x="13461945" y="846145"/>
                </a:lnTo>
                <a:lnTo>
                  <a:pt x="0" y="846145"/>
                </a:lnTo>
                <a:lnTo>
                  <a:pt x="0" y="0"/>
                </a:lnTo>
                <a:close/>
              </a:path>
            </a:pathLst>
          </a:custGeom>
          <a:blipFill>
            <a:blip r:embed="rId5"/>
            <a:stretch>
              <a:fillRect l="0" t="-22657" r="-4334" b="-20699"/>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8972" y="411480"/>
            <a:ext cx="16459200" cy="960120"/>
            <a:chOff x="0" y="0"/>
            <a:chExt cx="21945600" cy="1280160"/>
          </a:xfrm>
        </p:grpSpPr>
        <p:sp>
          <p:nvSpPr>
            <p:cNvPr name="Freeform 3" id="3"/>
            <p:cNvSpPr/>
            <p:nvPr/>
          </p:nvSpPr>
          <p:spPr>
            <a:xfrm flipH="false" flipV="false" rot="0">
              <a:off x="0" y="0"/>
              <a:ext cx="21945600" cy="1280160"/>
            </a:xfrm>
            <a:custGeom>
              <a:avLst/>
              <a:gdLst/>
              <a:ahLst/>
              <a:cxnLst/>
              <a:rect r="r" b="b" t="t" l="l"/>
              <a:pathLst>
                <a:path h="1280160" w="21945600">
                  <a:moveTo>
                    <a:pt x="0" y="0"/>
                  </a:moveTo>
                  <a:lnTo>
                    <a:pt x="21945600" y="0"/>
                  </a:lnTo>
                  <a:lnTo>
                    <a:pt x="21945600" y="1280160"/>
                  </a:lnTo>
                  <a:lnTo>
                    <a:pt x="0" y="1280160"/>
                  </a:lnTo>
                  <a:close/>
                </a:path>
              </a:pathLst>
            </a:custGeom>
            <a:blipFill>
              <a:blip r:embed="rId3">
                <a:alphaModFix amt="0"/>
              </a:blip>
              <a:stretch>
                <a:fillRect l="0" t="-284029" r="0" b="-284029"/>
              </a:stretch>
            </a:blipFill>
          </p:spPr>
        </p:sp>
        <p:sp>
          <p:nvSpPr>
            <p:cNvPr name="TextBox 4" id="4"/>
            <p:cNvSpPr txBox="true"/>
            <p:nvPr/>
          </p:nvSpPr>
          <p:spPr>
            <a:xfrm>
              <a:off x="0" y="-66675"/>
              <a:ext cx="21945600" cy="1346835"/>
            </a:xfrm>
            <a:prstGeom prst="rect">
              <a:avLst/>
            </a:prstGeom>
          </p:spPr>
          <p:txBody>
            <a:bodyPr anchor="ctr" rtlCol="false" tIns="0" lIns="0" bIns="0" rIns="0"/>
            <a:lstStyle/>
            <a:p>
              <a:pPr algn="l">
                <a:lnSpc>
                  <a:spcPts val="4320"/>
                </a:lnSpc>
              </a:pPr>
              <a:r>
                <a:rPr lang="en-US" sz="3600" b="true">
                  <a:solidFill>
                    <a:srgbClr val="2563EB"/>
                  </a:solidFill>
                  <a:latin typeface="Calibri (MS) Bold"/>
                  <a:ea typeface="Calibri (MS) Bold"/>
                  <a:cs typeface="Calibri (MS) Bold"/>
                  <a:sym typeface="Calibri (MS) Bold"/>
                </a:rPr>
                <a:t>08  </a:t>
              </a:r>
              <a:r>
                <a:rPr lang="en-US" sz="3600" b="true">
                  <a:solidFill>
                    <a:srgbClr val="0F1F45"/>
                  </a:solidFill>
                  <a:latin typeface="Calibri (MS) Bold"/>
                  <a:ea typeface="Calibri (MS) Bold"/>
                  <a:cs typeface="Calibri (MS) Bold"/>
                  <a:sym typeface="Calibri (MS) Bold"/>
                </a:rPr>
                <a:t>Conclusion</a:t>
              </a:r>
            </a:p>
          </p:txBody>
        </p:sp>
      </p:grpSp>
      <p:sp>
        <p:nvSpPr>
          <p:cNvPr name="TextBox 5" id="5"/>
          <p:cNvSpPr txBox="true"/>
          <p:nvPr/>
        </p:nvSpPr>
        <p:spPr>
          <a:xfrm rot="0">
            <a:off x="918972" y="9476613"/>
            <a:ext cx="10972800" cy="440055"/>
          </a:xfrm>
          <a:prstGeom prst="rect">
            <a:avLst/>
          </a:prstGeom>
        </p:spPr>
        <p:txBody>
          <a:bodyPr anchor="t" rtlCol="false" tIns="0" lIns="0" bIns="0" rIns="0">
            <a:spAutoFit/>
          </a:bodyPr>
          <a:lstStyle/>
          <a:p>
            <a:pPr algn="l">
              <a:lnSpc>
                <a:spcPts val="1620"/>
              </a:lnSpc>
            </a:pPr>
            <a:r>
              <a:rPr lang="en-US" sz="1350">
                <a:solidFill>
                  <a:srgbClr val="5B6B8C"/>
                </a:solidFill>
                <a:latin typeface="Calibri (MS)"/>
                <a:ea typeface="Calibri (MS)"/>
                <a:cs typeface="Calibri (MS)"/>
                <a:sym typeface="Calibri (MS)"/>
              </a:rPr>
              <a:t>Gaurav Singh | P15 | CRPSMS | MySQL 8.0</a:t>
            </a:r>
          </a:p>
        </p:txBody>
      </p:sp>
      <p:sp>
        <p:nvSpPr>
          <p:cNvPr name="TextBox 6" id="6"/>
          <p:cNvSpPr txBox="true"/>
          <p:nvPr/>
        </p:nvSpPr>
        <p:spPr>
          <a:xfrm rot="0">
            <a:off x="15553944" y="9476613"/>
            <a:ext cx="1824228" cy="440055"/>
          </a:xfrm>
          <a:prstGeom prst="rect">
            <a:avLst/>
          </a:prstGeom>
        </p:spPr>
        <p:txBody>
          <a:bodyPr anchor="t" rtlCol="false" tIns="0" lIns="0" bIns="0" rIns="0">
            <a:spAutoFit/>
          </a:bodyPr>
          <a:lstStyle/>
          <a:p>
            <a:pPr algn="r">
              <a:lnSpc>
                <a:spcPts val="1620"/>
              </a:lnSpc>
            </a:pPr>
            <a:r>
              <a:rPr lang="en-US" sz="1350">
                <a:solidFill>
                  <a:srgbClr val="5B6B8C"/>
                </a:solidFill>
                <a:latin typeface="Calibri (MS)"/>
                <a:ea typeface="Calibri (MS)"/>
                <a:cs typeface="Calibri (MS)"/>
                <a:sym typeface="Calibri (MS)"/>
              </a:rPr>
              <a:t>8 / 8</a:t>
            </a:r>
          </a:p>
        </p:txBody>
      </p:sp>
      <p:grpSp>
        <p:nvGrpSpPr>
          <p:cNvPr name="Group 7" id="7"/>
          <p:cNvGrpSpPr/>
          <p:nvPr/>
        </p:nvGrpSpPr>
        <p:grpSpPr>
          <a:xfrm rot="0">
            <a:off x="911828" y="1775936"/>
            <a:ext cx="8038147" cy="5089208"/>
            <a:chOff x="0" y="0"/>
            <a:chExt cx="10717530" cy="6785610"/>
          </a:xfrm>
        </p:grpSpPr>
        <p:sp>
          <p:nvSpPr>
            <p:cNvPr name="Freeform 8" id="8"/>
            <p:cNvSpPr/>
            <p:nvPr/>
          </p:nvSpPr>
          <p:spPr>
            <a:xfrm flipH="false" flipV="false" rot="0">
              <a:off x="0" y="0"/>
              <a:ext cx="10717530" cy="6785610"/>
            </a:xfrm>
            <a:custGeom>
              <a:avLst/>
              <a:gdLst/>
              <a:ahLst/>
              <a:cxnLst/>
              <a:rect r="r" b="b" t="t" l="l"/>
              <a:pathLst>
                <a:path h="6785610" w="10717530">
                  <a:moveTo>
                    <a:pt x="0" y="0"/>
                  </a:moveTo>
                  <a:lnTo>
                    <a:pt x="10717530" y="0"/>
                  </a:lnTo>
                  <a:lnTo>
                    <a:pt x="10717530" y="6785610"/>
                  </a:lnTo>
                  <a:lnTo>
                    <a:pt x="0" y="6785610"/>
                  </a:lnTo>
                  <a:close/>
                </a:path>
              </a:pathLst>
            </a:custGeom>
            <a:solidFill>
              <a:srgbClr val="F0F5FF"/>
            </a:solidFill>
            <a:ln w="14288" cap="sq">
              <a:solidFill>
                <a:srgbClr val="C9D9F2"/>
              </a:solidFill>
              <a:prstDash val="solid"/>
              <a:miter/>
            </a:ln>
          </p:spPr>
        </p:sp>
      </p:grpSp>
      <p:sp>
        <p:nvSpPr>
          <p:cNvPr name="TextBox 9" id="9"/>
          <p:cNvSpPr txBox="true"/>
          <p:nvPr/>
        </p:nvSpPr>
        <p:spPr>
          <a:xfrm rot="0">
            <a:off x="1193292" y="1909572"/>
            <a:ext cx="747522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Technical Achievements</a:t>
            </a:r>
          </a:p>
        </p:txBody>
      </p:sp>
      <p:sp>
        <p:nvSpPr>
          <p:cNvPr name="TextBox 10" id="10"/>
          <p:cNvSpPr txBox="true"/>
          <p:nvPr/>
        </p:nvSpPr>
        <p:spPr>
          <a:xfrm rot="0">
            <a:off x="1234440" y="2499360"/>
            <a:ext cx="7406640" cy="4290060"/>
          </a:xfrm>
          <a:prstGeom prst="rect">
            <a:avLst/>
          </a:prstGeom>
        </p:spPr>
        <p:txBody>
          <a:bodyPr anchor="t" rtlCol="false" tIns="0" lIns="0" bIns="0" rIns="0">
            <a:spAutoFit/>
          </a:bodyPr>
          <a:lstStyle/>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Normalized relational database design</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12 core tables + audit relation</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4,029 populated records</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FIR, victim, accused, officer, court relationships</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SQL analytical queries</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ACID transaction implementation</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Automated triggers &amp; audit logging</a:t>
            </a:r>
          </a:p>
          <a:p>
            <a:pPr algn="l" marL="339328" indent="-169664" lvl="1">
              <a:lnSpc>
                <a:spcPts val="2250"/>
              </a:lnSpc>
              <a:buFont typeface="Arial"/>
              <a:buChar char="•"/>
            </a:pPr>
            <a:r>
              <a:rPr lang="en-US" sz="1875">
                <a:solidFill>
                  <a:srgbClr val="0F1F45"/>
                </a:solidFill>
                <a:latin typeface="Calibri (MS)"/>
                <a:ea typeface="Calibri (MS)"/>
                <a:cs typeface="Calibri (MS)"/>
                <a:sym typeface="Calibri (MS)"/>
              </a:rPr>
              <a:t>B-Tree indexing &amp; EXPLAIN-based optimization</a:t>
            </a:r>
          </a:p>
        </p:txBody>
      </p:sp>
      <p:grpSp>
        <p:nvGrpSpPr>
          <p:cNvPr name="Group 11" id="11"/>
          <p:cNvGrpSpPr/>
          <p:nvPr/>
        </p:nvGrpSpPr>
        <p:grpSpPr>
          <a:xfrm rot="0">
            <a:off x="9347168" y="1775936"/>
            <a:ext cx="8038147" cy="5089208"/>
            <a:chOff x="0" y="0"/>
            <a:chExt cx="10717530" cy="6785610"/>
          </a:xfrm>
        </p:grpSpPr>
        <p:sp>
          <p:nvSpPr>
            <p:cNvPr name="Freeform 12" id="12"/>
            <p:cNvSpPr/>
            <p:nvPr/>
          </p:nvSpPr>
          <p:spPr>
            <a:xfrm flipH="false" flipV="false" rot="0">
              <a:off x="0" y="0"/>
              <a:ext cx="10717530" cy="6785610"/>
            </a:xfrm>
            <a:custGeom>
              <a:avLst/>
              <a:gdLst/>
              <a:ahLst/>
              <a:cxnLst/>
              <a:rect r="r" b="b" t="t" l="l"/>
              <a:pathLst>
                <a:path h="6785610" w="10717530">
                  <a:moveTo>
                    <a:pt x="0" y="0"/>
                  </a:moveTo>
                  <a:lnTo>
                    <a:pt x="10717530" y="0"/>
                  </a:lnTo>
                  <a:lnTo>
                    <a:pt x="10717530" y="6785610"/>
                  </a:lnTo>
                  <a:lnTo>
                    <a:pt x="0" y="6785610"/>
                  </a:lnTo>
                  <a:close/>
                </a:path>
              </a:pathLst>
            </a:custGeom>
            <a:solidFill>
              <a:srgbClr val="C7DAF8"/>
            </a:solidFill>
            <a:ln w="14288" cap="sq">
              <a:solidFill>
                <a:srgbClr val="C9D9F2"/>
              </a:solidFill>
              <a:prstDash val="solid"/>
              <a:miter/>
            </a:ln>
          </p:spPr>
        </p:sp>
      </p:grpSp>
      <p:sp>
        <p:nvSpPr>
          <p:cNvPr name="TextBox 13" id="13"/>
          <p:cNvSpPr txBox="true"/>
          <p:nvPr/>
        </p:nvSpPr>
        <p:spPr>
          <a:xfrm rot="0">
            <a:off x="9628632" y="1909572"/>
            <a:ext cx="7475220" cy="449580"/>
          </a:xfrm>
          <a:prstGeom prst="rect">
            <a:avLst/>
          </a:prstGeom>
        </p:spPr>
        <p:txBody>
          <a:bodyPr anchor="t" rtlCol="false" tIns="0" lIns="0" bIns="0" rIns="0">
            <a:spAutoFit/>
          </a:bodyPr>
          <a:lstStyle/>
          <a:p>
            <a:pPr algn="l">
              <a:lnSpc>
                <a:spcPts val="2250"/>
              </a:lnSpc>
            </a:pPr>
            <a:r>
              <a:rPr lang="en-US" sz="1875" b="true">
                <a:solidFill>
                  <a:srgbClr val="2563EB"/>
                </a:solidFill>
                <a:latin typeface="Calibri (MS) Bold"/>
                <a:ea typeface="Calibri (MS) Bold"/>
                <a:cs typeface="Calibri (MS) Bold"/>
                <a:sym typeface="Calibri (MS) Bold"/>
              </a:rPr>
              <a:t>Key Takeaways</a:t>
            </a:r>
          </a:p>
        </p:txBody>
      </p:sp>
      <p:sp>
        <p:nvSpPr>
          <p:cNvPr name="TextBox 14" id="14"/>
          <p:cNvSpPr txBox="true"/>
          <p:nvPr/>
        </p:nvSpPr>
        <p:spPr>
          <a:xfrm rot="0">
            <a:off x="9669780" y="2489835"/>
            <a:ext cx="7406640" cy="4299585"/>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0F1F45"/>
                </a:solidFill>
                <a:latin typeface="Calibri (MS)"/>
                <a:ea typeface="Calibri (MS)"/>
                <a:cs typeface="Calibri (MS)"/>
                <a:sym typeface="Calibri (MS)"/>
              </a:rPr>
              <a:t>Normalization removes redundancy and improves consistency</a:t>
            </a:r>
          </a:p>
          <a:p>
            <a:pPr algn="l" marL="352901" indent="-176451" lvl="1">
              <a:lnSpc>
                <a:spcPts val="2340"/>
              </a:lnSpc>
              <a:buFont typeface="Arial"/>
              <a:buChar char="•"/>
            </a:pPr>
            <a:r>
              <a:rPr lang="en-US" sz="1950">
                <a:solidFill>
                  <a:srgbClr val="0F1F45"/>
                </a:solidFill>
                <a:latin typeface="Calibri (MS)"/>
                <a:ea typeface="Calibri (MS)"/>
                <a:cs typeface="Calibri (MS)"/>
                <a:sym typeface="Calibri (MS)"/>
              </a:rPr>
              <a:t>Transactions and triggers keep case data reliable and auditable</a:t>
            </a:r>
          </a:p>
          <a:p>
            <a:pPr algn="l" marL="352901" indent="-176451" lvl="1">
              <a:lnSpc>
                <a:spcPts val="2340"/>
              </a:lnSpc>
              <a:buFont typeface="Arial"/>
              <a:buChar char="•"/>
            </a:pPr>
            <a:r>
              <a:rPr lang="en-US" sz="1950">
                <a:solidFill>
                  <a:srgbClr val="0F1F45"/>
                </a:solidFill>
                <a:latin typeface="Calibri (MS)"/>
                <a:ea typeface="Calibri (MS)"/>
                <a:cs typeface="Calibri (MS)"/>
                <a:sym typeface="Calibri (MS)"/>
              </a:rPr>
              <a:t>Joins and analytical SQL turn records into station and case insights</a:t>
            </a:r>
          </a:p>
          <a:p>
            <a:pPr algn="l" marL="352901" indent="-176451" lvl="1">
              <a:lnSpc>
                <a:spcPts val="2340"/>
              </a:lnSpc>
              <a:buFont typeface="Arial"/>
              <a:buChar char="•"/>
            </a:pPr>
            <a:r>
              <a:rPr lang="en-US" sz="1950">
                <a:solidFill>
                  <a:srgbClr val="0F1F45"/>
                </a:solidFill>
                <a:latin typeface="Calibri (MS)"/>
                <a:ea typeface="Calibri (MS)"/>
                <a:cs typeface="Calibri (MS)"/>
                <a:sym typeface="Calibri (MS)"/>
              </a:rPr>
              <a:t>Composite B-Tree indexing speeds up date and division queries</a:t>
            </a:r>
          </a:p>
        </p:txBody>
      </p:sp>
      <p:grpSp>
        <p:nvGrpSpPr>
          <p:cNvPr name="Group 15" id="15"/>
          <p:cNvGrpSpPr/>
          <p:nvPr/>
        </p:nvGrpSpPr>
        <p:grpSpPr>
          <a:xfrm rot="0">
            <a:off x="911828" y="7193756"/>
            <a:ext cx="12495848" cy="2071688"/>
            <a:chOff x="0" y="0"/>
            <a:chExt cx="16661130" cy="2762250"/>
          </a:xfrm>
        </p:grpSpPr>
        <p:sp>
          <p:nvSpPr>
            <p:cNvPr name="Freeform 16" id="16"/>
            <p:cNvSpPr/>
            <p:nvPr/>
          </p:nvSpPr>
          <p:spPr>
            <a:xfrm flipH="false" flipV="false" rot="0">
              <a:off x="0" y="0"/>
              <a:ext cx="16661130" cy="2762250"/>
            </a:xfrm>
            <a:custGeom>
              <a:avLst/>
              <a:gdLst/>
              <a:ahLst/>
              <a:cxnLst/>
              <a:rect r="r" b="b" t="t" l="l"/>
              <a:pathLst>
                <a:path h="2762250" w="16661130">
                  <a:moveTo>
                    <a:pt x="0" y="0"/>
                  </a:moveTo>
                  <a:lnTo>
                    <a:pt x="16661130" y="0"/>
                  </a:lnTo>
                  <a:lnTo>
                    <a:pt x="16661130" y="2762250"/>
                  </a:lnTo>
                  <a:lnTo>
                    <a:pt x="0" y="2762250"/>
                  </a:lnTo>
                  <a:close/>
                </a:path>
              </a:pathLst>
            </a:custGeom>
            <a:solidFill>
              <a:srgbClr val="F0F5FF"/>
            </a:solidFill>
            <a:ln w="14288" cap="sq">
              <a:solidFill>
                <a:srgbClr val="C9D9F2"/>
              </a:solidFill>
              <a:prstDash val="solid"/>
              <a:miter/>
            </a:ln>
          </p:spPr>
        </p:sp>
      </p:grpSp>
      <p:grpSp>
        <p:nvGrpSpPr>
          <p:cNvPr name="Group 17" id="17"/>
          <p:cNvGrpSpPr/>
          <p:nvPr/>
        </p:nvGrpSpPr>
        <p:grpSpPr>
          <a:xfrm rot="0">
            <a:off x="1303020" y="7200900"/>
            <a:ext cx="11727180" cy="2057400"/>
            <a:chOff x="0" y="0"/>
            <a:chExt cx="15636240" cy="2743200"/>
          </a:xfrm>
        </p:grpSpPr>
        <p:sp>
          <p:nvSpPr>
            <p:cNvPr name="Freeform 18" id="18"/>
            <p:cNvSpPr/>
            <p:nvPr/>
          </p:nvSpPr>
          <p:spPr>
            <a:xfrm flipH="false" flipV="false" rot="0">
              <a:off x="0" y="0"/>
              <a:ext cx="15636239" cy="2743200"/>
            </a:xfrm>
            <a:custGeom>
              <a:avLst/>
              <a:gdLst/>
              <a:ahLst/>
              <a:cxnLst/>
              <a:rect r="r" b="b" t="t" l="l"/>
              <a:pathLst>
                <a:path h="2743200" w="15636239">
                  <a:moveTo>
                    <a:pt x="0" y="0"/>
                  </a:moveTo>
                  <a:lnTo>
                    <a:pt x="15636239" y="0"/>
                  </a:lnTo>
                  <a:lnTo>
                    <a:pt x="15636239" y="2743200"/>
                  </a:lnTo>
                  <a:lnTo>
                    <a:pt x="0" y="2743200"/>
                  </a:lnTo>
                  <a:close/>
                </a:path>
              </a:pathLst>
            </a:custGeom>
            <a:blipFill>
              <a:blip r:embed="rId3">
                <a:alphaModFix amt="0"/>
              </a:blip>
              <a:stretch>
                <a:fillRect l="0" t="-61064" r="0" b="-61064"/>
              </a:stretch>
            </a:blipFill>
          </p:spPr>
        </p:sp>
        <p:sp>
          <p:nvSpPr>
            <p:cNvPr name="TextBox 19" id="19"/>
            <p:cNvSpPr txBox="true"/>
            <p:nvPr/>
          </p:nvSpPr>
          <p:spPr>
            <a:xfrm>
              <a:off x="0" y="-38100"/>
              <a:ext cx="15636240" cy="2781300"/>
            </a:xfrm>
            <a:prstGeom prst="rect">
              <a:avLst/>
            </a:prstGeom>
          </p:spPr>
          <p:txBody>
            <a:bodyPr anchor="ctr" rtlCol="false" tIns="0" lIns="0" bIns="0" rIns="0"/>
            <a:lstStyle/>
            <a:p>
              <a:pPr algn="l">
                <a:lnSpc>
                  <a:spcPts val="2430"/>
                </a:lnSpc>
              </a:pPr>
              <a:r>
                <a:rPr lang="en-US" sz="2025" i="true">
                  <a:solidFill>
                    <a:srgbClr val="0F1F45"/>
                  </a:solidFill>
                  <a:latin typeface="Calibri (MS) Italics"/>
                  <a:ea typeface="Calibri (MS) Italics"/>
                  <a:cs typeface="Calibri (MS) Italics"/>
                  <a:sym typeface="Calibri (MS) Italics"/>
                </a:rPr>
                <a:t>“CRPSMS demonstrates how relational database design, SQL analytics, transaction management and query optimization can transform raw crime records into a structured and reliable information system.”</a:t>
              </a:r>
            </a:p>
          </p:txBody>
        </p:sp>
      </p:grpSp>
      <p:grpSp>
        <p:nvGrpSpPr>
          <p:cNvPr name="Group 20" id="20"/>
          <p:cNvGrpSpPr/>
          <p:nvPr/>
        </p:nvGrpSpPr>
        <p:grpSpPr>
          <a:xfrm rot="0">
            <a:off x="13665327" y="7191375"/>
            <a:ext cx="3722370" cy="2076450"/>
            <a:chOff x="0" y="0"/>
            <a:chExt cx="4963160" cy="2768600"/>
          </a:xfrm>
        </p:grpSpPr>
        <p:sp>
          <p:nvSpPr>
            <p:cNvPr name="Freeform 21" id="21"/>
            <p:cNvSpPr/>
            <p:nvPr/>
          </p:nvSpPr>
          <p:spPr>
            <a:xfrm flipH="false" flipV="false" rot="0">
              <a:off x="0" y="0"/>
              <a:ext cx="4963160" cy="2768600"/>
            </a:xfrm>
            <a:custGeom>
              <a:avLst/>
              <a:gdLst/>
              <a:ahLst/>
              <a:cxnLst/>
              <a:rect r="r" b="b" t="t" l="l"/>
              <a:pathLst>
                <a:path h="2768600" w="4963160">
                  <a:moveTo>
                    <a:pt x="0" y="184531"/>
                  </a:moveTo>
                  <a:cubicBezTo>
                    <a:pt x="0" y="82677"/>
                    <a:pt x="82677" y="0"/>
                    <a:pt x="184531" y="0"/>
                  </a:cubicBezTo>
                  <a:lnTo>
                    <a:pt x="4778629" y="0"/>
                  </a:lnTo>
                  <a:cubicBezTo>
                    <a:pt x="4880610" y="0"/>
                    <a:pt x="4963160" y="82677"/>
                    <a:pt x="4963160" y="184531"/>
                  </a:cubicBezTo>
                  <a:lnTo>
                    <a:pt x="4963160" y="2584069"/>
                  </a:lnTo>
                  <a:cubicBezTo>
                    <a:pt x="4963160" y="2686050"/>
                    <a:pt x="4880483" y="2768600"/>
                    <a:pt x="4778629" y="2768600"/>
                  </a:cubicBezTo>
                  <a:lnTo>
                    <a:pt x="184531" y="2768600"/>
                  </a:lnTo>
                  <a:cubicBezTo>
                    <a:pt x="82677" y="2768600"/>
                    <a:pt x="0" y="2685923"/>
                    <a:pt x="0" y="2584069"/>
                  </a:cubicBezTo>
                  <a:close/>
                </a:path>
              </a:pathLst>
            </a:custGeom>
            <a:solidFill>
              <a:srgbClr val="2563EB"/>
            </a:solidFill>
            <a:ln w="19050" cap="sq">
              <a:solidFill>
                <a:srgbClr val="1D4ED8"/>
              </a:solidFill>
              <a:prstDash val="solid"/>
              <a:miter/>
            </a:ln>
          </p:spPr>
        </p:sp>
      </p:grpSp>
      <p:grpSp>
        <p:nvGrpSpPr>
          <p:cNvPr name="Group 22" id="22"/>
          <p:cNvGrpSpPr/>
          <p:nvPr/>
        </p:nvGrpSpPr>
        <p:grpSpPr>
          <a:xfrm rot="0">
            <a:off x="13674852" y="7200900"/>
            <a:ext cx="3703320" cy="2057400"/>
            <a:chOff x="0" y="0"/>
            <a:chExt cx="4937760" cy="2743200"/>
          </a:xfrm>
        </p:grpSpPr>
        <p:sp>
          <p:nvSpPr>
            <p:cNvPr name="Freeform 23" id="23"/>
            <p:cNvSpPr/>
            <p:nvPr/>
          </p:nvSpPr>
          <p:spPr>
            <a:xfrm flipH="false" flipV="false" rot="0">
              <a:off x="0" y="0"/>
              <a:ext cx="4937760" cy="2743200"/>
            </a:xfrm>
            <a:custGeom>
              <a:avLst/>
              <a:gdLst/>
              <a:ahLst/>
              <a:cxnLst/>
              <a:rect r="r" b="b" t="t" l="l"/>
              <a:pathLst>
                <a:path h="2743200" w="4937760">
                  <a:moveTo>
                    <a:pt x="0" y="0"/>
                  </a:moveTo>
                  <a:lnTo>
                    <a:pt x="4937760" y="0"/>
                  </a:lnTo>
                  <a:lnTo>
                    <a:pt x="4937760" y="2743200"/>
                  </a:lnTo>
                  <a:lnTo>
                    <a:pt x="0" y="2743200"/>
                  </a:lnTo>
                  <a:close/>
                </a:path>
              </a:pathLst>
            </a:custGeom>
            <a:blipFill>
              <a:blip r:embed="rId3">
                <a:alphaModFix amt="0"/>
              </a:blip>
              <a:stretch>
                <a:fillRect l="-21279" t="0" r="-21279" b="0"/>
              </a:stretch>
            </a:blipFill>
          </p:spPr>
        </p:sp>
        <p:sp>
          <p:nvSpPr>
            <p:cNvPr name="TextBox 24" id="24"/>
            <p:cNvSpPr txBox="true"/>
            <p:nvPr/>
          </p:nvSpPr>
          <p:spPr>
            <a:xfrm>
              <a:off x="0" y="-66675"/>
              <a:ext cx="4937760" cy="2809875"/>
            </a:xfrm>
            <a:prstGeom prst="rect">
              <a:avLst/>
            </a:prstGeom>
          </p:spPr>
          <p:txBody>
            <a:bodyPr anchor="ctr" rtlCol="false" tIns="0" lIns="0" bIns="0" rIns="0"/>
            <a:lstStyle/>
            <a:p>
              <a:pPr algn="ctr">
                <a:lnSpc>
                  <a:spcPts val="3960"/>
                </a:lnSpc>
              </a:pPr>
              <a:r>
                <a:rPr lang="en-US" sz="3300" b="true">
                  <a:solidFill>
                    <a:srgbClr val="FFFFFF"/>
                  </a:solidFill>
                  <a:latin typeface="Calibri (MS) Bold"/>
                  <a:ea typeface="Calibri (MS) Bold"/>
                  <a:cs typeface="Calibri (MS) Bold"/>
                  <a:sym typeface="Calibri (MS) Bold"/>
                </a:rPr>
                <a:t>THANK YOU</a:t>
              </a:r>
            </a:p>
          </p:txBody>
        </p:sp>
      </p:grpSp>
      <p:sp>
        <p:nvSpPr>
          <p:cNvPr name="Freeform 25" id="25"/>
          <p:cNvSpPr/>
          <p:nvPr/>
        </p:nvSpPr>
        <p:spPr>
          <a:xfrm flipH="false" flipV="false" rot="0">
            <a:off x="16247050" y="152298"/>
            <a:ext cx="1933060" cy="1006418"/>
          </a:xfrm>
          <a:custGeom>
            <a:avLst/>
            <a:gdLst/>
            <a:ahLst/>
            <a:cxnLst/>
            <a:rect r="r" b="b" t="t" l="l"/>
            <a:pathLst>
              <a:path h="1006418" w="1933060">
                <a:moveTo>
                  <a:pt x="0" y="0"/>
                </a:moveTo>
                <a:lnTo>
                  <a:pt x="1933060" y="0"/>
                </a:lnTo>
                <a:lnTo>
                  <a:pt x="1933060" y="1006418"/>
                </a:lnTo>
                <a:lnTo>
                  <a:pt x="0" y="1006418"/>
                </a:lnTo>
                <a:lnTo>
                  <a:pt x="0" y="0"/>
                </a:lnTo>
                <a:close/>
              </a:path>
            </a:pathLst>
          </a:custGeom>
          <a:blipFill>
            <a:blip r:embed="rId4"/>
            <a:stretch>
              <a:fillRect l="0" t="0" r="0" b="0"/>
            </a:stretch>
          </a:blipFill>
        </p:spPr>
      </p:sp>
      <p:sp>
        <p:nvSpPr>
          <p:cNvPr name="Freeform 26" id="26"/>
          <p:cNvSpPr/>
          <p:nvPr/>
        </p:nvSpPr>
        <p:spPr>
          <a:xfrm flipH="false" flipV="false" rot="0">
            <a:off x="0" y="9407477"/>
            <a:ext cx="13461945" cy="846145"/>
          </a:xfrm>
          <a:custGeom>
            <a:avLst/>
            <a:gdLst/>
            <a:ahLst/>
            <a:cxnLst/>
            <a:rect r="r" b="b" t="t" l="l"/>
            <a:pathLst>
              <a:path h="846145" w="13461945">
                <a:moveTo>
                  <a:pt x="0" y="0"/>
                </a:moveTo>
                <a:lnTo>
                  <a:pt x="13461945" y="0"/>
                </a:lnTo>
                <a:lnTo>
                  <a:pt x="13461945" y="846145"/>
                </a:lnTo>
                <a:lnTo>
                  <a:pt x="0" y="846145"/>
                </a:lnTo>
                <a:lnTo>
                  <a:pt x="0" y="0"/>
                </a:lnTo>
                <a:close/>
              </a:path>
            </a:pathLst>
          </a:custGeom>
          <a:blipFill>
            <a:blip r:embed="rId5"/>
            <a:stretch>
              <a:fillRect l="0" t="-22657" r="-4334" b="-20699"/>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DAHWE3AolLk</dc:identifier>
  <dcterms:modified xsi:type="dcterms:W3CDTF">2011-08-01T06:04:30Z</dcterms:modified>
  <cp:revision>1</cp:revision>
  <dc:title>CRPSMS_Presentation_Mixed.pptx</dc:title>
</cp:coreProperties>
</file>