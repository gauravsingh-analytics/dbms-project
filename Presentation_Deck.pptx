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226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018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0624" y="144977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 Record &amp; Police Station Management System 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SQL-Based Relational Database, Analytics &amp; Query Optimization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Roll No: P15 | T.Y. B.Tech CSE (Data Science)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– 23UDSPCL3508 | Faculty: Mr. Chinmay Mukim | MySQL 8.0 / InnoDB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943600" cy="2148840"/>
          </a:xfrm>
          <a:prstGeom prst="roundRect">
            <a:avLst>
              <a:gd name="adj" fmla="val 2553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66928" y="1709928"/>
            <a:ext cx="572414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crime records contain redundancy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Repeating crime-code attributes make querying difficult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FIR, victim, accused, officer and court relationships are hard to manage in a flat structure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case-status management can create inconsistency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datasets require indexing and query optimization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5943600" cy="685800"/>
          </a:xfrm>
          <a:prstGeom prst="roundRect">
            <a:avLst>
              <a:gd name="adj" fmla="val 80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6928" y="3995928"/>
            <a:ext cx="57241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relational database supporting transactions, analytics, auditing and optimized queries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0" y="457200"/>
            <a:ext cx="1828800" cy="548640"/>
          </a:xfrm>
          <a:prstGeom prst="roundRect">
            <a:avLst>
              <a:gd name="adj" fmla="val 10000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894576" y="45720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CRIME DATA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72400" y="1005840"/>
            <a:ext cx="0" cy="256032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858000" y="1261872"/>
            <a:ext cx="1828800" cy="548640"/>
          </a:xfrm>
          <a:prstGeom prst="roundRect">
            <a:avLst>
              <a:gd name="adj" fmla="val 10000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894576" y="1261872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0" y="1810512"/>
            <a:ext cx="0" cy="256032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58000" y="2066544"/>
            <a:ext cx="1828800" cy="548640"/>
          </a:xfrm>
          <a:prstGeom prst="roundRect">
            <a:avLst>
              <a:gd name="adj" fmla="val 10000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894576" y="2066544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72400" y="2615184"/>
            <a:ext cx="0" cy="256032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58000" y="2871216"/>
            <a:ext cx="1828800" cy="548640"/>
          </a:xfrm>
          <a:prstGeom prst="roundRect">
            <a:avLst>
              <a:gd name="adj" fmla="val 10000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6894576" y="2871216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QUERIES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72400" y="3419856"/>
            <a:ext cx="0" cy="256032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58000" y="3675888"/>
            <a:ext cx="1828800" cy="548640"/>
          </a:xfrm>
          <a:prstGeom prst="roundRect">
            <a:avLst>
              <a:gd name="adj" fmla="val 10000"/>
            </a:avLst>
          </a:prstGeom>
          <a:solidFill>
            <a:srgbClr val="163A78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894576" y="367588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+ OPTIMIZATION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Engineering &amp; Criminal Justice Workflow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783080"/>
          </a:xfrm>
          <a:prstGeom prst="roundRect">
            <a:avLst>
              <a:gd name="adj" fmla="val 3077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92295" y="1133856"/>
            <a:ext cx="380390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Los Angeles Open Data Portal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LAPD Crime Data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2020–2024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LAPD geographical divisions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structure: flat / denormalized records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783080"/>
          </a:xfrm>
          <a:prstGeom prst="roundRect">
            <a:avLst>
              <a:gd name="adj" fmla="val 3077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773168" y="1069848"/>
            <a:ext cx="380390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Raw-Data Problems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Repeating crime-code columns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master-data descriptions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dependencies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investigation / judicial relationships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26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CRIMINAL JUSTICE WORKFLOW (conceptual)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749808" cy="868680"/>
          </a:xfrm>
          <a:prstGeom prst="roundRect">
            <a:avLst>
              <a:gd name="adj" fmla="val 7317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93776" y="3246120"/>
            <a:ext cx="676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207008" y="3680460"/>
            <a:ext cx="18288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89888" y="3246120"/>
            <a:ext cx="749808" cy="868680"/>
          </a:xfrm>
          <a:prstGeom prst="roundRect">
            <a:avLst>
              <a:gd name="adj" fmla="val 7317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1426464" y="3246120"/>
            <a:ext cx="676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139696" y="3680460"/>
            <a:ext cx="18288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322576" y="3246120"/>
            <a:ext cx="749808" cy="868680"/>
          </a:xfrm>
          <a:prstGeom prst="roundRect">
            <a:avLst>
              <a:gd name="adj" fmla="val 7317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2359152" y="3246120"/>
            <a:ext cx="676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Station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072384" y="3680460"/>
            <a:ext cx="18288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55264" y="3246120"/>
            <a:ext cx="749808" cy="868680"/>
          </a:xfrm>
          <a:prstGeom prst="roundRect">
            <a:avLst>
              <a:gd name="adj" fmla="val 7317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3291840" y="3246120"/>
            <a:ext cx="676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05072" y="3680460"/>
            <a:ext cx="18288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87952" y="3246120"/>
            <a:ext cx="749808" cy="868680"/>
          </a:xfrm>
          <a:prstGeom prst="roundRect">
            <a:avLst>
              <a:gd name="adj" fmla="val 7317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4224528" y="3246120"/>
            <a:ext cx="676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/ Crime Classification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937760" y="3680460"/>
            <a:ext cx="18288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120640" y="3246120"/>
            <a:ext cx="749808" cy="868680"/>
          </a:xfrm>
          <a:prstGeom prst="roundRect">
            <a:avLst>
              <a:gd name="adj" fmla="val 7317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5157216" y="3246120"/>
            <a:ext cx="676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Accused / Arrest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870448" y="3680460"/>
            <a:ext cx="18288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053328" y="3246120"/>
            <a:ext cx="749808" cy="868680"/>
          </a:xfrm>
          <a:prstGeom prst="roundRect">
            <a:avLst>
              <a:gd name="adj" fmla="val 7317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6089904" y="3246120"/>
            <a:ext cx="676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Case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03136" y="3680460"/>
            <a:ext cx="18288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986016" y="3246120"/>
            <a:ext cx="749808" cy="868680"/>
          </a:xfrm>
          <a:prstGeom prst="roundRect">
            <a:avLst>
              <a:gd name="adj" fmla="val 7317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7022592" y="3246120"/>
            <a:ext cx="676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35824" y="3680460"/>
            <a:ext cx="18288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918704" y="3246120"/>
            <a:ext cx="749808" cy="868680"/>
          </a:xfrm>
          <a:prstGeom prst="roundRect">
            <a:avLst>
              <a:gd name="adj" fmla="val 7317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 txBox="1"/>
          <p:nvPr/>
        </p:nvSpPr>
        <p:spPr>
          <a:xfrm>
            <a:off x="7955280" y="3246120"/>
            <a:ext cx="676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DBMS project built on public crime-data records; not an operational police system.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Architecture: UNF → 1NF → 2NF → 3NF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93776" y="100584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UNNORMALIZED TABLE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45920" y="1508760"/>
            <a:ext cx="0" cy="27432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93776" y="17830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1NF: Atomic attributes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45920" y="2286000"/>
            <a:ext cx="0" cy="27432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93776" y="256032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2NF: Remove partial dependencies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645920" y="3063240"/>
            <a:ext cx="0" cy="27432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93776" y="33375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3NF: Remove transitive dependencies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645920" y="3840480"/>
            <a:ext cx="0" cy="27432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163A78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493776" y="411480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CRPSMS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108960" y="100584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3218688" y="1069848"/>
            <a:ext cx="252374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repeating / multi-valued crime-code columns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005840"/>
            <a:ext cx="2743200" cy="1234440"/>
          </a:xfrm>
          <a:prstGeom prst="roundRect">
            <a:avLst>
              <a:gd name="adj" fmla="val 3704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6035040" y="105156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Instead of: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Crm_Cd_1, Crm_Cd_2,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Crm_Cd_3, Crm_Cd_4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FIR_CrimeType(DR_NO, Crm_Cd)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108960" y="2377440"/>
            <a:ext cx="2743200" cy="1325880"/>
          </a:xfrm>
          <a:prstGeom prst="roundRect">
            <a:avLst>
              <a:gd name="adj" fmla="val 4138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3218688" y="2441448"/>
            <a:ext cx="252374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partial dependencies from composite-key relationships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0" y="2377440"/>
            <a:ext cx="2743200" cy="1325880"/>
          </a:xfrm>
          <a:prstGeom prst="roundRect">
            <a:avLst>
              <a:gd name="adj" fmla="val 4138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6053328" y="2441448"/>
            <a:ext cx="252374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transitive dependencies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data separated: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154680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612648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DR_NO → AREA → AREA_NAME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PoliceStation(AREA, AREA_NAME)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108960" y="3840480"/>
            <a:ext cx="5577840" cy="777240"/>
          </a:xfrm>
          <a:prstGeom prst="roundRect">
            <a:avLst>
              <a:gd name="adj" fmla="val 7059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3218688" y="3904488"/>
            <a:ext cx="535838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redundancy • Improved consistency • Better maintainability • Lossless decomposition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Entities &amp; Core Functional Modules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188720" y="3108960"/>
            <a:ext cx="0" cy="73152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828800" y="2880360"/>
            <a:ext cx="137160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 flipV="1">
            <a:off x="4480560" y="1280160"/>
            <a:ext cx="1280160" cy="160020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flipV="1">
            <a:off x="4480560" y="1920240"/>
            <a:ext cx="1280160" cy="96012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80560" y="2880360"/>
            <a:ext cx="128016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040880" y="2880360"/>
            <a:ext cx="36576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840480" y="1828800"/>
            <a:ext cx="0" cy="82296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840480" y="3108960"/>
            <a:ext cx="0" cy="73152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80560" y="4069080"/>
            <a:ext cx="128016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0" y="137160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334E7A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3236976" y="13716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CrimeAuditLog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0" y="26517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3236976" y="265176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00400" y="384048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3236976" y="3840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FIR_CrimeType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26517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0E7490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585216" y="265176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PoliceStation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0E7490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585216" y="3840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760720" y="10515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4338CA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5797296" y="105156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760720" y="169164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4338CA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5797296" y="169164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Accused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760720" y="26517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0F5F8A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5797296" y="265176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CourtCase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760720" y="384048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5797296" y="3840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CrimeType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406640" y="26517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0F5F8A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7443216" y="265176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480560" y="43159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 ↔ CrimeType via FIR_CrimeType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Mgmt: 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FIR, CrimeType, FIR_CrimeType, Premises, Weapon   </a:t>
            </a:r>
            <a:r>
              <a:rPr lang="en-US" sz="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Personnel: 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PoliceStation, Officer
</a:t>
            </a:r>
            <a:r>
              <a:rPr lang="en-US" sz="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&amp; Investigation: 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Victim, Accused   </a:t>
            </a:r>
            <a:r>
              <a:rPr lang="en-US" sz="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Judicial: 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CourtCase, Court, CaseStatus   </a:t>
            </a:r>
            <a:r>
              <a:rPr lang="en-US" sz="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CrimeAuditLog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53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ER-style diagram. Premises, Weapon, CaseStatus: relationships not shown.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Population &amp; Data Quality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206240" cy="1051560"/>
          </a:xfrm>
          <a:prstGeom prst="roundRect">
            <a:avLst>
              <a:gd name="adj" fmla="val 5217"/>
            </a:avLst>
          </a:prstGeom>
          <a:solidFill>
            <a:srgbClr val="163A78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100584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4,029</a:t>
            </a:r>
            <a:endParaRPr lang="en-US" sz="38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 • 12 CORE RELATIONAL TABLES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66928" y="2258568"/>
            <a:ext cx="398678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Data-Integrity Mechanisms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Keys • Foreign Keys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constraints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Referential integrity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validation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status values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4206240" cy="365760"/>
          </a:xfrm>
          <a:prstGeom prst="roundRect">
            <a:avLst>
              <a:gd name="adj" fmla="val 12500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3977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(Date_Rptd &gt;= Date_Occ)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34340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tables (e.g., Court, CaseStatus) are intentionally small.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005840"/>
          <a:ext cx="3657600" cy="332841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8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8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CourtCase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FIR_CrimeType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PoliceStation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CrimeType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Weapon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A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18288" marB="18288">
                    <a:lnL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A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Analytics: From Records to Insights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560320" cy="1097280"/>
          </a:xfrm>
          <a:prstGeom prst="roundRect">
            <a:avLst>
              <a:gd name="adj" fmla="val 50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1069848"/>
            <a:ext cx="23408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Analytics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 count by police station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cases by division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workload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560320" cy="1097280"/>
          </a:xfrm>
          <a:prstGeom prst="roundRect">
            <a:avLst>
              <a:gd name="adj" fmla="val 50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66928" y="2258568"/>
            <a:ext cx="23408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 Analytics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Crime-type frequency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by division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Premises &amp; weapon analysis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2560320" cy="1097280"/>
          </a:xfrm>
          <a:prstGeom prst="roundRect">
            <a:avLst>
              <a:gd name="adj" fmla="val 50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23408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Analytics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distributions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Age-group analysis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Division-level comparisons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005840"/>
            <a:ext cx="3108960" cy="2331720"/>
          </a:xfrm>
          <a:prstGeom prst="roundRect">
            <a:avLst>
              <a:gd name="adj" fmla="val 1961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291840" y="1051560"/>
            <a:ext cx="29260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ps.AREA_NAME,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COUNT(f.DR_NO) AS Total_FIRs,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SUM(CASE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WHEN f.Status = 'AA' THEN 1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END) AS Cleared_Cases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FIR f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PoliceStation ps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 f.AREA = ps.AREA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ps.AREA_NAME;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0" y="347472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3310128" y="3538728"/>
            <a:ext cx="28895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• GROUP BY • COUNT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aggregation (CASE)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generation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10058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(conceptual – no results shown)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92240" y="1280160"/>
            <a:ext cx="1051560" cy="914400"/>
          </a:xfrm>
          <a:prstGeom prst="roundRect">
            <a:avLst>
              <a:gd name="adj" fmla="val 60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6601968" y="1344168"/>
            <a:ext cx="832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FIRs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COUNT(f.DR_NO)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635240" y="1280160"/>
            <a:ext cx="1051560" cy="914400"/>
          </a:xfrm>
          <a:prstGeom prst="roundRect">
            <a:avLst>
              <a:gd name="adj" fmla="val 60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744968" y="1344168"/>
            <a:ext cx="832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Cases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SUM(CASE … 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92240" y="2286000"/>
            <a:ext cx="1051560" cy="914400"/>
          </a:xfrm>
          <a:prstGeom prst="roundRect">
            <a:avLst>
              <a:gd name="adj" fmla="val 60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6601968" y="2350008"/>
            <a:ext cx="832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Cases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Status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35240" y="2286000"/>
            <a:ext cx="1051560" cy="914400"/>
          </a:xfrm>
          <a:prstGeom prst="roundRect">
            <a:avLst>
              <a:gd name="adj" fmla="val 60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7744968" y="2350008"/>
            <a:ext cx="832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Station-wise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AREA_NAME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92240" y="3291840"/>
            <a:ext cx="2194560" cy="1280160"/>
          </a:xfrm>
          <a:prstGeom prst="roundRect">
            <a:avLst>
              <a:gd name="adj" fmla="val 4286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6601968" y="3355848"/>
            <a:ext cx="19751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→ KPI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from JOINed tables feed each tile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Judicial Case Lifecycle &amp; SQL-Based Case Aging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93776" y="100584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45920" y="1257300"/>
            <a:ext cx="219456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65376" y="100584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1901952" y="100584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54096" y="1257300"/>
            <a:ext cx="219456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73552" y="100584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310128" y="100584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Arrest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462272" y="1257300"/>
            <a:ext cx="219456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81728" y="100584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718304" y="100584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Filing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870448" y="1257300"/>
            <a:ext cx="219456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89904" y="100584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126480" y="100584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278624" y="1257300"/>
            <a:ext cx="219456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498080" y="100584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7534656" y="100584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1783080"/>
            <a:ext cx="2377440" cy="2788920"/>
          </a:xfrm>
          <a:prstGeom prst="roundRect">
            <a:avLst>
              <a:gd name="adj" fmla="val 2308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566928" y="1847088"/>
            <a:ext cx="2157984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court cases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cases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Litigation duration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Arrest-to-filing duration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aging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17520" y="1783080"/>
            <a:ext cx="3291840" cy="1508760"/>
          </a:xfrm>
          <a:prstGeom prst="roundRect">
            <a:avLst>
              <a:gd name="adj" fmla="val 3030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3108960" y="182880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CaseID,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FilingDate,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VerdictDate,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DATEDIFF(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COALESCE(VerdictDate, CURDATE()),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FilingDate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AS Litigation_Days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CourtCase;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342900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3127248" y="3493008"/>
            <a:ext cx="30723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DATEDIFF(): days between two dates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COALESCE(): uses CURDATE() when VerdictDate is NULL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aging of pending cases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1783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CASE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492240" y="2011680"/>
            <a:ext cx="640080" cy="548640"/>
          </a:xfrm>
          <a:prstGeom prst="roundRect">
            <a:avLst>
              <a:gd name="adj" fmla="val 10000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6528816" y="201168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 DATE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2286000"/>
            <a:ext cx="13716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269480" y="2011680"/>
            <a:ext cx="640080" cy="548640"/>
          </a:xfrm>
          <a:prstGeom prst="roundRect">
            <a:avLst>
              <a:gd name="adj" fmla="val 10000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7306056" y="201168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HEARINGS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909560" y="2286000"/>
            <a:ext cx="13716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8046720" y="2011680"/>
            <a:ext cx="640080" cy="548640"/>
          </a:xfrm>
          <a:prstGeom prst="roundRect">
            <a:avLst>
              <a:gd name="adj" fmla="val 10000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 txBox="1"/>
          <p:nvPr/>
        </p:nvSpPr>
        <p:spPr>
          <a:xfrm>
            <a:off x="8083296" y="201168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27889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CASE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92240" y="301752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 txBox="1"/>
          <p:nvPr/>
        </p:nvSpPr>
        <p:spPr>
          <a:xfrm>
            <a:off x="6528816" y="3017520"/>
            <a:ext cx="841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 DATE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406640" y="3291840"/>
            <a:ext cx="365760" cy="0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772400" y="301752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163A78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 txBox="1"/>
          <p:nvPr/>
        </p:nvSpPr>
        <p:spPr>
          <a:xfrm>
            <a:off x="7808976" y="3017520"/>
            <a:ext cx="841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DATE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for operational monitoring and case-management analytics.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Integrity &amp; Automated Database Logic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11680" cy="1188720"/>
          </a:xfrm>
          <a:prstGeom prst="roundRect">
            <a:avLst>
              <a:gd name="adj" fmla="val 4615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1069848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Atomicity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related FIR operations succeed or fail together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05840"/>
            <a:ext cx="2011680" cy="1188720"/>
          </a:xfrm>
          <a:prstGeom prst="roundRect">
            <a:avLst>
              <a:gd name="adj" fmla="val 4615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2670048" y="1069848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maintain valid database states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2011680" cy="1188720"/>
          </a:xfrm>
          <a:prstGeom prst="roundRect">
            <a:avLst>
              <a:gd name="adj" fmla="val 4615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6928" y="2350008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transactions are isolated appropriately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2286000"/>
            <a:ext cx="2011680" cy="1188720"/>
          </a:xfrm>
          <a:prstGeom prst="roundRect">
            <a:avLst>
              <a:gd name="adj" fmla="val 4615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2670048" y="2350008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changes survive failures via database recovery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4114800" cy="1005840"/>
          </a:xfrm>
          <a:prstGeom prst="roundRect">
            <a:avLst>
              <a:gd name="adj" fmla="val 4545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548640" y="3657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TRANSACTION;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 Insert FIR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 Insert Victim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 Insert FIR_CrimeType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COMMIT;   -- success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ROLLBACK; -- failure path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9601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EVENT CHAIN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937760" y="123444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4974336" y="123444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Accused Arrest</a:t>
            </a:r>
            <a:endParaRPr lang="en-US" sz="95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Automation Trigger fires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12280" y="1874520"/>
            <a:ext cx="0" cy="246888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937760" y="2121408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4974336" y="2121408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 Status Update</a:t>
            </a:r>
            <a:endParaRPr lang="en-US" sz="95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 status changes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12280" y="2761488"/>
            <a:ext cx="0" cy="246888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937760" y="3008376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2213F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4974336" y="3008376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Trigger</a:t>
            </a:r>
            <a:endParaRPr lang="en-US" sz="95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old &amp; new status, user, timestamp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12280" y="3648456"/>
            <a:ext cx="0" cy="246888"/>
          </a:xfrm>
          <a:prstGeom prst="line">
            <a:avLst/>
          </a:prstGeom>
          <a:noFill/>
          <a:ln w="15875">
            <a:solidFill>
              <a:srgbClr val="22D3E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937760" y="3895344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63A78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4974336" y="3895344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CrimeAuditLog</a:t>
            </a:r>
            <a:endParaRPr lang="en-US" sz="95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record written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Engineering: B-Tree Indexing &amp; EXPLAIN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188720"/>
          </a:xfrm>
          <a:prstGeom prst="roundRect">
            <a:avLst>
              <a:gd name="adj" fmla="val 3846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48640" y="10515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FIR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Date_Occ BETWEEN '2022-01-01'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AND '2023-06-30'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AND AREA IN (1,2,3,6);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4023360" cy="457200"/>
          </a:xfrm>
          <a:prstGeom prst="roundRect">
            <a:avLst>
              <a:gd name="adj" fmla="val 10000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INDEX idx_fir_date_area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FIR(Date_Occ, AREA);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737360"/>
          </a:xfrm>
          <a:prstGeom prst="roundRect">
            <a:avLst>
              <a:gd name="adj" fmla="val 3158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6928" y="2898648"/>
            <a:ext cx="380390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Composite B-Tree Index?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date-range filtering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filtering by police division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Leftmost-prefix principle: Date_Occ leads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faster reads ↔ extra storage &amp; write maintenance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23360" cy="1325880"/>
          </a:xfrm>
          <a:prstGeom prst="roundRect">
            <a:avLst>
              <a:gd name="adj" fmla="val 4138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773168" y="1069848"/>
            <a:ext cx="3803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Full Table Scan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type: ALL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rows examined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737360"/>
            <a:ext cx="3840480" cy="502920"/>
          </a:xfrm>
          <a:prstGeom prst="roundRect">
            <a:avLst>
              <a:gd name="adj" fmla="val 9091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484632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(conceptual)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ALL | key: NULL | rows: high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325880"/>
          </a:xfrm>
          <a:prstGeom prst="roundRect">
            <a:avLst>
              <a:gd name="adj" fmla="val 4138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773168" y="2487168"/>
            <a:ext cx="380390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B-Tree Range Scan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Range-based index access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rows examined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3154680"/>
            <a:ext cx="3840480" cy="502920"/>
          </a:xfrm>
          <a:prstGeom prst="roundRect">
            <a:avLst>
              <a:gd name="adj" fmla="val 9091"/>
            </a:avLst>
          </a:prstGeom>
          <a:solidFill>
            <a:srgbClr val="050B1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4846320" y="32004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(conceptual)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F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range | key: idx_fir_date_area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63440" y="3886200"/>
            <a:ext cx="4023360" cy="685800"/>
          </a:xfrm>
          <a:prstGeom prst="roundRect">
            <a:avLst>
              <a:gd name="adj" fmla="val 8000"/>
            </a:avLst>
          </a:prstGeom>
          <a:solidFill>
            <a:srgbClr val="163A78"/>
          </a:solidFill>
          <a:ln w="1587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4663440" y="38862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88% </a:t>
            </a: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rows examined (project benchmark scenario)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Outcomes &amp; Live MySQL Demonstration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Gaurav Singh | P15 | CRPSMS | MySQL 8.0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2651760"/>
          </a:xfrm>
          <a:prstGeom prst="roundRect">
            <a:avLst>
              <a:gd name="adj" fmla="val 2069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1069848"/>
            <a:ext cx="3803904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Achievements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relational database design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core tables + audit relation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4,029 populated records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FIR, victim, accused, officer, court relationships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analytical queries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transaction implementation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triggers &amp; audit logging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 indexing &amp; EXPLAIN-based optimization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2651760"/>
          </a:xfrm>
          <a:prstGeom prst="roundRect">
            <a:avLst>
              <a:gd name="adj" fmla="val 2069"/>
            </a:avLst>
          </a:prstGeom>
          <a:solidFill>
            <a:srgbClr val="12213F"/>
          </a:solidFill>
          <a:ln w="9525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773168" y="1069848"/>
            <a:ext cx="3803904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Roadmap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Show database schema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Verify table record counts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Multi-table JOIN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Analytical SQL query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Transaction demonstration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Trigger-generated audit entry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Run EXPLAIN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Compare indexed vs non-indexed plans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163A78"/>
          </a:solidFill>
          <a:ln w="9525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6928" y="3858768"/>
            <a:ext cx="80101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“CRPSMS demonstrates how relational database design, SQL analytics, transaction management and query optimization can transform raw crime records into a structured and reliable information system.”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1245</Words>
  <Application>Microsoft Office PowerPoint</Application>
  <PresentationFormat>On-screen Show (16:9)</PresentationFormat>
  <Paragraphs>287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Gaurav Singh</cp:lastModifiedBy>
  <cp:revision>2</cp:revision>
  <dcterms:created xsi:type="dcterms:W3CDTF">2026-09-23T18:30:41Z</dcterms:created>
  <dcterms:modified xsi:type="dcterms:W3CDTF">2026-09-23T18:48:59Z</dcterms:modified>
</cp:coreProperties>
</file>